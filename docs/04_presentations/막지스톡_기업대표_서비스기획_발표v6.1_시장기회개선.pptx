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[오프닝 멘트] 주식 앱은 하루에도 몇 번씩 열어 보시죠? 빵값은 어떨까요? 오늘은 그 이야기를 해 보려고 합니다.</a:t>
            </a:r>
          </a:p>
          <a:p>
            <a:r>
              <a:t>[핵심] 오늘 말씀드릴 것은 세 가지입니다. 시장에 기회가 있고, 우리는 그 기회를 ‘가격’으로 잡으려 하며, 그 방식이 마진을 지킨다는 것입니다. 마지막에 세 가지 요청을 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국내 베이커리 전체 시장은 포화됐지만, 온라인 냉동 베이커리 시장은 1조 원대로 커지고 있습니다.</a:t>
            </a:r>
          </a:p>
          <a:p>
            <a:r>
              <a:t>[근거] 국내 베이커리 시장은 13.6조 원으로 크지만 점포 수는 2022년 정점 이후 정체입니다. 반면 냉동생지 시장은 2020년 413억 원에서 2030년 1조 3,000억 원으로 확대될 전망입니다. 이는 업계 추정 전망치입니다. 온라인에서 출발한 널담의 법인 매출도 2023년 145.6억 원에서 2025년 330억 원으로 성장했습니다.</a:t>
            </a:r>
          </a:p>
          <a:p>
            <a:r>
              <a:t>[연결] 막지가 들어갈 곳은 정체된 점포 시장이 아니라 온라인 냉동 베이커리 시장입니다. 이제 자사몰에서 풀어야 할 문제를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그런데 막지 자사몰은 아침에 둘러보고 저녁에 삽니다. 방문과 구매의 시점이 어긋납니다.</a:t>
            </a:r>
          </a:p>
          <a:p>
            <a:r>
              <a:t>[멘트] 출근길엔 눈으로 장바구니를 채우고, 퇴근하고 나서야 지갑이 열린다는 얘기입니다.</a:t>
            </a:r>
          </a:p>
          <a:p>
            <a:r>
              <a:t>[근거] 5월 데이터에서 로그인은 오전 8~10시에 25.6%가 몰렸지만 그 시간 결제금액은 8.0%뿐이고, 저녁 20~24시에는 로그인 20.0%에 결제금액 28.4%입니다. 막지는 저당·무설탕·글루텐프리 웰니스 베이커리로 B2B에서 제품력을 검증했지만, 자사몰에서는 관심이 생긴 순간 구매로 이어지지 못하고 있습니다.</a:t>
            </a:r>
          </a:p>
          <a:p>
            <a:r>
              <a:t>[연결] 이것이 풀어야 할 문제입니다. 그래서 목표를 이렇게 세웠습니다.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그래서 목표는 두 단계입니다. 먼저 방문을 늘리고, 방문한 고객을 한 걸음에 구매까지 잇습니다.</a:t>
            </a:r>
          </a:p>
          <a:p>
            <a:r>
              <a:t>[멘트] 손님이 구경하고 결제하기까지 대략 열두 시간이 비어 있는 셈입니다.</a:t>
            </a:r>
          </a:p>
          <a:p>
            <a:r>
              <a:t>[근거] 첫째 자사몰 유입이 최우선입니다. 광고를 켠 날에만 팔리는 구조가 아니라 고객이 스스로 찾아오게 합니다. 둘째 체류시간과 전환율입니다. 가격을 확인하고 비교하다가 구매까지 가게 합니다.</a:t>
            </a:r>
          </a:p>
          <a:p>
            <a:r>
              <a:t>[연결] 그러면 무엇이 매일 오게 하고, 살 때까지 붙잡아 줄까요?</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그 답이 막지스톡입니다. 가격이 방문의 이유가 되고, 고르는 혜택이 구매까지 붙잡습니다.</a:t>
            </a:r>
          </a:p>
          <a:p>
            <a:r>
              <a:t>[멘트] ‘빵값을 주식처럼’이라고 하면 투자를 떠올리실 수 있는데, 빵에 투자하시라는 얘기가 아닙니다. 더 싸게 사는 타이밍을 알려 드린다는 뜻입니다. 투자가 아니라 할인입니다.</a:t>
            </a:r>
          </a:p>
          <a:p>
            <a:r>
              <a:t>[근거] 전략 하나, 가격 자체를 콘텐츠로 — 빵값이 하루 두 번 바뀌어 ‘오늘은 얼마일까?’가 방문 이유가 됩니다. 전략 둘, 고객이 직접 고르는 혜택 — 잠금이나 예측 중 원하는 방식으로 혜택을 받아 주도성을 느낍니다. 경쟁 6곳 중 가격 변동 자체를 콘텐츠로 쓰는 곳은 아직 없습니다.</a:t>
            </a:r>
          </a:p>
          <a:p>
            <a:r>
              <a:t>[연결] 이것이 하루 안에서 어떻게 돌아가는지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아침에 본 가격을 잠그면 저녁 결제까지 이어집니다.</a:t>
            </a:r>
          </a:p>
          <a:p>
            <a:r>
              <a:t>[멘트] 쉽게 말해 잠금은 ‘이 가격에 찜’입니다. 아침에 점찍은 빵을 저녁에 더 비싸게 만나지 않게 해 드립니다.</a:t>
            </a:r>
          </a:p>
          <a:p>
            <a:r>
              <a:t>[근거] 6시 오전장에서 시세를 보고 빵 하나를 잠급니다. 16시 오후장에서 잠금이 정산되고 자사몰에서 결제합니다. 다음 날 6시에는 예측 결과를 보러 다시 옵니다. 6시와 16시는 5월에 확인한 로그인 피크(8~10시)와 결제 피크(20~24시) 직전입니다. 기능은 세 가지 — 오늘의 시세, 가격 잠금, 오늘의 보상 고르기이고, 잠금 때문에 손해 보는 경우는 없습니다.</a:t>
            </a:r>
          </a:p>
          <a:p>
            <a:r>
              <a:t>[연결] 그런데 고객마다 구매 의사가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고객 상황에 따라 길은 세 가지이고, 모두 자사몰 결제로 이어집니다.</a:t>
            </a:r>
          </a:p>
          <a:p>
            <a:r>
              <a:t>[근거] 바로 살 수 있으면 즉시 구매, 가격은 좋은데 결제는 나중이면 오전가를 잠근 뒤 구매, 더 싸지길 기다리면 예측에 참여하고 쿠폰으로 최적가에 구매합니다. 잠금은 가격 상승 위험을 없애고, 예측은 내일 다시 오게 만듭니다.</a:t>
            </a:r>
          </a:p>
          <a:p>
            <a:r>
              <a:t>[연결] 이 모든 길이 통하려면 먼저 가격을 믿을 수 있어야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가격을 믿을 수 있어야 하므로, 가격은 공개된 산식으로만 움직입니다.</a:t>
            </a:r>
          </a:p>
          <a:p>
            <a:r>
              <a:t>[멘트] 가격이 매일 바뀌면 ‘나만 모르고 비싸게 샀나’ 싶으실 수 있습니다. 그래서 왜 바뀌는지를 아예 공개합니다.</a:t>
            </a:r>
          </a:p>
          <a:p>
            <a:r>
              <a:t>[근거] 신호는 두 개입니다. 검색지수(수요)는 최대 15% 할인을 더하고, 환율(원가)은 내리면 하락률의 14배를 전부 돌려주고 오르면 7배, 절반만 반영합니다. 합계는 0~38%로 고정되어 정가를 넘지 않습니다. 모닝롤은 정가 4,500원이 평균 할인에서 3,830원, 최대 할인에서 2,790원입니다. 나머지 5종도 같은 산식입니다.</a:t>
            </a:r>
          </a:p>
          <a:p>
            <a:r>
              <a:t>[연결] 그렇다면 실제로 얼마나 할인될까요? 91일을 돌려 봤습니다.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실제로 91일을 돌려 보니 평균 할인은 15%, 세션의 84%가 20% 미만이었습니다.</a:t>
            </a:r>
          </a:p>
          <a:p>
            <a:r>
              <a:t>[멘트] 매일이 대박 세일은 아닙니다. 25%를 넘는 날은 182번 중 7번입니다.</a:t>
            </a:r>
          </a:p>
          <a:p>
            <a:r>
              <a:t>[근거] 하루 두 번, 182개 세션입니다. 오전장 평균 15.8%, 오후장 14.2%이고, 25% 이상 큰 할인은 7번, 3.8%뿐입니다.</a:t>
            </a:r>
          </a:p>
          <a:p>
            <a:r>
              <a:t>[연결] 그렇다면 마진은 버틸까요?</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마진은 버팁니다. 깊은 할인은 드물고 상한 38%에서 멈추기 때문입니다.</a:t>
            </a:r>
          </a:p>
          <a:p>
            <a:r>
              <a:t>[멘트] 마진은 대표님이 가장 먼저 물으실 것 같아서 저희가 먼저 계산해 봤습니다.</a:t>
            </a:r>
          </a:p>
          <a:p>
            <a:r>
              <a:t>[근거] 정가 마진을 40%로 가정해도 가장 깊은 세션의 마진은 3.2%로 흑자이고, 평균 할인 15%에서는 마진율이 29~53%로 유지됩니다. 손익분기 판매량은 마진 50%면 +43%, 60%면 +33%, 40%면 +60%입니다. 실제 원가 자료가 없어 40/50/60% 가정이라는 점을 말씀드립니다.</a:t>
            </a:r>
          </a:p>
          <a:p>
            <a:r>
              <a:t>[연결] 이 구조가 통하는지, 꼭 필요한 기능만으로 먼저 검증하겠습니다.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첫 버전은 두 전략을 검증하는 기능만 담습니다.</a:t>
            </a:r>
          </a:p>
          <a:p>
            <a:r>
              <a:t>[근거] 시세 확인, 가격 잠금, 보상 고르기, 자사몰 전환, ‘투자가 아닙니다’ 안내, 38% 상한 가드레일이 필수이고, 가격 하락 이메일 알림은 여력이 되면 넣습니다. 도감·씰, 매수가 기준 보상, 막지스톡 안의 결제는 이번에 하지 않습니다. 구현은 2~3주, 검증은 9월 28~30일이고 상품 수(대표 6종 기준)만 확정되면 됩니다.</a:t>
            </a:r>
          </a:p>
          <a:p>
            <a:r>
              <a:t>[연결] 검증한다면 무엇으로 판단할까요?</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서비스 목표와 같은 순서로 측정합니다.</a:t>
            </a:r>
          </a:p>
          <a:p>
            <a:r>
              <a:t>[근거] 북극성은 STOCK에서 잠금·보상을 고른 세션이 자사몰 구매까지 가는 전환율이고, 아직 미측정이라 베타 첫 주에 기준선을 잡습니다. 유입은 방문자·신규 가입(5월 40건), 체류는 재방문율·체류시간, 전환은 쿠폰 사용률·결제 완결률(5월 73.5%)입니다. 목표값은 근거 없이 정하지 않고 베타 실측 후 확정하며, 가드레일은 하나라도 넘으면 즉시 중단합니다.</a:t>
            </a:r>
          </a:p>
          <a:p>
            <a:r>
              <a:t>[연결] 이 지표가 달성되면 매출은 어떻게 될까요?</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지표가 달성되면 Base 시나리오로 5년 뒤 매출은 18.8억입니다.</a:t>
            </a:r>
          </a:p>
          <a:p>
            <a:r>
              <a:t>[멘트] 숫자는 일부러 낙관적으로 그리지 않았습니다. 시장이 커진다는 가정은 뺐습니다.</a:t>
            </a:r>
          </a:p>
          <a:p>
            <a:r>
              <a:t>[근거] 매출은 유입 × 전환율 × 객단가(5월 2.32만 원)입니다. TAM 13.6조, SAM 2,100~2,650억에서 시장 성장은 넣지 않고 점유율만 0.5%에서 3%로 넓혔습니다. Worst는 2.8억, Best는 35.3억이고, 망넛이네·널담의 초기 실적은 확정 전망이 아닌 성공 벤치마크입니다.</a:t>
            </a:r>
          </a:p>
          <a:p>
            <a:r>
              <a:t>[연결] 이 그림에는 리스크가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리스크는 구조적 제약 하나와 관리 가능한 다섯 가지입니다.</a:t>
            </a:r>
          </a:p>
          <a:p>
            <a:r>
              <a:t>[멘트] 리스크는 숨기지 않고 먼저 말씀드리겠습니다.</a:t>
            </a:r>
          </a:p>
          <a:p>
            <a:r>
              <a:t>[근거] 막지스톡과 자사몰 결제가 분리된 것은 RFP가 정한 구조라 원클릭·자동 인식으로 줄이기만 합니다. HIGH는 키워드 적합성, 표시가·결제가 불일치, 법적 위험 세 가지이고, 나머지 둘(가격모델 재검증, 쿠폰 중복)은 관리 중입니다. 대응은 상한 38%, 표시가=결제가 검증, 법무 검토, 백테스트 재실행입니다.</a:t>
            </a:r>
          </a:p>
          <a:p>
            <a:r>
              <a:t>[연결] 그래서 대표님께 세 가지를 요청드립니다.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그래서 세 가지를 요청드립니다. MVP 상품 수 확정, 실제 원가·마진율 공유, 할인 표시 법무 검토입니다.</a:t>
            </a:r>
          </a:p>
          <a:p>
            <a:r>
              <a:t>[멘트] 요청은 세 가지입니다. 하나씩 여쭙겠습니다.</a:t>
            </a:r>
          </a:p>
          <a:p>
            <a:r>
              <a:t>[근거] 지금은 마진율을 40/50/60%로 가정했고, 실제 수치를 주시면 마진 방어를 정밀 검증하겠습니다. 로드맵은 MVP, 참여 기능, 자사몰 실연동의 3단계입니다. 향후 확장(Bakery ETF·FX Bakery·Bread Index)은 설계 단계입니다.</a:t>
            </a:r>
          </a:p>
          <a:p>
            <a:r>
              <a:t>[연결] 질문을 받겠습니다.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[클로징 멘트] 가격이 움직이니 손님도 움직입니다. 질문 주시면 저도 움직이겠습니다.</a:t>
            </a:r>
          </a:p>
          <a:p>
            <a:r>
              <a:t>[Q&amp;A] 예상 질문은 발표 스토리라인 문서의 ‘예상 질문과 답변’을 참고하세요.</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6858000"/>
          </a:xfrm>
          <a:prstGeom prst="rect">
            <a:avLst/>
          </a:prstGeom>
          <a:solidFill>
            <a:srgbClr val="408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3657600" cy="274320"/>
          </a:xfrm>
          <a:prstGeom prst="rect">
            <a:avLst/>
          </a:prstGeom>
          <a:noFill/>
        </p:spPr>
        <p:txBody>
          <a:bodyPr wrap="square" lIns="0" rIns="0" tIns="0" bIns="0" anchor="t">
            <a:spAutoFit/>
          </a:bodyPr>
          <a:lstStyle/>
          <a:p>
            <a:pPr algn="l">
              <a:lnSpc>
                <a:spcPct val="118000"/>
              </a:lnSpc>
            </a:pPr>
            <a:r>
              <a:rPr sz="1300" b="1">
                <a:solidFill>
                  <a:srgbClr val="4087C7"/>
                </a:solidFill>
                <a:latin typeface="Noto Sans KR"/>
              </a:rPr>
              <a:t>●  </a:t>
            </a:r>
            <a:r>
              <a:rPr sz="1300" b="1">
                <a:solidFill>
                  <a:srgbClr val="111827"/>
                </a:solidFill>
                <a:latin typeface="Noto Sans KR"/>
              </a:rPr>
              <a:t>MAKJI</a:t>
            </a:r>
          </a:p>
        </p:txBody>
      </p:sp>
      <p:sp>
        <p:nvSpPr>
          <p:cNvPr id="4" name="TextBox 3"/>
          <p:cNvSpPr txBox="1"/>
          <p:nvPr/>
        </p:nvSpPr>
        <p:spPr>
          <a:xfrm>
            <a:off x="6858000" y="502920"/>
            <a:ext cx="4507992" cy="274320"/>
          </a:xfrm>
          <a:prstGeom prst="rect">
            <a:avLst/>
          </a:prstGeom>
          <a:noFill/>
        </p:spPr>
        <p:txBody>
          <a:bodyPr wrap="square" lIns="0" rIns="0" tIns="0" bIns="0" anchor="t">
            <a:spAutoFit/>
          </a:bodyPr>
          <a:lstStyle/>
          <a:p>
            <a:pPr algn="r">
              <a:lnSpc>
                <a:spcPct val="118000"/>
              </a:lnSpc>
            </a:pPr>
            <a:r>
              <a:rPr sz="1050" b="1">
                <a:solidFill>
                  <a:srgbClr val="9CA3AF"/>
                </a:solidFill>
                <a:latin typeface="Noto Sans KR"/>
              </a:rPr>
              <a:t>BUSINESS PROPOSAL 2026</a:t>
            </a:r>
          </a:p>
        </p:txBody>
      </p:sp>
      <p:sp>
        <p:nvSpPr>
          <p:cNvPr id="5" name="TextBox 4"/>
          <p:cNvSpPr txBox="1"/>
          <p:nvPr/>
        </p:nvSpPr>
        <p:spPr>
          <a:xfrm>
            <a:off x="822960" y="2103120"/>
            <a:ext cx="7315200" cy="2377440"/>
          </a:xfrm>
          <a:prstGeom prst="rect">
            <a:avLst/>
          </a:prstGeom>
          <a:noFill/>
        </p:spPr>
        <p:txBody>
          <a:bodyPr wrap="square" lIns="0" rIns="0" tIns="0" bIns="0" anchor="t">
            <a:spAutoFit/>
          </a:bodyPr>
          <a:lstStyle/>
          <a:p>
            <a:pPr algn="l">
              <a:lnSpc>
                <a:spcPct val="95000"/>
              </a:lnSpc>
            </a:pPr>
            <a:r>
              <a:rPr sz="8000" b="1">
                <a:solidFill>
                  <a:srgbClr val="111827"/>
                </a:solidFill>
                <a:latin typeface="Noto Sans KR"/>
              </a:rPr>
              <a:t>MAKJI</a:t>
            </a:r>
          </a:p>
          <a:p>
            <a:pPr algn="l">
              <a:lnSpc>
                <a:spcPct val="95000"/>
              </a:lnSpc>
              <a:spcBef>
                <a:spcPts val="0"/>
              </a:spcBef>
            </a:pPr>
            <a:r>
              <a:rPr sz="8000" b="1">
                <a:solidFill>
                  <a:srgbClr val="4087C7"/>
                </a:solidFill>
                <a:latin typeface="Noto Sans KR"/>
              </a:rPr>
              <a:t>STOCK</a:t>
            </a:r>
          </a:p>
        </p:txBody>
      </p:sp>
      <p:sp>
        <p:nvSpPr>
          <p:cNvPr id="6" name="TextBox 5"/>
          <p:cNvSpPr txBox="1"/>
          <p:nvPr/>
        </p:nvSpPr>
        <p:spPr>
          <a:xfrm>
            <a:off x="822960" y="4572000"/>
            <a:ext cx="8229600" cy="822960"/>
          </a:xfrm>
          <a:prstGeom prst="rect">
            <a:avLst/>
          </a:prstGeom>
          <a:noFill/>
        </p:spPr>
        <p:txBody>
          <a:bodyPr wrap="square" lIns="0" rIns="0" tIns="0" bIns="0" anchor="t">
            <a:spAutoFit/>
          </a:bodyPr>
          <a:lstStyle/>
          <a:p>
            <a:pPr algn="l">
              <a:lnSpc>
                <a:spcPct val="140000"/>
              </a:lnSpc>
            </a:pPr>
            <a:r>
              <a:rPr sz="1600" b="0">
                <a:solidFill>
                  <a:srgbClr val="4B5563"/>
                </a:solidFill>
                <a:latin typeface="Noto Sans KR"/>
              </a:rPr>
              <a:t>웰니스 베이커리 막지의 B2C 확장 —</a:t>
            </a:r>
          </a:p>
          <a:p>
            <a:pPr algn="l">
              <a:lnSpc>
                <a:spcPct val="140000"/>
              </a:lnSpc>
              <a:spcBef>
                <a:spcPts val="0"/>
              </a:spcBef>
            </a:pPr>
            <a:r>
              <a:rPr sz="1600" b="0">
                <a:solidFill>
                  <a:srgbClr val="4B5563"/>
                </a:solidFill>
                <a:latin typeface="Noto Sans KR"/>
              </a:rPr>
              <a:t>매일 두 번 움직이는 빵값으로 자사몰의 방문과 구매를 만듭니다.</a:t>
            </a:r>
          </a:p>
        </p:txBody>
      </p:sp>
      <p:sp>
        <p:nvSpPr>
          <p:cNvPr id="7" name="TextBox 6"/>
          <p:cNvSpPr txBox="1"/>
          <p:nvPr/>
        </p:nvSpPr>
        <p:spPr>
          <a:xfrm>
            <a:off x="822960" y="6172200"/>
            <a:ext cx="5486400" cy="274320"/>
          </a:xfrm>
          <a:prstGeom prst="rect">
            <a:avLst/>
          </a:prstGeom>
          <a:noFill/>
        </p:spPr>
        <p:txBody>
          <a:bodyPr wrap="square" lIns="0" rIns="0" tIns="0" bIns="0" anchor="t">
            <a:spAutoFit/>
          </a:bodyPr>
          <a:lstStyle/>
          <a:p>
            <a:pPr algn="l">
              <a:lnSpc>
                <a:spcPct val="118000"/>
              </a:lnSpc>
            </a:pPr>
            <a:r>
              <a:rPr sz="1100" b="0">
                <a:solidFill>
                  <a:srgbClr val="4B5563"/>
                </a:solidFill>
                <a:latin typeface="Noto Sans KR"/>
              </a:rPr>
              <a:t>빵값연구소  |  기업 대표 보고</a:t>
            </a:r>
          </a:p>
        </p:txBody>
      </p:sp>
      <p:sp>
        <p:nvSpPr>
          <p:cNvPr id="8" name="TextBox 7"/>
          <p:cNvSpPr txBox="1"/>
          <p:nvPr/>
        </p:nvSpPr>
        <p:spPr>
          <a:xfrm>
            <a:off x="6309360" y="6172200"/>
            <a:ext cx="5056632" cy="274320"/>
          </a:xfrm>
          <a:prstGeom prst="rect">
            <a:avLst/>
          </a:prstGeom>
          <a:noFill/>
        </p:spPr>
        <p:txBody>
          <a:bodyPr wrap="square" lIns="0" rIns="0" tIns="0" bIns="0" anchor="t">
            <a:spAutoFit/>
          </a:bodyPr>
          <a:lstStyle/>
          <a:p>
            <a:pPr algn="r">
              <a:lnSpc>
                <a:spcPct val="118000"/>
              </a:lnSpc>
            </a:pPr>
            <a:r>
              <a:rPr sz="1100" b="0">
                <a:solidFill>
                  <a:srgbClr val="4B5563"/>
                </a:solidFill>
                <a:latin typeface="Noto Sans KR"/>
              </a:rPr>
              <a:t>2026.09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66928"/>
            <a:ext cx="7315200" cy="274320"/>
          </a:xfrm>
          <a:prstGeom prst="rect">
            <a:avLst/>
          </a:prstGeom>
          <a:noFill/>
        </p:spPr>
        <p:txBody>
          <a:bodyPr wrap="square" lIns="0" rIns="0" tIns="0" bIns="0" anchor="t">
            <a:spAutoFit/>
          </a:bodyPr>
          <a:lstStyle/>
          <a:p>
            <a:pPr algn="l">
              <a:spcAft>
                <a:spcPts val="0"/>
              </a:spcAft>
              <a:defRPr sz="1150" b="1">
                <a:solidFill>
                  <a:srgbClr val="2F6FAD"/>
                </a:solidFill>
                <a:latin typeface="Noto Sans KR"/>
              </a:defRPr>
            </a:pPr>
            <a:r>
              <a:t>시장 기회</a:t>
            </a:r>
          </a:p>
        </p:txBody>
      </p:sp>
      <p:sp>
        <p:nvSpPr>
          <p:cNvPr id="3" name="TextBox 2"/>
          <p:cNvSpPr txBox="1"/>
          <p:nvPr/>
        </p:nvSpPr>
        <p:spPr>
          <a:xfrm>
            <a:off x="822960" y="868680"/>
            <a:ext cx="10515600" cy="777240"/>
          </a:xfrm>
          <a:prstGeom prst="rect">
            <a:avLst/>
          </a:prstGeom>
          <a:noFill/>
        </p:spPr>
        <p:txBody>
          <a:bodyPr wrap="square" lIns="0" rIns="0" tIns="0" bIns="0" anchor="t">
            <a:spAutoFit/>
          </a:bodyPr>
          <a:lstStyle/>
          <a:p>
            <a:pPr algn="l">
              <a:spcAft>
                <a:spcPts val="0"/>
              </a:spcAft>
              <a:defRPr sz="2500" b="1">
                <a:solidFill>
                  <a:srgbClr val="111827"/>
                </a:solidFill>
                <a:latin typeface="Noto Sans KR"/>
              </a:defRPr>
            </a:pPr>
            <a:r>
              <a:t>포화된 오프라인을 넘어,</a:t>
            </a:r>
          </a:p>
          <a:p>
            <a:pPr algn="l">
              <a:spcAft>
                <a:spcPts val="0"/>
              </a:spcAft>
              <a:defRPr sz="2500" b="1">
                <a:solidFill>
                  <a:srgbClr val="111827"/>
                </a:solidFill>
                <a:latin typeface="Noto Sans KR"/>
              </a:defRPr>
            </a:pPr>
            <a:r>
              <a:t>온라인 냉동 베이커리 시장은 1조 원대로 커지고 있습니다.</a:t>
            </a:r>
          </a:p>
        </p:txBody>
      </p:sp>
      <p:sp>
        <p:nvSpPr>
          <p:cNvPr id="4" name="Rounded Rectangle 3"/>
          <p:cNvSpPr/>
          <p:nvPr/>
        </p:nvSpPr>
        <p:spPr>
          <a:xfrm>
            <a:off x="822960" y="2029968"/>
            <a:ext cx="2971800" cy="3593592"/>
          </a:xfrm>
          <a:prstGeom prst="roundRect">
            <a:avLst>
              <a:gd name="adj" fmla="val 8000"/>
            </a:avLst>
          </a:prstGeom>
          <a:solidFill>
            <a:srgbClr val="F5F7FA"/>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304288"/>
            <a:ext cx="2194560" cy="228600"/>
          </a:xfrm>
          <a:prstGeom prst="rect">
            <a:avLst/>
          </a:prstGeom>
          <a:noFill/>
        </p:spPr>
        <p:txBody>
          <a:bodyPr wrap="square" lIns="0" rIns="0" tIns="0" bIns="0" anchor="t">
            <a:spAutoFit/>
          </a:bodyPr>
          <a:lstStyle/>
          <a:p>
            <a:pPr algn="l">
              <a:spcAft>
                <a:spcPts val="0"/>
              </a:spcAft>
              <a:defRPr sz="1050" b="1">
                <a:solidFill>
                  <a:srgbClr val="9CA3AF"/>
                </a:solidFill>
                <a:latin typeface="Noto Sans KR"/>
              </a:defRPr>
            </a:pPr>
            <a:r>
              <a:t>OFFLINE · MATURE</a:t>
            </a:r>
          </a:p>
        </p:txBody>
      </p:sp>
      <p:sp>
        <p:nvSpPr>
          <p:cNvPr id="6" name="TextBox 5"/>
          <p:cNvSpPr txBox="1"/>
          <p:nvPr/>
        </p:nvSpPr>
        <p:spPr>
          <a:xfrm>
            <a:off x="1097280" y="2724912"/>
            <a:ext cx="2286000" cy="457200"/>
          </a:xfrm>
          <a:prstGeom prst="rect">
            <a:avLst/>
          </a:prstGeom>
          <a:noFill/>
        </p:spPr>
        <p:txBody>
          <a:bodyPr wrap="square" lIns="0" rIns="0" tIns="0" bIns="0" anchor="t">
            <a:spAutoFit/>
          </a:bodyPr>
          <a:lstStyle/>
          <a:p>
            <a:pPr algn="l">
              <a:spcAft>
                <a:spcPts val="0"/>
              </a:spcAft>
              <a:defRPr sz="2900" b="1">
                <a:solidFill>
                  <a:srgbClr val="4B5563"/>
                </a:solidFill>
                <a:latin typeface="Noto Sans KR"/>
              </a:defRPr>
            </a:pPr>
            <a:r>
              <a:t>13.6조 원</a:t>
            </a:r>
          </a:p>
        </p:txBody>
      </p:sp>
      <p:sp>
        <p:nvSpPr>
          <p:cNvPr id="7" name="TextBox 6"/>
          <p:cNvSpPr txBox="1"/>
          <p:nvPr/>
        </p:nvSpPr>
        <p:spPr>
          <a:xfrm>
            <a:off x="1097280" y="3264408"/>
            <a:ext cx="2194560" cy="256032"/>
          </a:xfrm>
          <a:prstGeom prst="rect">
            <a:avLst/>
          </a:prstGeom>
          <a:noFill/>
        </p:spPr>
        <p:txBody>
          <a:bodyPr wrap="square" lIns="0" rIns="0" tIns="0" bIns="0" anchor="t">
            <a:spAutoFit/>
          </a:bodyPr>
          <a:lstStyle/>
          <a:p>
            <a:pPr algn="l">
              <a:spcAft>
                <a:spcPts val="0"/>
              </a:spcAft>
              <a:defRPr sz="1350" b="1">
                <a:solidFill>
                  <a:srgbClr val="4B5563"/>
                </a:solidFill>
                <a:latin typeface="Noto Sans KR"/>
              </a:defRPr>
            </a:pPr>
            <a:r>
              <a:t>국내 베이커리 시장</a:t>
            </a:r>
          </a:p>
        </p:txBody>
      </p:sp>
      <p:cxnSp>
        <p:nvCxnSpPr>
          <p:cNvPr id="8" name="Connector 7"/>
          <p:cNvCxnSpPr/>
          <p:nvPr/>
        </p:nvCxnSpPr>
        <p:spPr>
          <a:xfrm>
            <a:off x="1133856" y="3904487"/>
            <a:ext cx="2295144" cy="0"/>
          </a:xfrm>
          <a:prstGeom prst="line">
            <a:avLst/>
          </a:prstGeom>
          <a:ln w="27940">
            <a:solidFill>
              <a:srgbClr val="9CA3AF"/>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463040" y="3785615"/>
            <a:ext cx="237744" cy="237744"/>
          </a:xfrm>
          <a:prstGeom prst="roundRect">
            <a:avLst>
              <a:gd name="adj" fmla="val 8000"/>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240280" y="3785615"/>
            <a:ext cx="237744" cy="237744"/>
          </a:xfrm>
          <a:prstGeom prst="roundRect">
            <a:avLst>
              <a:gd name="adj" fmla="val 8000"/>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017520" y="3785615"/>
            <a:ext cx="237744" cy="237744"/>
          </a:xfrm>
          <a:prstGeom prst="roundRect">
            <a:avLst>
              <a:gd name="adj" fmla="val 8000"/>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4251960"/>
            <a:ext cx="2423160" cy="256032"/>
          </a:xfrm>
          <a:prstGeom prst="rect">
            <a:avLst/>
          </a:prstGeom>
          <a:noFill/>
        </p:spPr>
        <p:txBody>
          <a:bodyPr wrap="square" lIns="0" rIns="0" tIns="0" bIns="0" anchor="t">
            <a:spAutoFit/>
          </a:bodyPr>
          <a:lstStyle/>
          <a:p>
            <a:pPr algn="l">
              <a:spcAft>
                <a:spcPts val="0"/>
              </a:spcAft>
              <a:defRPr sz="1080" b="0">
                <a:solidFill>
                  <a:srgbClr val="4B5563"/>
                </a:solidFill>
                <a:latin typeface="Noto Sans KR"/>
              </a:defRPr>
            </a:pPr>
            <a:r>
              <a:t>점포 수는 2022년 정점 이후 정체</a:t>
            </a:r>
          </a:p>
        </p:txBody>
      </p:sp>
      <p:sp>
        <p:nvSpPr>
          <p:cNvPr id="13" name="TextBox 12"/>
          <p:cNvSpPr txBox="1"/>
          <p:nvPr/>
        </p:nvSpPr>
        <p:spPr>
          <a:xfrm>
            <a:off x="1097280" y="4736592"/>
            <a:ext cx="2423160" cy="438912"/>
          </a:xfrm>
          <a:prstGeom prst="rect">
            <a:avLst/>
          </a:prstGeom>
          <a:noFill/>
        </p:spPr>
        <p:txBody>
          <a:bodyPr wrap="square" lIns="0" rIns="0" tIns="0" bIns="0" anchor="t">
            <a:spAutoFit/>
          </a:bodyPr>
          <a:lstStyle/>
          <a:p>
            <a:pPr algn="l">
              <a:spcAft>
                <a:spcPts val="0"/>
              </a:spcAft>
              <a:defRPr sz="1050" b="0">
                <a:solidFill>
                  <a:srgbClr val="9CA3AF"/>
                </a:solidFill>
                <a:latin typeface="Noto Sans KR"/>
              </a:defRPr>
            </a:pPr>
            <a:r>
              <a:t>시장 규모는 크지만,</a:t>
            </a:r>
          </a:p>
          <a:p>
            <a:pPr algn="l">
              <a:spcAft>
                <a:spcPts val="0"/>
              </a:spcAft>
              <a:defRPr sz="1050" b="0">
                <a:solidFill>
                  <a:srgbClr val="9CA3AF"/>
                </a:solidFill>
                <a:latin typeface="Noto Sans KR"/>
              </a:defRPr>
            </a:pPr>
            <a:r>
              <a:t>오프라인 확장은 둔화</a:t>
            </a:r>
          </a:p>
        </p:txBody>
      </p:sp>
      <p:sp>
        <p:nvSpPr>
          <p:cNvPr id="14" name="Right Arrow 13"/>
          <p:cNvSpPr/>
          <p:nvPr/>
        </p:nvSpPr>
        <p:spPr>
          <a:xfrm>
            <a:off x="4041648" y="3657600"/>
            <a:ext cx="658368" cy="393192"/>
          </a:xfrm>
          <a:prstGeom prst="rightArrow">
            <a:avLst/>
          </a:prstGeom>
          <a:solidFill>
            <a:srgbClr val="FF7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03320" y="3319272"/>
            <a:ext cx="1325880" cy="210312"/>
          </a:xfrm>
          <a:prstGeom prst="rect">
            <a:avLst/>
          </a:prstGeom>
          <a:noFill/>
        </p:spPr>
        <p:txBody>
          <a:bodyPr wrap="square" lIns="0" rIns="0" tIns="0" bIns="0" anchor="t">
            <a:spAutoFit/>
          </a:bodyPr>
          <a:lstStyle/>
          <a:p>
            <a:pPr algn="ctr">
              <a:spcAft>
                <a:spcPts val="0"/>
              </a:spcAft>
              <a:defRPr sz="1019" b="1">
                <a:solidFill>
                  <a:srgbClr val="FF7A45"/>
                </a:solidFill>
                <a:latin typeface="Noto Sans KR"/>
              </a:defRPr>
            </a:pPr>
            <a:r>
              <a:t>기회 이동</a:t>
            </a:r>
          </a:p>
        </p:txBody>
      </p:sp>
      <p:sp>
        <p:nvSpPr>
          <p:cNvPr id="16" name="Rounded Rectangle 15"/>
          <p:cNvSpPr/>
          <p:nvPr/>
        </p:nvSpPr>
        <p:spPr>
          <a:xfrm>
            <a:off x="5230368" y="2029968"/>
            <a:ext cx="6135624" cy="3593592"/>
          </a:xfrm>
          <a:prstGeom prst="roundRect">
            <a:avLst>
              <a:gd name="adj" fmla="val 8000"/>
            </a:avLst>
          </a:prstGeom>
          <a:solidFill>
            <a:srgbClr val="EAF2FA"/>
          </a:solidFill>
          <a:ln w="9525">
            <a:solidFill>
              <a:srgbClr val="B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04688" y="2304288"/>
            <a:ext cx="5303520" cy="228600"/>
          </a:xfrm>
          <a:prstGeom prst="rect">
            <a:avLst/>
          </a:prstGeom>
          <a:noFill/>
        </p:spPr>
        <p:txBody>
          <a:bodyPr wrap="square" lIns="0" rIns="0" tIns="0" bIns="0" anchor="t">
            <a:spAutoFit/>
          </a:bodyPr>
          <a:lstStyle/>
          <a:p>
            <a:pPr algn="l">
              <a:spcAft>
                <a:spcPts val="0"/>
              </a:spcAft>
              <a:defRPr sz="1050" b="1">
                <a:solidFill>
                  <a:srgbClr val="2F6FAD"/>
                </a:solidFill>
                <a:latin typeface="Noto Sans KR"/>
              </a:defRPr>
            </a:pPr>
            <a:r>
              <a:t>ONLINE · FROZEN BAKERY</a:t>
            </a:r>
          </a:p>
        </p:txBody>
      </p:sp>
      <p:sp>
        <p:nvSpPr>
          <p:cNvPr id="18" name="TextBox 17"/>
          <p:cNvSpPr txBox="1"/>
          <p:nvPr/>
        </p:nvSpPr>
        <p:spPr>
          <a:xfrm>
            <a:off x="5504688" y="2697480"/>
            <a:ext cx="5394960" cy="320040"/>
          </a:xfrm>
          <a:prstGeom prst="rect">
            <a:avLst/>
          </a:prstGeom>
          <a:noFill/>
        </p:spPr>
        <p:txBody>
          <a:bodyPr wrap="square" lIns="0" rIns="0" tIns="0" bIns="0" anchor="t">
            <a:spAutoFit/>
          </a:bodyPr>
          <a:lstStyle/>
          <a:p>
            <a:pPr algn="l">
              <a:spcAft>
                <a:spcPts val="0"/>
              </a:spcAft>
              <a:defRPr sz="1900" b="1">
                <a:solidFill>
                  <a:srgbClr val="111827"/>
                </a:solidFill>
                <a:latin typeface="Noto Sans KR"/>
              </a:defRPr>
            </a:pPr>
            <a:r>
              <a:t>막지와 맞닿은 냉동생지 시장의 확장</a:t>
            </a:r>
          </a:p>
        </p:txBody>
      </p:sp>
      <p:sp>
        <p:nvSpPr>
          <p:cNvPr id="19" name="TextBox 18"/>
          <p:cNvSpPr txBox="1"/>
          <p:nvPr/>
        </p:nvSpPr>
        <p:spPr>
          <a:xfrm>
            <a:off x="5596128" y="3355848"/>
            <a:ext cx="1600200" cy="365760"/>
          </a:xfrm>
          <a:prstGeom prst="rect">
            <a:avLst/>
          </a:prstGeom>
          <a:noFill/>
        </p:spPr>
        <p:txBody>
          <a:bodyPr wrap="square" lIns="0" rIns="0" tIns="0" bIns="0" anchor="t">
            <a:spAutoFit/>
          </a:bodyPr>
          <a:lstStyle/>
          <a:p>
            <a:pPr algn="ctr">
              <a:spcAft>
                <a:spcPts val="0"/>
              </a:spcAft>
              <a:defRPr sz="2400" b="1">
                <a:solidFill>
                  <a:srgbClr val="4B5563"/>
                </a:solidFill>
                <a:latin typeface="Noto Sans KR"/>
              </a:defRPr>
            </a:pPr>
            <a:r>
              <a:t>413억 원</a:t>
            </a:r>
          </a:p>
        </p:txBody>
      </p:sp>
      <p:sp>
        <p:nvSpPr>
          <p:cNvPr id="20" name="TextBox 19"/>
          <p:cNvSpPr txBox="1"/>
          <p:nvPr/>
        </p:nvSpPr>
        <p:spPr>
          <a:xfrm>
            <a:off x="5596128" y="3767328"/>
            <a:ext cx="1600200" cy="201168"/>
          </a:xfrm>
          <a:prstGeom prst="rect">
            <a:avLst/>
          </a:prstGeom>
          <a:noFill/>
        </p:spPr>
        <p:txBody>
          <a:bodyPr wrap="square" lIns="0" rIns="0" tIns="0" bIns="0" anchor="t">
            <a:spAutoFit/>
          </a:bodyPr>
          <a:lstStyle/>
          <a:p>
            <a:pPr algn="ctr">
              <a:spcAft>
                <a:spcPts val="0"/>
              </a:spcAft>
              <a:defRPr sz="1019" b="0">
                <a:solidFill>
                  <a:srgbClr val="9CA3AF"/>
                </a:solidFill>
                <a:latin typeface="Noto Sans KR"/>
              </a:defRPr>
            </a:pPr>
            <a:r>
              <a:t>2020 시장 규모</a:t>
            </a:r>
          </a:p>
        </p:txBody>
      </p:sp>
      <p:sp>
        <p:nvSpPr>
          <p:cNvPr id="21" name="Right Arrow 20"/>
          <p:cNvSpPr/>
          <p:nvPr/>
        </p:nvSpPr>
        <p:spPr>
          <a:xfrm>
            <a:off x="7360920" y="3511296"/>
            <a:ext cx="859536" cy="320040"/>
          </a:xfrm>
          <a:prstGeom prst="rightArrow">
            <a:avLst/>
          </a:prstGeom>
          <a:solidFill>
            <a:srgbClr val="408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58200" y="3355848"/>
            <a:ext cx="2148840" cy="365760"/>
          </a:xfrm>
          <a:prstGeom prst="rect">
            <a:avLst/>
          </a:prstGeom>
          <a:noFill/>
        </p:spPr>
        <p:txBody>
          <a:bodyPr wrap="square" lIns="0" rIns="0" tIns="0" bIns="0" anchor="t">
            <a:spAutoFit/>
          </a:bodyPr>
          <a:lstStyle/>
          <a:p>
            <a:pPr algn="ctr">
              <a:spcAft>
                <a:spcPts val="0"/>
              </a:spcAft>
              <a:defRPr sz="2300" b="1">
                <a:solidFill>
                  <a:srgbClr val="2F6FAD"/>
                </a:solidFill>
                <a:latin typeface="Noto Sans KR"/>
              </a:defRPr>
            </a:pPr>
            <a:r>
              <a:t>1조 3,000억 원</a:t>
            </a:r>
          </a:p>
        </p:txBody>
      </p:sp>
      <p:sp>
        <p:nvSpPr>
          <p:cNvPr id="23" name="TextBox 22"/>
          <p:cNvSpPr txBox="1"/>
          <p:nvPr/>
        </p:nvSpPr>
        <p:spPr>
          <a:xfrm>
            <a:off x="8458200" y="3767328"/>
            <a:ext cx="2148840" cy="201168"/>
          </a:xfrm>
          <a:prstGeom prst="rect">
            <a:avLst/>
          </a:prstGeom>
          <a:noFill/>
        </p:spPr>
        <p:txBody>
          <a:bodyPr wrap="square" lIns="0" rIns="0" tIns="0" bIns="0" anchor="t">
            <a:spAutoFit/>
          </a:bodyPr>
          <a:lstStyle/>
          <a:p>
            <a:pPr algn="ctr">
              <a:spcAft>
                <a:spcPts val="0"/>
              </a:spcAft>
              <a:defRPr sz="1019" b="0">
                <a:solidFill>
                  <a:srgbClr val="9CA3AF"/>
                </a:solidFill>
                <a:latin typeface="Noto Sans KR"/>
              </a:defRPr>
            </a:pPr>
            <a:r>
              <a:t>2030 시장 전망</a:t>
            </a:r>
          </a:p>
        </p:txBody>
      </p:sp>
      <p:sp>
        <p:nvSpPr>
          <p:cNvPr id="24" name="TextBox 23"/>
          <p:cNvSpPr txBox="1"/>
          <p:nvPr/>
        </p:nvSpPr>
        <p:spPr>
          <a:xfrm>
            <a:off x="5596128" y="4169663"/>
            <a:ext cx="5120640" cy="201168"/>
          </a:xfrm>
          <a:prstGeom prst="rect">
            <a:avLst/>
          </a:prstGeom>
          <a:noFill/>
        </p:spPr>
        <p:txBody>
          <a:bodyPr wrap="square" lIns="0" rIns="0" tIns="0" bIns="0" anchor="t">
            <a:spAutoFit/>
          </a:bodyPr>
          <a:lstStyle/>
          <a:p>
            <a:pPr algn="ctr">
              <a:spcAft>
                <a:spcPts val="0"/>
              </a:spcAft>
              <a:defRPr sz="1000" b="0">
                <a:solidFill>
                  <a:srgbClr val="9CA3AF"/>
                </a:solidFill>
                <a:latin typeface="Noto Sans KR"/>
              </a:defRPr>
            </a:pPr>
            <a:r>
              <a:t>업계 추정 전망치 · 확정 실적과 구분</a:t>
            </a:r>
          </a:p>
        </p:txBody>
      </p:sp>
      <p:cxnSp>
        <p:nvCxnSpPr>
          <p:cNvPr id="25" name="Connector 24"/>
          <p:cNvCxnSpPr/>
          <p:nvPr/>
        </p:nvCxnSpPr>
        <p:spPr>
          <a:xfrm>
            <a:off x="5577840" y="4617720"/>
            <a:ext cx="5413248" cy="0"/>
          </a:xfrm>
          <a:prstGeom prst="line">
            <a:avLst/>
          </a:prstGeom>
          <a:ln w="12700">
            <a:solidFill>
              <a:srgbClr val="BFD6EC"/>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577840" y="4818888"/>
            <a:ext cx="5422392" cy="256032"/>
          </a:xfrm>
          <a:prstGeom prst="rect">
            <a:avLst/>
          </a:prstGeom>
          <a:noFill/>
        </p:spPr>
        <p:txBody>
          <a:bodyPr wrap="square" lIns="0" rIns="0" tIns="0" bIns="0" anchor="t">
            <a:spAutoFit/>
          </a:bodyPr>
          <a:lstStyle/>
          <a:p>
            <a:pPr algn="ctr">
              <a:spcAft>
                <a:spcPts val="0"/>
              </a:spcAft>
              <a:defRPr sz="1150" b="1">
                <a:solidFill>
                  <a:srgbClr val="2F6FAD"/>
                </a:solidFill>
                <a:latin typeface="Noto Sans KR"/>
              </a:defRPr>
            </a:pPr>
            <a:r>
              <a:t>온라인 출발 브랜드 널담 법인 매출</a:t>
            </a:r>
          </a:p>
        </p:txBody>
      </p:sp>
      <p:sp>
        <p:nvSpPr>
          <p:cNvPr id="27" name="TextBox 26"/>
          <p:cNvSpPr txBox="1"/>
          <p:nvPr/>
        </p:nvSpPr>
        <p:spPr>
          <a:xfrm>
            <a:off x="5577840" y="5084064"/>
            <a:ext cx="5422392" cy="301752"/>
          </a:xfrm>
          <a:prstGeom prst="rect">
            <a:avLst/>
          </a:prstGeom>
          <a:noFill/>
        </p:spPr>
        <p:txBody>
          <a:bodyPr wrap="square" lIns="0" rIns="0" tIns="0" bIns="0" anchor="t">
            <a:spAutoFit/>
          </a:bodyPr>
          <a:lstStyle/>
          <a:p>
            <a:pPr algn="ctr">
              <a:spcAft>
                <a:spcPts val="0"/>
              </a:spcAft>
              <a:defRPr sz="1450" b="1">
                <a:solidFill>
                  <a:srgbClr val="4B5563"/>
                </a:solidFill>
                <a:latin typeface="Noto Sans KR"/>
              </a:defRPr>
            </a:pPr>
            <a:r>
              <a:t>145.6억 원(2023)  →  330억 원(2025)</a:t>
            </a:r>
          </a:p>
        </p:txBody>
      </p:sp>
      <p:sp>
        <p:nvSpPr>
          <p:cNvPr id="28" name="Rectangle 27"/>
          <p:cNvSpPr/>
          <p:nvPr/>
        </p:nvSpPr>
        <p:spPr>
          <a:xfrm>
            <a:off x="10981944" y="5879592"/>
            <a:ext cx="384048" cy="41148"/>
          </a:xfrm>
          <a:prstGeom prst="rect">
            <a:avLst/>
          </a:prstGeom>
          <a:solidFill>
            <a:srgbClr val="408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88920" y="5989320"/>
            <a:ext cx="8577072" cy="310896"/>
          </a:xfrm>
          <a:prstGeom prst="rect">
            <a:avLst/>
          </a:prstGeom>
          <a:noFill/>
        </p:spPr>
        <p:txBody>
          <a:bodyPr wrap="square" lIns="0" rIns="0" tIns="0" bIns="0" anchor="t">
            <a:spAutoFit/>
          </a:bodyPr>
          <a:lstStyle/>
          <a:p>
            <a:pPr algn="r">
              <a:spcAft>
                <a:spcPts val="0"/>
              </a:spcAft>
              <a:defRPr sz="1350" b="1">
                <a:solidFill>
                  <a:srgbClr val="2F6FAD"/>
                </a:solidFill>
                <a:latin typeface="Noto Sans KR"/>
              </a:defRPr>
            </a:pPr>
            <a:r>
              <a:t>막지가 들어갈 곳은 정체된 점포 시장이 아니라, 빠르게 확장하는 온라인 냉동 베이커리입니다.</a:t>
            </a:r>
          </a:p>
        </p:txBody>
      </p:sp>
      <p:sp>
        <p:nvSpPr>
          <p:cNvPr id="30" name="TextBox 29"/>
          <p:cNvSpPr txBox="1"/>
          <p:nvPr/>
        </p:nvSpPr>
        <p:spPr>
          <a:xfrm>
            <a:off x="822960" y="6419088"/>
            <a:ext cx="9875520" cy="228600"/>
          </a:xfrm>
          <a:prstGeom prst="rect">
            <a:avLst/>
          </a:prstGeom>
          <a:noFill/>
        </p:spPr>
        <p:txBody>
          <a:bodyPr wrap="square" lIns="0" rIns="0" tIns="0" bIns="0" anchor="t">
            <a:spAutoFit/>
          </a:bodyPr>
          <a:lstStyle/>
          <a:p>
            <a:pPr algn="l">
              <a:spcAft>
                <a:spcPts val="0"/>
              </a:spcAft>
              <a:defRPr sz="780" b="0">
                <a:solidFill>
                  <a:srgbClr val="9CA3AF"/>
                </a:solidFill>
                <a:latin typeface="Noto Sans KR"/>
              </a:defRPr>
            </a:pPr>
            <a:r>
              <a:t>출처: 삼일PwC 경영연구원 · 닐슨코리아 인용 냉동생지 시장 전망(2020→2030, 업계 추정) · 조인앤조인(널담) 법인 매출</a:t>
            </a:r>
          </a:p>
        </p:txBody>
      </p:sp>
      <p:sp>
        <p:nvSpPr>
          <p:cNvPr id="31" name="TextBox 30"/>
          <p:cNvSpPr txBox="1"/>
          <p:nvPr/>
        </p:nvSpPr>
        <p:spPr>
          <a:xfrm>
            <a:off x="10058400" y="6446520"/>
            <a:ext cx="1307592" cy="182880"/>
          </a:xfrm>
          <a:prstGeom prst="rect">
            <a:avLst/>
          </a:prstGeom>
          <a:noFill/>
        </p:spPr>
        <p:txBody>
          <a:bodyPr wrap="square" lIns="0" rIns="0" tIns="0" bIns="0" anchor="t">
            <a:spAutoFit/>
          </a:bodyPr>
          <a:lstStyle/>
          <a:p>
            <a:pPr algn="r">
              <a:spcAft>
                <a:spcPts val="0"/>
              </a:spcAft>
              <a:defRPr sz="900" b="0">
                <a:solidFill>
                  <a:srgbClr val="9CA3AF"/>
                </a:solidFill>
                <a:latin typeface="Noto Sans KR"/>
              </a:defRPr>
            </a:pPr>
            <a:r>
              <a:t>02 /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66928"/>
            <a:ext cx="7315200" cy="274320"/>
          </a:xfrm>
          <a:prstGeom prst="rect">
            <a:avLst/>
          </a:prstGeom>
          <a:noFill/>
        </p:spPr>
        <p:txBody>
          <a:bodyPr wrap="square" lIns="0" rIns="0" tIns="0" bIns="0" anchor="t">
            <a:spAutoFit/>
          </a:bodyPr>
          <a:lstStyle/>
          <a:p>
            <a:pPr algn="l">
              <a:lnSpc>
                <a:spcPct val="118000"/>
              </a:lnSpc>
            </a:pPr>
            <a:r>
              <a:rPr sz="1150" b="1">
                <a:solidFill>
                  <a:srgbClr val="2F6FAD"/>
                </a:solidFill>
                <a:latin typeface="Noto Sans KR"/>
              </a:rPr>
              <a:t>현상 · 자사몰 5월 데이터</a:t>
            </a:r>
          </a:p>
        </p:txBody>
      </p:sp>
      <p:sp>
        <p:nvSpPr>
          <p:cNvPr id="3" name="TextBox 2"/>
          <p:cNvSpPr txBox="1"/>
          <p:nvPr/>
        </p:nvSpPr>
        <p:spPr>
          <a:xfrm>
            <a:off x="822960" y="868680"/>
            <a:ext cx="10515600" cy="1097280"/>
          </a:xfrm>
          <a:prstGeom prst="rect">
            <a:avLst/>
          </a:prstGeom>
          <a:noFill/>
        </p:spPr>
        <p:txBody>
          <a:bodyPr wrap="square" lIns="0" rIns="0" tIns="0" bIns="0" anchor="t">
            <a:spAutoFit/>
          </a:bodyPr>
          <a:lstStyle/>
          <a:p>
            <a:pPr algn="l">
              <a:lnSpc>
                <a:spcPct val="115000"/>
              </a:lnSpc>
            </a:pPr>
            <a:r>
              <a:rPr sz="2700" b="1">
                <a:solidFill>
                  <a:srgbClr val="111827"/>
                </a:solidFill>
                <a:latin typeface="Noto Sans KR"/>
              </a:rPr>
              <a:t>그런데 막지 자사몰은 아침에 둘러보고 저녁에 삽니다 —</a:t>
            </a:r>
          </a:p>
          <a:p>
            <a:pPr algn="l">
              <a:lnSpc>
                <a:spcPct val="115000"/>
              </a:lnSpc>
              <a:spcBef>
                <a:spcPts val="0"/>
              </a:spcBef>
            </a:pPr>
            <a:r>
              <a:rPr sz="2700" b="1">
                <a:solidFill>
                  <a:srgbClr val="111827"/>
                </a:solidFill>
                <a:latin typeface="Noto Sans KR"/>
              </a:rPr>
              <a:t>방문과 구매의 시점이 어긋납니다.</a:t>
            </a:r>
          </a:p>
        </p:txBody>
      </p:sp>
      <p:sp>
        <p:nvSpPr>
          <p:cNvPr id="4" name="Rectangle 3"/>
          <p:cNvSpPr/>
          <p:nvPr/>
        </p:nvSpPr>
        <p:spPr>
          <a:xfrm>
            <a:off x="10981944" y="5888736"/>
            <a:ext cx="384048" cy="41148"/>
          </a:xfrm>
          <a:prstGeom prst="rect">
            <a:avLst/>
          </a:prstGeom>
          <a:solidFill>
            <a:srgbClr val="408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0" y="6007608"/>
            <a:ext cx="8622792" cy="365760"/>
          </a:xfrm>
          <a:prstGeom prst="rect">
            <a:avLst/>
          </a:prstGeom>
          <a:noFill/>
        </p:spPr>
        <p:txBody>
          <a:bodyPr wrap="square" lIns="0" rIns="0" tIns="0" bIns="0" anchor="t">
            <a:spAutoFit/>
          </a:bodyPr>
          <a:lstStyle/>
          <a:p>
            <a:pPr algn="r">
              <a:lnSpc>
                <a:spcPct val="118000"/>
              </a:lnSpc>
            </a:pPr>
            <a:r>
              <a:rPr sz="1400" b="1">
                <a:solidFill>
                  <a:srgbClr val="2F6FAD"/>
                </a:solidFill>
                <a:latin typeface="Noto Sans KR"/>
              </a:rPr>
              <a:t>방문이 구매로 이어지지 못하는 것이 자사몰의 핵심 문제입니다.</a:t>
            </a:r>
          </a:p>
        </p:txBody>
      </p:sp>
      <p:sp>
        <p:nvSpPr>
          <p:cNvPr id="6" name="TextBox 5"/>
          <p:cNvSpPr txBox="1"/>
          <p:nvPr/>
        </p:nvSpPr>
        <p:spPr>
          <a:xfrm>
            <a:off x="822960" y="6419088"/>
            <a:ext cx="9692640" cy="274320"/>
          </a:xfrm>
          <a:prstGeom prst="rect">
            <a:avLst/>
          </a:prstGeom>
          <a:noFill/>
        </p:spPr>
        <p:txBody>
          <a:bodyPr wrap="square" lIns="0" rIns="0" tIns="0" bIns="0" anchor="t">
            <a:spAutoFit/>
          </a:bodyPr>
          <a:lstStyle/>
          <a:p>
            <a:pPr algn="l">
              <a:lnSpc>
                <a:spcPct val="110000"/>
              </a:lnSpc>
            </a:pPr>
            <a:r>
              <a:rPr sz="800" b="0">
                <a:solidFill>
                  <a:srgbClr val="9CA3AF"/>
                </a:solidFill>
                <a:latin typeface="Noto Sans KR"/>
              </a:rPr>
              <a:t>출처: 막지 자사몰 5월 시간별 분석 (로그인 90회 · 결제금액 기준, 단일상품 막지 ZERO 카스테라)</a:t>
            </a:r>
          </a:p>
        </p:txBody>
      </p:sp>
      <p:sp>
        <p:nvSpPr>
          <p:cNvPr id="7" name="TextBox 6"/>
          <p:cNvSpPr txBox="1"/>
          <p:nvPr/>
        </p:nvSpPr>
        <p:spPr>
          <a:xfrm>
            <a:off x="10058400" y="6446520"/>
            <a:ext cx="1307591" cy="182880"/>
          </a:xfrm>
          <a:prstGeom prst="rect">
            <a:avLst/>
          </a:prstGeom>
          <a:noFill/>
        </p:spPr>
        <p:txBody>
          <a:bodyPr wrap="square" lIns="0" rIns="0" tIns="0" bIns="0" anchor="t">
            <a:spAutoFit/>
          </a:bodyPr>
          <a:lstStyle/>
          <a:p>
            <a:pPr algn="r">
              <a:lnSpc>
                <a:spcPct val="118000"/>
              </a:lnSpc>
            </a:pPr>
            <a:r>
              <a:rPr sz="900" b="0">
                <a:solidFill>
                  <a:srgbClr val="9CA3AF"/>
                </a:solidFill>
                <a:latin typeface="Noto Sans KR"/>
              </a:rPr>
              <a:t>03 / 16</a:t>
            </a:r>
          </a:p>
        </p:txBody>
      </p:sp>
      <p:sp>
        <p:nvSpPr>
          <p:cNvPr id="8" name="Rounded Rectangle 7"/>
          <p:cNvSpPr/>
          <p:nvPr/>
        </p:nvSpPr>
        <p:spPr>
          <a:xfrm>
            <a:off x="822960" y="2057400"/>
            <a:ext cx="10543032" cy="3657600"/>
          </a:xfrm>
          <a:prstGeom prst="roundRect">
            <a:avLst>
              <a:gd name="adj" fmla="val 4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240280"/>
            <a:ext cx="7315200" cy="274320"/>
          </a:xfrm>
          <a:prstGeom prst="rect">
            <a:avLst/>
          </a:prstGeom>
          <a:noFill/>
        </p:spPr>
        <p:txBody>
          <a:bodyPr wrap="square" lIns="0" rIns="0" tIns="0" bIns="0" anchor="t">
            <a:spAutoFit/>
          </a:bodyPr>
          <a:lstStyle/>
          <a:p>
            <a:pPr algn="l">
              <a:lnSpc>
                <a:spcPct val="118000"/>
              </a:lnSpc>
            </a:pPr>
            <a:r>
              <a:rPr sz="1250" b="1">
                <a:solidFill>
                  <a:srgbClr val="4B5563"/>
                </a:solidFill>
                <a:latin typeface="Noto Sans KR"/>
              </a:rPr>
              <a:t>막지 자사몰 5월 · 시간대별 로그인 vs 결제</a:t>
            </a:r>
          </a:p>
        </p:txBody>
      </p:sp>
      <p:sp>
        <p:nvSpPr>
          <p:cNvPr id="10" name="TextBox 9"/>
          <p:cNvSpPr txBox="1"/>
          <p:nvPr/>
        </p:nvSpPr>
        <p:spPr>
          <a:xfrm>
            <a:off x="8412480" y="2212848"/>
            <a:ext cx="2743200" cy="228600"/>
          </a:xfrm>
          <a:prstGeom prst="rect">
            <a:avLst/>
          </a:prstGeom>
          <a:noFill/>
        </p:spPr>
        <p:txBody>
          <a:bodyPr wrap="square" lIns="0" rIns="0" tIns="0" bIns="0" anchor="t">
            <a:spAutoFit/>
          </a:bodyPr>
          <a:lstStyle/>
          <a:p>
            <a:pPr algn="r">
              <a:lnSpc>
                <a:spcPct val="118000"/>
              </a:lnSpc>
            </a:pPr>
            <a:r>
              <a:rPr sz="1100" b="0">
                <a:solidFill>
                  <a:srgbClr val="4087C7"/>
                </a:solidFill>
                <a:latin typeface="Noto Sans KR"/>
              </a:rPr>
              <a:t>■ 로그인 비중</a:t>
            </a:r>
          </a:p>
        </p:txBody>
      </p:sp>
      <p:sp>
        <p:nvSpPr>
          <p:cNvPr id="11" name="TextBox 10"/>
          <p:cNvSpPr txBox="1"/>
          <p:nvPr/>
        </p:nvSpPr>
        <p:spPr>
          <a:xfrm>
            <a:off x="8412480" y="2450592"/>
            <a:ext cx="2743200" cy="228600"/>
          </a:xfrm>
          <a:prstGeom prst="rect">
            <a:avLst/>
          </a:prstGeom>
          <a:noFill/>
        </p:spPr>
        <p:txBody>
          <a:bodyPr wrap="square" lIns="0" rIns="0" tIns="0" bIns="0" anchor="t">
            <a:spAutoFit/>
          </a:bodyPr>
          <a:lstStyle/>
          <a:p>
            <a:pPr algn="r">
              <a:lnSpc>
                <a:spcPct val="118000"/>
              </a:lnSpc>
            </a:pPr>
            <a:r>
              <a:rPr sz="1100" b="0">
                <a:solidFill>
                  <a:srgbClr val="FF7A45"/>
                </a:solidFill>
                <a:latin typeface="Noto Sans KR"/>
              </a:rPr>
              <a:t>■ 결제금액 비중</a:t>
            </a:r>
          </a:p>
        </p:txBody>
      </p:sp>
      <p:sp>
        <p:nvSpPr>
          <p:cNvPr id="12" name="Rounded Rectangle 11"/>
          <p:cNvSpPr/>
          <p:nvPr/>
        </p:nvSpPr>
        <p:spPr>
          <a:xfrm>
            <a:off x="2194560" y="3377184"/>
            <a:ext cx="1143000" cy="1560576"/>
          </a:xfrm>
          <a:prstGeom prst="roundRect">
            <a:avLst>
              <a:gd name="adj" fmla="val 4000"/>
            </a:avLst>
          </a:prstGeom>
          <a:solidFill>
            <a:srgbClr val="408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11679" y="2993136"/>
            <a:ext cx="1508760" cy="347472"/>
          </a:xfrm>
          <a:prstGeom prst="rect">
            <a:avLst/>
          </a:prstGeom>
          <a:noFill/>
        </p:spPr>
        <p:txBody>
          <a:bodyPr wrap="square" lIns="0" rIns="0" tIns="0" bIns="0" anchor="t">
            <a:spAutoFit/>
          </a:bodyPr>
          <a:lstStyle/>
          <a:p>
            <a:pPr algn="ctr">
              <a:lnSpc>
                <a:spcPct val="118000"/>
              </a:lnSpc>
            </a:pPr>
            <a:r>
              <a:rPr sz="1900" b="1">
                <a:solidFill>
                  <a:srgbClr val="111827"/>
                </a:solidFill>
                <a:latin typeface="Noto Sans KR"/>
              </a:rPr>
              <a:t>25.6%</a:t>
            </a:r>
          </a:p>
        </p:txBody>
      </p:sp>
      <p:sp>
        <p:nvSpPr>
          <p:cNvPr id="14" name="Rounded Rectangle 13"/>
          <p:cNvSpPr/>
          <p:nvPr/>
        </p:nvSpPr>
        <p:spPr>
          <a:xfrm>
            <a:off x="3566160" y="4450080"/>
            <a:ext cx="1143000" cy="487680"/>
          </a:xfrm>
          <a:prstGeom prst="roundRect">
            <a:avLst>
              <a:gd name="adj" fmla="val 9375"/>
            </a:avLst>
          </a:prstGeom>
          <a:solidFill>
            <a:srgbClr val="FF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83279" y="4066032"/>
            <a:ext cx="1508760" cy="347472"/>
          </a:xfrm>
          <a:prstGeom prst="rect">
            <a:avLst/>
          </a:prstGeom>
          <a:noFill/>
        </p:spPr>
        <p:txBody>
          <a:bodyPr wrap="square" lIns="0" rIns="0" tIns="0" bIns="0" anchor="t">
            <a:spAutoFit/>
          </a:bodyPr>
          <a:lstStyle/>
          <a:p>
            <a:pPr algn="ctr">
              <a:lnSpc>
                <a:spcPct val="118000"/>
              </a:lnSpc>
            </a:pPr>
            <a:r>
              <a:rPr sz="1900" b="1">
                <a:solidFill>
                  <a:srgbClr val="111827"/>
                </a:solidFill>
                <a:latin typeface="Noto Sans KR"/>
              </a:rPr>
              <a:t>8.0%</a:t>
            </a:r>
          </a:p>
        </p:txBody>
      </p:sp>
      <p:sp>
        <p:nvSpPr>
          <p:cNvPr id="16" name="TextBox 15"/>
          <p:cNvSpPr txBox="1"/>
          <p:nvPr/>
        </p:nvSpPr>
        <p:spPr>
          <a:xfrm>
            <a:off x="2011679" y="5029200"/>
            <a:ext cx="2880360" cy="274320"/>
          </a:xfrm>
          <a:prstGeom prst="rect">
            <a:avLst/>
          </a:prstGeom>
          <a:noFill/>
        </p:spPr>
        <p:txBody>
          <a:bodyPr wrap="square" lIns="0" rIns="0" tIns="0" bIns="0" anchor="t">
            <a:spAutoFit/>
          </a:bodyPr>
          <a:lstStyle/>
          <a:p>
            <a:pPr algn="ctr">
              <a:lnSpc>
                <a:spcPct val="118000"/>
              </a:lnSpc>
            </a:pPr>
            <a:r>
              <a:rPr sz="1300" b="1">
                <a:solidFill>
                  <a:srgbClr val="111827"/>
                </a:solidFill>
                <a:latin typeface="Noto Sans KR"/>
              </a:rPr>
              <a:t>오전 8~10시</a:t>
            </a:r>
          </a:p>
        </p:txBody>
      </p:sp>
      <p:sp>
        <p:nvSpPr>
          <p:cNvPr id="17" name="TextBox 16"/>
          <p:cNvSpPr txBox="1"/>
          <p:nvPr/>
        </p:nvSpPr>
        <p:spPr>
          <a:xfrm>
            <a:off x="2011679" y="5303520"/>
            <a:ext cx="2880360" cy="274320"/>
          </a:xfrm>
          <a:prstGeom prst="rect">
            <a:avLst/>
          </a:prstGeom>
          <a:noFill/>
        </p:spPr>
        <p:txBody>
          <a:bodyPr wrap="square" lIns="0" rIns="0" tIns="0" bIns="0" anchor="t">
            <a:spAutoFit/>
          </a:bodyPr>
          <a:lstStyle/>
          <a:p>
            <a:pPr algn="ctr">
              <a:lnSpc>
                <a:spcPct val="118000"/>
              </a:lnSpc>
            </a:pPr>
            <a:r>
              <a:rPr sz="1200" b="0">
                <a:solidFill>
                  <a:srgbClr val="9CA3AF"/>
                </a:solidFill>
                <a:latin typeface="Noto Sans KR"/>
              </a:rPr>
              <a:t>아침에 둘러보고</a:t>
            </a:r>
          </a:p>
        </p:txBody>
      </p:sp>
      <p:sp>
        <p:nvSpPr>
          <p:cNvPr id="18" name="Rounded Rectangle 17"/>
          <p:cNvSpPr/>
          <p:nvPr/>
        </p:nvSpPr>
        <p:spPr>
          <a:xfrm>
            <a:off x="6766560" y="3718560"/>
            <a:ext cx="1143000" cy="1219200"/>
          </a:xfrm>
          <a:prstGeom prst="roundRect">
            <a:avLst>
              <a:gd name="adj" fmla="val 4000"/>
            </a:avLst>
          </a:prstGeom>
          <a:solidFill>
            <a:srgbClr val="408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0" y="3334512"/>
            <a:ext cx="1508760" cy="347472"/>
          </a:xfrm>
          <a:prstGeom prst="rect">
            <a:avLst/>
          </a:prstGeom>
          <a:noFill/>
        </p:spPr>
        <p:txBody>
          <a:bodyPr wrap="square" lIns="0" rIns="0" tIns="0" bIns="0" anchor="t">
            <a:spAutoFit/>
          </a:bodyPr>
          <a:lstStyle/>
          <a:p>
            <a:pPr algn="ctr">
              <a:lnSpc>
                <a:spcPct val="118000"/>
              </a:lnSpc>
            </a:pPr>
            <a:r>
              <a:rPr sz="1900" b="1">
                <a:solidFill>
                  <a:srgbClr val="111827"/>
                </a:solidFill>
                <a:latin typeface="Noto Sans KR"/>
              </a:rPr>
              <a:t>20.0%</a:t>
            </a:r>
          </a:p>
        </p:txBody>
      </p:sp>
      <p:sp>
        <p:nvSpPr>
          <p:cNvPr id="20" name="Rounded Rectangle 19"/>
          <p:cNvSpPr/>
          <p:nvPr/>
        </p:nvSpPr>
        <p:spPr>
          <a:xfrm>
            <a:off x="8138160" y="3206496"/>
            <a:ext cx="1143000" cy="1731264"/>
          </a:xfrm>
          <a:prstGeom prst="roundRect">
            <a:avLst>
              <a:gd name="adj" fmla="val 4000"/>
            </a:avLst>
          </a:prstGeom>
          <a:solidFill>
            <a:srgbClr val="FF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55280" y="2822448"/>
            <a:ext cx="1508760" cy="347472"/>
          </a:xfrm>
          <a:prstGeom prst="rect">
            <a:avLst/>
          </a:prstGeom>
          <a:noFill/>
        </p:spPr>
        <p:txBody>
          <a:bodyPr wrap="square" lIns="0" rIns="0" tIns="0" bIns="0" anchor="t">
            <a:spAutoFit/>
          </a:bodyPr>
          <a:lstStyle/>
          <a:p>
            <a:pPr algn="ctr">
              <a:lnSpc>
                <a:spcPct val="118000"/>
              </a:lnSpc>
            </a:pPr>
            <a:r>
              <a:rPr sz="1900" b="1">
                <a:solidFill>
                  <a:srgbClr val="111827"/>
                </a:solidFill>
                <a:latin typeface="Noto Sans KR"/>
              </a:rPr>
              <a:t>28.4%</a:t>
            </a:r>
          </a:p>
        </p:txBody>
      </p:sp>
      <p:sp>
        <p:nvSpPr>
          <p:cNvPr id="22" name="TextBox 21"/>
          <p:cNvSpPr txBox="1"/>
          <p:nvPr/>
        </p:nvSpPr>
        <p:spPr>
          <a:xfrm>
            <a:off x="6583680" y="5029200"/>
            <a:ext cx="2880360" cy="274320"/>
          </a:xfrm>
          <a:prstGeom prst="rect">
            <a:avLst/>
          </a:prstGeom>
          <a:noFill/>
        </p:spPr>
        <p:txBody>
          <a:bodyPr wrap="square" lIns="0" rIns="0" tIns="0" bIns="0" anchor="t">
            <a:spAutoFit/>
          </a:bodyPr>
          <a:lstStyle/>
          <a:p>
            <a:pPr algn="ctr">
              <a:lnSpc>
                <a:spcPct val="118000"/>
              </a:lnSpc>
            </a:pPr>
            <a:r>
              <a:rPr sz="1300" b="1">
                <a:solidFill>
                  <a:srgbClr val="111827"/>
                </a:solidFill>
                <a:latin typeface="Noto Sans KR"/>
              </a:rPr>
              <a:t>저녁 20~24시</a:t>
            </a:r>
          </a:p>
        </p:txBody>
      </p:sp>
      <p:sp>
        <p:nvSpPr>
          <p:cNvPr id="23" name="TextBox 22"/>
          <p:cNvSpPr txBox="1"/>
          <p:nvPr/>
        </p:nvSpPr>
        <p:spPr>
          <a:xfrm>
            <a:off x="6583680" y="5303520"/>
            <a:ext cx="2880360" cy="274320"/>
          </a:xfrm>
          <a:prstGeom prst="rect">
            <a:avLst/>
          </a:prstGeom>
          <a:noFill/>
        </p:spPr>
        <p:txBody>
          <a:bodyPr wrap="square" lIns="0" rIns="0" tIns="0" bIns="0" anchor="t">
            <a:spAutoFit/>
          </a:bodyPr>
          <a:lstStyle/>
          <a:p>
            <a:pPr algn="ctr">
              <a:lnSpc>
                <a:spcPct val="118000"/>
              </a:lnSpc>
            </a:pPr>
            <a:r>
              <a:rPr sz="1200" b="0">
                <a:solidFill>
                  <a:srgbClr val="9CA3AF"/>
                </a:solidFill>
                <a:latin typeface="Noto Sans KR"/>
              </a:rPr>
              <a:t>저녁에 삽니다</a:t>
            </a:r>
          </a:p>
        </p:txBody>
      </p:sp>
      <p:cxnSp>
        <p:nvCxnSpPr>
          <p:cNvPr id="24" name="Connector 23"/>
          <p:cNvCxnSpPr/>
          <p:nvPr/>
        </p:nvCxnSpPr>
        <p:spPr>
          <a:xfrm>
            <a:off x="1097280" y="4937760"/>
            <a:ext cx="9994392" cy="0"/>
          </a:xfrm>
          <a:prstGeom prst="line">
            <a:avLst/>
          </a:prstGeom>
          <a:ln w="19050">
            <a:solidFill>
              <a:srgbClr val="E5E7EB"/>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66928"/>
            <a:ext cx="7315200" cy="274320"/>
          </a:xfrm>
          <a:prstGeom prst="rect">
            <a:avLst/>
          </a:prstGeom>
          <a:noFill/>
        </p:spPr>
        <p:txBody>
          <a:bodyPr wrap="square" lIns="0" rIns="0" tIns="0" bIns="0" anchor="t">
            <a:spAutoFit/>
          </a:bodyPr>
          <a:lstStyle/>
          <a:p>
            <a:pPr algn="l">
              <a:lnSpc>
                <a:spcPct val="118000"/>
              </a:lnSpc>
            </a:pPr>
            <a:r>
              <a:rPr sz="1150" b="1">
                <a:solidFill>
                  <a:srgbClr val="2F6FAD"/>
                </a:solidFill>
                <a:latin typeface="Noto Sans KR"/>
              </a:rPr>
              <a:t>서비스 목표</a:t>
            </a:r>
          </a:p>
        </p:txBody>
      </p:sp>
      <p:sp>
        <p:nvSpPr>
          <p:cNvPr id="3" name="TextBox 2"/>
          <p:cNvSpPr txBox="1"/>
          <p:nvPr/>
        </p:nvSpPr>
        <p:spPr>
          <a:xfrm>
            <a:off x="822960" y="868680"/>
            <a:ext cx="10515600" cy="1097280"/>
          </a:xfrm>
          <a:prstGeom prst="rect">
            <a:avLst/>
          </a:prstGeom>
          <a:noFill/>
        </p:spPr>
        <p:txBody>
          <a:bodyPr wrap="square" lIns="0" rIns="0" tIns="0" bIns="0" anchor="t">
            <a:spAutoFit/>
          </a:bodyPr>
          <a:lstStyle/>
          <a:p>
            <a:pPr algn="l">
              <a:lnSpc>
                <a:spcPct val="115000"/>
              </a:lnSpc>
            </a:pPr>
            <a:r>
              <a:rPr sz="2700" b="1">
                <a:solidFill>
                  <a:srgbClr val="111827"/>
                </a:solidFill>
                <a:latin typeface="Noto Sans KR"/>
              </a:rPr>
              <a:t>그래서 목표는 두 단계 — 먼저 방문을 늘리고,</a:t>
            </a:r>
          </a:p>
          <a:p>
            <a:pPr algn="l">
              <a:lnSpc>
                <a:spcPct val="115000"/>
              </a:lnSpc>
              <a:spcBef>
                <a:spcPts val="0"/>
              </a:spcBef>
            </a:pPr>
            <a:r>
              <a:rPr sz="2700" b="1">
                <a:solidFill>
                  <a:srgbClr val="111827"/>
                </a:solidFill>
                <a:latin typeface="Noto Sans KR"/>
              </a:rPr>
              <a:t>방문한 고객을 한 걸음에 구매까지 잇습니다.</a:t>
            </a:r>
          </a:p>
        </p:txBody>
      </p:sp>
      <p:sp>
        <p:nvSpPr>
          <p:cNvPr id="4" name="Rectangle 3"/>
          <p:cNvSpPr/>
          <p:nvPr/>
        </p:nvSpPr>
        <p:spPr>
          <a:xfrm>
            <a:off x="10981944" y="5888736"/>
            <a:ext cx="384048" cy="41148"/>
          </a:xfrm>
          <a:prstGeom prst="rect">
            <a:avLst/>
          </a:prstGeom>
          <a:solidFill>
            <a:srgbClr val="408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0" y="6007608"/>
            <a:ext cx="8622792" cy="365760"/>
          </a:xfrm>
          <a:prstGeom prst="rect">
            <a:avLst/>
          </a:prstGeom>
          <a:noFill/>
        </p:spPr>
        <p:txBody>
          <a:bodyPr wrap="square" lIns="0" rIns="0" tIns="0" bIns="0" anchor="t">
            <a:spAutoFit/>
          </a:bodyPr>
          <a:lstStyle/>
          <a:p>
            <a:pPr algn="r">
              <a:lnSpc>
                <a:spcPct val="118000"/>
              </a:lnSpc>
            </a:pPr>
            <a:r>
              <a:rPr sz="1400" b="1">
                <a:solidFill>
                  <a:srgbClr val="2F6FAD"/>
                </a:solidFill>
                <a:latin typeface="Noto Sans KR"/>
              </a:rPr>
              <a:t>매일 오게 하고, 살 때까지 붙잡을 방법이 필요합니다.</a:t>
            </a:r>
          </a:p>
        </p:txBody>
      </p:sp>
      <p:sp>
        <p:nvSpPr>
          <p:cNvPr id="6" name="TextBox 5"/>
          <p:cNvSpPr txBox="1"/>
          <p:nvPr/>
        </p:nvSpPr>
        <p:spPr>
          <a:xfrm>
            <a:off x="10058400" y="6446520"/>
            <a:ext cx="1307591" cy="182880"/>
          </a:xfrm>
          <a:prstGeom prst="rect">
            <a:avLst/>
          </a:prstGeom>
          <a:noFill/>
        </p:spPr>
        <p:txBody>
          <a:bodyPr wrap="square" lIns="0" rIns="0" tIns="0" bIns="0" anchor="t">
            <a:spAutoFit/>
          </a:bodyPr>
          <a:lstStyle/>
          <a:p>
            <a:pPr algn="r">
              <a:lnSpc>
                <a:spcPct val="118000"/>
              </a:lnSpc>
            </a:pPr>
            <a:r>
              <a:rPr sz="900" b="0">
                <a:solidFill>
                  <a:srgbClr val="9CA3AF"/>
                </a:solidFill>
                <a:latin typeface="Noto Sans KR"/>
              </a:rPr>
              <a:t>04 / 16</a:t>
            </a:r>
          </a:p>
        </p:txBody>
      </p:sp>
      <p:sp>
        <p:nvSpPr>
          <p:cNvPr id="7" name="Rounded Rectangle 6"/>
          <p:cNvSpPr/>
          <p:nvPr/>
        </p:nvSpPr>
        <p:spPr>
          <a:xfrm>
            <a:off x="822960" y="2103120"/>
            <a:ext cx="5166360" cy="2240280"/>
          </a:xfrm>
          <a:prstGeom prst="roundRect">
            <a:avLst>
              <a:gd name="adj" fmla="val 653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199632" y="2103120"/>
            <a:ext cx="5166360" cy="2240280"/>
          </a:xfrm>
          <a:prstGeom prst="roundRect">
            <a:avLst>
              <a:gd name="adj" fmla="val 6530"/>
            </a:avLst>
          </a:prstGeom>
          <a:solidFill>
            <a:srgbClr val="FF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286000"/>
            <a:ext cx="731520" cy="914400"/>
          </a:xfrm>
          <a:prstGeom prst="rect">
            <a:avLst/>
          </a:prstGeom>
          <a:noFill/>
        </p:spPr>
        <p:txBody>
          <a:bodyPr wrap="square" lIns="0" rIns="0" tIns="0" bIns="0" anchor="t">
            <a:spAutoFit/>
          </a:bodyPr>
          <a:lstStyle/>
          <a:p>
            <a:pPr algn="l">
              <a:lnSpc>
                <a:spcPct val="118000"/>
              </a:lnSpc>
            </a:pPr>
            <a:r>
              <a:rPr sz="5000" b="1">
                <a:solidFill>
                  <a:srgbClr val="4087C7"/>
                </a:solidFill>
                <a:latin typeface="Noto Sans KR"/>
              </a:rPr>
              <a:t>1</a:t>
            </a:r>
          </a:p>
        </p:txBody>
      </p:sp>
      <p:sp>
        <p:nvSpPr>
          <p:cNvPr id="10" name="TextBox 9"/>
          <p:cNvSpPr txBox="1"/>
          <p:nvPr/>
        </p:nvSpPr>
        <p:spPr>
          <a:xfrm>
            <a:off x="1874519" y="2395728"/>
            <a:ext cx="4023360" cy="457200"/>
          </a:xfrm>
          <a:prstGeom prst="rect">
            <a:avLst/>
          </a:prstGeom>
          <a:noFill/>
        </p:spPr>
        <p:txBody>
          <a:bodyPr wrap="square" lIns="0" rIns="0" tIns="0" bIns="0" anchor="t">
            <a:spAutoFit/>
          </a:bodyPr>
          <a:lstStyle/>
          <a:p>
            <a:pPr algn="l">
              <a:lnSpc>
                <a:spcPct val="118000"/>
              </a:lnSpc>
            </a:pPr>
            <a:r>
              <a:rPr sz="2100" b="1">
                <a:solidFill>
                  <a:srgbClr val="111827"/>
                </a:solidFill>
                <a:latin typeface="Noto Sans KR"/>
              </a:rPr>
              <a:t>자사몰 유입 증가</a:t>
            </a:r>
          </a:p>
        </p:txBody>
      </p:sp>
      <p:sp>
        <p:nvSpPr>
          <p:cNvPr id="11" name="TextBox 10"/>
          <p:cNvSpPr txBox="1"/>
          <p:nvPr/>
        </p:nvSpPr>
        <p:spPr>
          <a:xfrm>
            <a:off x="1874519" y="2926080"/>
            <a:ext cx="4023360" cy="822960"/>
          </a:xfrm>
          <a:prstGeom prst="rect">
            <a:avLst/>
          </a:prstGeom>
          <a:noFill/>
        </p:spPr>
        <p:txBody>
          <a:bodyPr wrap="square" lIns="0" rIns="0" tIns="0" bIns="0" anchor="t">
            <a:spAutoFit/>
          </a:bodyPr>
          <a:lstStyle/>
          <a:p>
            <a:pPr algn="l">
              <a:lnSpc>
                <a:spcPct val="140000"/>
              </a:lnSpc>
            </a:pPr>
            <a:r>
              <a:rPr sz="1250" b="0">
                <a:solidFill>
                  <a:srgbClr val="4B5563"/>
                </a:solidFill>
                <a:latin typeface="Noto Sans KR"/>
              </a:rPr>
              <a:t>광고를 켠 날에만 팔리는 구조에서 벗어나</a:t>
            </a:r>
          </a:p>
          <a:p>
            <a:pPr algn="l">
              <a:lnSpc>
                <a:spcPct val="140000"/>
              </a:lnSpc>
              <a:spcBef>
                <a:spcPts val="0"/>
              </a:spcBef>
            </a:pPr>
            <a:r>
              <a:rPr sz="1250" b="0">
                <a:solidFill>
                  <a:srgbClr val="4B5563"/>
                </a:solidFill>
                <a:latin typeface="Noto Sans KR"/>
              </a:rPr>
              <a:t>고객이 스스로 찾아오게 합니다.</a:t>
            </a:r>
          </a:p>
        </p:txBody>
      </p:sp>
      <p:sp>
        <p:nvSpPr>
          <p:cNvPr id="12" name="TextBox 11"/>
          <p:cNvSpPr txBox="1"/>
          <p:nvPr/>
        </p:nvSpPr>
        <p:spPr>
          <a:xfrm>
            <a:off x="6473952" y="2286000"/>
            <a:ext cx="731520" cy="914400"/>
          </a:xfrm>
          <a:prstGeom prst="rect">
            <a:avLst/>
          </a:prstGeom>
          <a:noFill/>
        </p:spPr>
        <p:txBody>
          <a:bodyPr wrap="square" lIns="0" rIns="0" tIns="0" bIns="0" anchor="t">
            <a:spAutoFit/>
          </a:bodyPr>
          <a:lstStyle/>
          <a:p>
            <a:pPr algn="l">
              <a:lnSpc>
                <a:spcPct val="118000"/>
              </a:lnSpc>
            </a:pPr>
            <a:r>
              <a:rPr sz="5000" b="1">
                <a:solidFill>
                  <a:srgbClr val="FF7A45"/>
                </a:solidFill>
                <a:latin typeface="Noto Sans KR"/>
              </a:rPr>
              <a:t>2</a:t>
            </a:r>
          </a:p>
        </p:txBody>
      </p:sp>
      <p:sp>
        <p:nvSpPr>
          <p:cNvPr id="13" name="TextBox 12"/>
          <p:cNvSpPr txBox="1"/>
          <p:nvPr/>
        </p:nvSpPr>
        <p:spPr>
          <a:xfrm>
            <a:off x="7251192" y="2395728"/>
            <a:ext cx="4023360" cy="457200"/>
          </a:xfrm>
          <a:prstGeom prst="rect">
            <a:avLst/>
          </a:prstGeom>
          <a:noFill/>
        </p:spPr>
        <p:txBody>
          <a:bodyPr wrap="square" lIns="0" rIns="0" tIns="0" bIns="0" anchor="t">
            <a:spAutoFit/>
          </a:bodyPr>
          <a:lstStyle/>
          <a:p>
            <a:pPr algn="l">
              <a:lnSpc>
                <a:spcPct val="118000"/>
              </a:lnSpc>
            </a:pPr>
            <a:r>
              <a:rPr sz="2100" b="1">
                <a:solidFill>
                  <a:srgbClr val="111827"/>
                </a:solidFill>
                <a:latin typeface="Noto Sans KR"/>
              </a:rPr>
              <a:t>체류시간 ↑ · 전환율 ↑</a:t>
            </a:r>
          </a:p>
        </p:txBody>
      </p:sp>
      <p:sp>
        <p:nvSpPr>
          <p:cNvPr id="14" name="TextBox 13"/>
          <p:cNvSpPr txBox="1"/>
          <p:nvPr/>
        </p:nvSpPr>
        <p:spPr>
          <a:xfrm>
            <a:off x="7251192" y="2926080"/>
            <a:ext cx="4023360" cy="822960"/>
          </a:xfrm>
          <a:prstGeom prst="rect">
            <a:avLst/>
          </a:prstGeom>
          <a:noFill/>
        </p:spPr>
        <p:txBody>
          <a:bodyPr wrap="square" lIns="0" rIns="0" tIns="0" bIns="0" anchor="t">
            <a:spAutoFit/>
          </a:bodyPr>
          <a:lstStyle/>
          <a:p>
            <a:pPr algn="l">
              <a:lnSpc>
                <a:spcPct val="140000"/>
              </a:lnSpc>
            </a:pPr>
            <a:r>
              <a:rPr sz="1250" b="0">
                <a:solidFill>
                  <a:srgbClr val="4B5563"/>
                </a:solidFill>
                <a:latin typeface="Noto Sans KR"/>
              </a:rPr>
              <a:t>가격을 확인·비교하며 머무르고</a:t>
            </a:r>
          </a:p>
          <a:p>
            <a:pPr algn="l">
              <a:lnSpc>
                <a:spcPct val="140000"/>
              </a:lnSpc>
              <a:spcBef>
                <a:spcPts val="0"/>
              </a:spcBef>
            </a:pPr>
            <a:r>
              <a:rPr sz="1250" b="0">
                <a:solidFill>
                  <a:srgbClr val="4B5563"/>
                </a:solidFill>
                <a:latin typeface="Noto Sans KR"/>
              </a:rPr>
              <a:t>탐색한 뒤 자사몰 구매까지 이어지게 합니다.</a:t>
            </a:r>
          </a:p>
        </p:txBody>
      </p:sp>
      <p:sp>
        <p:nvSpPr>
          <p:cNvPr id="15" name="Rounded Rectangle 14"/>
          <p:cNvSpPr/>
          <p:nvPr/>
        </p:nvSpPr>
        <p:spPr>
          <a:xfrm>
            <a:off x="822960" y="4617720"/>
            <a:ext cx="10543032" cy="914400"/>
          </a:xfrm>
          <a:prstGeom prst="roundRect">
            <a:avLst>
              <a:gd name="adj" fmla="val 16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43000" y="4983480"/>
            <a:ext cx="182880" cy="182880"/>
          </a:xfrm>
          <a:prstGeom prst="ellipse">
            <a:avLst/>
          </a:prstGeom>
          <a:solidFill>
            <a:srgbClr val="408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35608" y="4892040"/>
            <a:ext cx="2011680" cy="365760"/>
          </a:xfrm>
          <a:prstGeom prst="rect">
            <a:avLst/>
          </a:prstGeom>
          <a:noFill/>
        </p:spPr>
        <p:txBody>
          <a:bodyPr wrap="square" lIns="0" rIns="0" tIns="0" bIns="0" anchor="ctr">
            <a:spAutoFit/>
          </a:bodyPr>
          <a:lstStyle/>
          <a:p>
            <a:pPr algn="l">
              <a:lnSpc>
                <a:spcPct val="118000"/>
              </a:lnSpc>
            </a:pPr>
            <a:r>
              <a:rPr sz="1400" b="1">
                <a:solidFill>
                  <a:srgbClr val="111827"/>
                </a:solidFill>
                <a:latin typeface="Noto Sans KR"/>
              </a:rPr>
              <a:t>유입</a:t>
            </a:r>
          </a:p>
        </p:txBody>
      </p:sp>
      <p:sp>
        <p:nvSpPr>
          <p:cNvPr id="18" name="TextBox 17"/>
          <p:cNvSpPr txBox="1"/>
          <p:nvPr/>
        </p:nvSpPr>
        <p:spPr>
          <a:xfrm>
            <a:off x="3154680" y="4873752"/>
            <a:ext cx="548640" cy="365760"/>
          </a:xfrm>
          <a:prstGeom prst="rect">
            <a:avLst/>
          </a:prstGeom>
          <a:noFill/>
        </p:spPr>
        <p:txBody>
          <a:bodyPr wrap="square" lIns="0" rIns="0" tIns="0" bIns="0" anchor="ctr">
            <a:spAutoFit/>
          </a:bodyPr>
          <a:lstStyle/>
          <a:p>
            <a:pPr algn="ctr">
              <a:lnSpc>
                <a:spcPct val="118000"/>
              </a:lnSpc>
            </a:pPr>
            <a:r>
              <a:rPr sz="1800" b="1">
                <a:solidFill>
                  <a:srgbClr val="4087C7"/>
                </a:solidFill>
                <a:latin typeface="Noto Sans KR"/>
              </a:rPr>
              <a:t>→</a:t>
            </a:r>
          </a:p>
        </p:txBody>
      </p:sp>
      <p:sp>
        <p:nvSpPr>
          <p:cNvPr id="19" name="Oval 18"/>
          <p:cNvSpPr/>
          <p:nvPr/>
        </p:nvSpPr>
        <p:spPr>
          <a:xfrm>
            <a:off x="3749039" y="4983480"/>
            <a:ext cx="182880" cy="182880"/>
          </a:xfrm>
          <a:prstGeom prst="ellipse">
            <a:avLst/>
          </a:prstGeom>
          <a:solidFill>
            <a:srgbClr val="408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41648" y="4892040"/>
            <a:ext cx="2011680" cy="365760"/>
          </a:xfrm>
          <a:prstGeom prst="rect">
            <a:avLst/>
          </a:prstGeom>
          <a:noFill/>
        </p:spPr>
        <p:txBody>
          <a:bodyPr wrap="square" lIns="0" rIns="0" tIns="0" bIns="0" anchor="ctr">
            <a:spAutoFit/>
          </a:bodyPr>
          <a:lstStyle/>
          <a:p>
            <a:pPr algn="l">
              <a:lnSpc>
                <a:spcPct val="118000"/>
              </a:lnSpc>
            </a:pPr>
            <a:r>
              <a:rPr sz="1400" b="1">
                <a:solidFill>
                  <a:srgbClr val="111827"/>
                </a:solidFill>
                <a:latin typeface="Noto Sans KR"/>
              </a:rPr>
              <a:t>체류 · 가격 확인</a:t>
            </a:r>
          </a:p>
        </p:txBody>
      </p:sp>
      <p:sp>
        <p:nvSpPr>
          <p:cNvPr id="21" name="TextBox 20"/>
          <p:cNvSpPr txBox="1"/>
          <p:nvPr/>
        </p:nvSpPr>
        <p:spPr>
          <a:xfrm>
            <a:off x="5760720" y="4873752"/>
            <a:ext cx="548640" cy="365760"/>
          </a:xfrm>
          <a:prstGeom prst="rect">
            <a:avLst/>
          </a:prstGeom>
          <a:noFill/>
        </p:spPr>
        <p:txBody>
          <a:bodyPr wrap="square" lIns="0" rIns="0" tIns="0" bIns="0" anchor="ctr">
            <a:spAutoFit/>
          </a:bodyPr>
          <a:lstStyle/>
          <a:p>
            <a:pPr algn="ctr">
              <a:lnSpc>
                <a:spcPct val="118000"/>
              </a:lnSpc>
            </a:pPr>
            <a:r>
              <a:rPr sz="1800" b="1">
                <a:solidFill>
                  <a:srgbClr val="4087C7"/>
                </a:solidFill>
                <a:latin typeface="Noto Sans KR"/>
              </a:rPr>
              <a:t>→</a:t>
            </a:r>
          </a:p>
        </p:txBody>
      </p:sp>
      <p:sp>
        <p:nvSpPr>
          <p:cNvPr id="22" name="Oval 21"/>
          <p:cNvSpPr/>
          <p:nvPr/>
        </p:nvSpPr>
        <p:spPr>
          <a:xfrm>
            <a:off x="6355080" y="4983480"/>
            <a:ext cx="182880" cy="182880"/>
          </a:xfrm>
          <a:prstGeom prst="ellipse">
            <a:avLst/>
          </a:prstGeom>
          <a:solidFill>
            <a:srgbClr val="408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47688" y="4892040"/>
            <a:ext cx="2011680" cy="365760"/>
          </a:xfrm>
          <a:prstGeom prst="rect">
            <a:avLst/>
          </a:prstGeom>
          <a:noFill/>
        </p:spPr>
        <p:txBody>
          <a:bodyPr wrap="square" lIns="0" rIns="0" tIns="0" bIns="0" anchor="ctr">
            <a:spAutoFit/>
          </a:bodyPr>
          <a:lstStyle/>
          <a:p>
            <a:pPr algn="l">
              <a:lnSpc>
                <a:spcPct val="118000"/>
              </a:lnSpc>
            </a:pPr>
            <a:r>
              <a:rPr sz="1400" b="1">
                <a:solidFill>
                  <a:srgbClr val="111827"/>
                </a:solidFill>
                <a:latin typeface="Noto Sans KR"/>
              </a:rPr>
              <a:t>탐색 · 지금 살까?</a:t>
            </a:r>
          </a:p>
        </p:txBody>
      </p:sp>
      <p:sp>
        <p:nvSpPr>
          <p:cNvPr id="24" name="TextBox 23"/>
          <p:cNvSpPr txBox="1"/>
          <p:nvPr/>
        </p:nvSpPr>
        <p:spPr>
          <a:xfrm>
            <a:off x="8366760" y="4873752"/>
            <a:ext cx="548640" cy="365760"/>
          </a:xfrm>
          <a:prstGeom prst="rect">
            <a:avLst/>
          </a:prstGeom>
          <a:noFill/>
        </p:spPr>
        <p:txBody>
          <a:bodyPr wrap="square" lIns="0" rIns="0" tIns="0" bIns="0" anchor="ctr">
            <a:spAutoFit/>
          </a:bodyPr>
          <a:lstStyle/>
          <a:p>
            <a:pPr algn="ctr">
              <a:lnSpc>
                <a:spcPct val="118000"/>
              </a:lnSpc>
            </a:pPr>
            <a:r>
              <a:rPr sz="1800" b="1">
                <a:solidFill>
                  <a:srgbClr val="4087C7"/>
                </a:solidFill>
                <a:latin typeface="Noto Sans KR"/>
              </a:rPr>
              <a:t>→</a:t>
            </a:r>
          </a:p>
        </p:txBody>
      </p:sp>
      <p:sp>
        <p:nvSpPr>
          <p:cNvPr id="25" name="Oval 24"/>
          <p:cNvSpPr/>
          <p:nvPr/>
        </p:nvSpPr>
        <p:spPr>
          <a:xfrm>
            <a:off x="8961120" y="4983480"/>
            <a:ext cx="182880" cy="182880"/>
          </a:xfrm>
          <a:prstGeom prst="ellipse">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53728" y="4892040"/>
            <a:ext cx="2011680" cy="365760"/>
          </a:xfrm>
          <a:prstGeom prst="rect">
            <a:avLst/>
          </a:prstGeom>
          <a:noFill/>
        </p:spPr>
        <p:txBody>
          <a:bodyPr wrap="square" lIns="0" rIns="0" tIns="0" bIns="0" anchor="ctr">
            <a:spAutoFit/>
          </a:bodyPr>
          <a:lstStyle/>
          <a:p>
            <a:pPr algn="l">
              <a:lnSpc>
                <a:spcPct val="118000"/>
              </a:lnSpc>
            </a:pPr>
            <a:r>
              <a:rPr sz="1400" b="1">
                <a:solidFill>
                  <a:srgbClr val="111827"/>
                </a:solidFill>
                <a:latin typeface="Noto Sans KR"/>
              </a:rPr>
              <a:t>구매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66928"/>
            <a:ext cx="7315200" cy="274320"/>
          </a:xfrm>
          <a:prstGeom prst="rect">
            <a:avLst/>
          </a:prstGeom>
          <a:noFill/>
        </p:spPr>
        <p:txBody>
          <a:bodyPr wrap="square" lIns="0" rIns="0" tIns="0" bIns="0" anchor="t">
            <a:spAutoFit/>
          </a:bodyPr>
          <a:lstStyle/>
          <a:p>
            <a:pPr algn="l">
              <a:lnSpc>
                <a:spcPct val="118000"/>
              </a:lnSpc>
            </a:pPr>
            <a:r>
              <a:rPr sz="1150" b="1">
                <a:solidFill>
                  <a:srgbClr val="2F6FAD"/>
                </a:solidFill>
                <a:latin typeface="Noto Sans KR"/>
              </a:rPr>
              <a:t>세부 전략과 솔루션</a:t>
            </a:r>
          </a:p>
        </p:txBody>
      </p:sp>
      <p:sp>
        <p:nvSpPr>
          <p:cNvPr id="3" name="TextBox 2"/>
          <p:cNvSpPr txBox="1"/>
          <p:nvPr/>
        </p:nvSpPr>
        <p:spPr>
          <a:xfrm>
            <a:off x="822960" y="868680"/>
            <a:ext cx="10515600" cy="1097280"/>
          </a:xfrm>
          <a:prstGeom prst="rect">
            <a:avLst/>
          </a:prstGeom>
          <a:noFill/>
        </p:spPr>
        <p:txBody>
          <a:bodyPr wrap="square" lIns="0" rIns="0" tIns="0" bIns="0" anchor="t">
            <a:spAutoFit/>
          </a:bodyPr>
          <a:lstStyle/>
          <a:p>
            <a:pPr algn="l">
              <a:lnSpc>
                <a:spcPct val="115000"/>
              </a:lnSpc>
            </a:pPr>
            <a:r>
              <a:rPr sz="2700" b="1">
                <a:solidFill>
                  <a:srgbClr val="111827"/>
                </a:solidFill>
                <a:latin typeface="Noto Sans KR"/>
              </a:rPr>
              <a:t>그 답이 ‘막지스톡’ — 가격이 방문 이유가 되고,</a:t>
            </a:r>
          </a:p>
          <a:p>
            <a:pPr algn="l">
              <a:lnSpc>
                <a:spcPct val="115000"/>
              </a:lnSpc>
              <a:spcBef>
                <a:spcPts val="0"/>
              </a:spcBef>
            </a:pPr>
            <a:r>
              <a:rPr sz="2700" b="1">
                <a:solidFill>
                  <a:srgbClr val="111827"/>
                </a:solidFill>
                <a:latin typeface="Noto Sans KR"/>
              </a:rPr>
              <a:t>고르는 혜택이 구매까지 붙잡습니다.</a:t>
            </a:r>
          </a:p>
        </p:txBody>
      </p:sp>
      <p:sp>
        <p:nvSpPr>
          <p:cNvPr id="4" name="Rectangle 3"/>
          <p:cNvSpPr/>
          <p:nvPr/>
        </p:nvSpPr>
        <p:spPr>
          <a:xfrm>
            <a:off x="10981944" y="5888736"/>
            <a:ext cx="384048" cy="41148"/>
          </a:xfrm>
          <a:prstGeom prst="rect">
            <a:avLst/>
          </a:prstGeom>
          <a:solidFill>
            <a:srgbClr val="408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0" y="6007608"/>
            <a:ext cx="8622792" cy="365760"/>
          </a:xfrm>
          <a:prstGeom prst="rect">
            <a:avLst/>
          </a:prstGeom>
          <a:noFill/>
        </p:spPr>
        <p:txBody>
          <a:bodyPr wrap="square" lIns="0" rIns="0" tIns="0" bIns="0" anchor="t">
            <a:spAutoFit/>
          </a:bodyPr>
          <a:lstStyle/>
          <a:p>
            <a:pPr algn="r">
              <a:lnSpc>
                <a:spcPct val="118000"/>
              </a:lnSpc>
            </a:pPr>
            <a:r>
              <a:rPr sz="1400" b="1">
                <a:solidFill>
                  <a:srgbClr val="2F6FAD"/>
                </a:solidFill>
                <a:latin typeface="Noto Sans KR"/>
              </a:rPr>
              <a:t>두 전략이 방문(유입)과 구매(전환)를 동시에 겨냥합니다.</a:t>
            </a:r>
          </a:p>
        </p:txBody>
      </p:sp>
      <p:sp>
        <p:nvSpPr>
          <p:cNvPr id="6" name="TextBox 5"/>
          <p:cNvSpPr txBox="1"/>
          <p:nvPr/>
        </p:nvSpPr>
        <p:spPr>
          <a:xfrm>
            <a:off x="10058400" y="6446520"/>
            <a:ext cx="1307591" cy="182880"/>
          </a:xfrm>
          <a:prstGeom prst="rect">
            <a:avLst/>
          </a:prstGeom>
          <a:noFill/>
        </p:spPr>
        <p:txBody>
          <a:bodyPr wrap="square" lIns="0" rIns="0" tIns="0" bIns="0" anchor="t">
            <a:spAutoFit/>
          </a:bodyPr>
          <a:lstStyle/>
          <a:p>
            <a:pPr algn="r">
              <a:lnSpc>
                <a:spcPct val="118000"/>
              </a:lnSpc>
            </a:pPr>
            <a:r>
              <a:rPr sz="900" b="0">
                <a:solidFill>
                  <a:srgbClr val="9CA3AF"/>
                </a:solidFill>
                <a:latin typeface="Noto Sans KR"/>
              </a:rPr>
              <a:t>05 / 16</a:t>
            </a:r>
          </a:p>
        </p:txBody>
      </p:sp>
      <p:sp>
        <p:nvSpPr>
          <p:cNvPr id="7" name="Rounded Rectangle 6"/>
          <p:cNvSpPr/>
          <p:nvPr/>
        </p:nvSpPr>
        <p:spPr>
          <a:xfrm>
            <a:off x="822960" y="2057400"/>
            <a:ext cx="5166360" cy="1783080"/>
          </a:xfrm>
          <a:prstGeom prst="roundRect">
            <a:avLst>
              <a:gd name="adj" fmla="val 8205"/>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199632" y="2057400"/>
            <a:ext cx="5166360" cy="1783080"/>
          </a:xfrm>
          <a:prstGeom prst="roundRect">
            <a:avLst>
              <a:gd name="adj" fmla="val 8205"/>
            </a:avLst>
          </a:prstGeom>
          <a:solidFill>
            <a:srgbClr val="FF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194560"/>
            <a:ext cx="640080" cy="822960"/>
          </a:xfrm>
          <a:prstGeom prst="rect">
            <a:avLst/>
          </a:prstGeom>
          <a:noFill/>
        </p:spPr>
        <p:txBody>
          <a:bodyPr wrap="square" lIns="0" rIns="0" tIns="0" bIns="0" anchor="t">
            <a:spAutoFit/>
          </a:bodyPr>
          <a:lstStyle/>
          <a:p>
            <a:pPr algn="l">
              <a:lnSpc>
                <a:spcPct val="118000"/>
              </a:lnSpc>
            </a:pPr>
            <a:r>
              <a:rPr sz="4400" b="1">
                <a:solidFill>
                  <a:srgbClr val="4087C7"/>
                </a:solidFill>
                <a:latin typeface="Noto Sans KR"/>
              </a:rPr>
              <a:t>1</a:t>
            </a:r>
          </a:p>
        </p:txBody>
      </p:sp>
      <p:sp>
        <p:nvSpPr>
          <p:cNvPr id="10" name="TextBox 9"/>
          <p:cNvSpPr txBox="1"/>
          <p:nvPr/>
        </p:nvSpPr>
        <p:spPr>
          <a:xfrm>
            <a:off x="1828800" y="2286000"/>
            <a:ext cx="4023360" cy="411480"/>
          </a:xfrm>
          <a:prstGeom prst="rect">
            <a:avLst/>
          </a:prstGeom>
          <a:noFill/>
        </p:spPr>
        <p:txBody>
          <a:bodyPr wrap="square" lIns="0" rIns="0" tIns="0" bIns="0" anchor="t">
            <a:spAutoFit/>
          </a:bodyPr>
          <a:lstStyle/>
          <a:p>
            <a:pPr algn="l">
              <a:lnSpc>
                <a:spcPct val="118000"/>
              </a:lnSpc>
            </a:pPr>
            <a:r>
              <a:rPr sz="1900" b="1">
                <a:solidFill>
                  <a:srgbClr val="111827"/>
                </a:solidFill>
                <a:latin typeface="Noto Sans KR"/>
              </a:rPr>
              <a:t>가격 자체를 콘텐츠로</a:t>
            </a:r>
          </a:p>
        </p:txBody>
      </p:sp>
      <p:sp>
        <p:nvSpPr>
          <p:cNvPr id="11" name="TextBox 10"/>
          <p:cNvSpPr txBox="1"/>
          <p:nvPr/>
        </p:nvSpPr>
        <p:spPr>
          <a:xfrm>
            <a:off x="1828800" y="2788920"/>
            <a:ext cx="4023360" cy="822960"/>
          </a:xfrm>
          <a:prstGeom prst="rect">
            <a:avLst/>
          </a:prstGeom>
          <a:noFill/>
        </p:spPr>
        <p:txBody>
          <a:bodyPr wrap="square" lIns="0" rIns="0" tIns="0" bIns="0" anchor="t">
            <a:spAutoFit/>
          </a:bodyPr>
          <a:lstStyle/>
          <a:p>
            <a:pPr algn="l">
              <a:lnSpc>
                <a:spcPct val="140000"/>
              </a:lnSpc>
            </a:pPr>
            <a:r>
              <a:rPr sz="1200" b="0">
                <a:solidFill>
                  <a:srgbClr val="4B5563"/>
                </a:solidFill>
                <a:latin typeface="Noto Sans KR"/>
              </a:rPr>
              <a:t>매일 두 번 바뀌는 빵값이 ‘오늘은 얼마일까?’라는</a:t>
            </a:r>
          </a:p>
          <a:p>
            <a:pPr algn="l">
              <a:lnSpc>
                <a:spcPct val="140000"/>
              </a:lnSpc>
              <a:spcBef>
                <a:spcPts val="0"/>
              </a:spcBef>
            </a:pPr>
            <a:r>
              <a:rPr sz="1200" b="0">
                <a:solidFill>
                  <a:srgbClr val="4B5563"/>
                </a:solidFill>
                <a:latin typeface="Noto Sans KR"/>
              </a:rPr>
              <a:t>방문 이유가 됩니다.</a:t>
            </a:r>
          </a:p>
        </p:txBody>
      </p:sp>
      <p:sp>
        <p:nvSpPr>
          <p:cNvPr id="12" name="TextBox 11"/>
          <p:cNvSpPr txBox="1"/>
          <p:nvPr/>
        </p:nvSpPr>
        <p:spPr>
          <a:xfrm>
            <a:off x="6473952" y="2194560"/>
            <a:ext cx="640080" cy="822960"/>
          </a:xfrm>
          <a:prstGeom prst="rect">
            <a:avLst/>
          </a:prstGeom>
          <a:noFill/>
        </p:spPr>
        <p:txBody>
          <a:bodyPr wrap="square" lIns="0" rIns="0" tIns="0" bIns="0" anchor="t">
            <a:spAutoFit/>
          </a:bodyPr>
          <a:lstStyle/>
          <a:p>
            <a:pPr algn="l">
              <a:lnSpc>
                <a:spcPct val="118000"/>
              </a:lnSpc>
            </a:pPr>
            <a:r>
              <a:rPr sz="4400" b="1">
                <a:solidFill>
                  <a:srgbClr val="FF7A45"/>
                </a:solidFill>
                <a:latin typeface="Noto Sans KR"/>
              </a:rPr>
              <a:t>2</a:t>
            </a:r>
          </a:p>
        </p:txBody>
      </p:sp>
      <p:sp>
        <p:nvSpPr>
          <p:cNvPr id="13" name="TextBox 12"/>
          <p:cNvSpPr txBox="1"/>
          <p:nvPr/>
        </p:nvSpPr>
        <p:spPr>
          <a:xfrm>
            <a:off x="7205472" y="2286000"/>
            <a:ext cx="4023360" cy="411480"/>
          </a:xfrm>
          <a:prstGeom prst="rect">
            <a:avLst/>
          </a:prstGeom>
          <a:noFill/>
        </p:spPr>
        <p:txBody>
          <a:bodyPr wrap="square" lIns="0" rIns="0" tIns="0" bIns="0" anchor="t">
            <a:spAutoFit/>
          </a:bodyPr>
          <a:lstStyle/>
          <a:p>
            <a:pPr algn="l">
              <a:lnSpc>
                <a:spcPct val="118000"/>
              </a:lnSpc>
            </a:pPr>
            <a:r>
              <a:rPr sz="1900" b="1">
                <a:solidFill>
                  <a:srgbClr val="111827"/>
                </a:solidFill>
                <a:latin typeface="Noto Sans KR"/>
              </a:rPr>
              <a:t>고객이 직접 고르는 혜택</a:t>
            </a:r>
          </a:p>
        </p:txBody>
      </p:sp>
      <p:sp>
        <p:nvSpPr>
          <p:cNvPr id="14" name="TextBox 13"/>
          <p:cNvSpPr txBox="1"/>
          <p:nvPr/>
        </p:nvSpPr>
        <p:spPr>
          <a:xfrm>
            <a:off x="7205472" y="2788920"/>
            <a:ext cx="4023360" cy="822960"/>
          </a:xfrm>
          <a:prstGeom prst="rect">
            <a:avLst/>
          </a:prstGeom>
          <a:noFill/>
        </p:spPr>
        <p:txBody>
          <a:bodyPr wrap="square" lIns="0" rIns="0" tIns="0" bIns="0" anchor="t">
            <a:spAutoFit/>
          </a:bodyPr>
          <a:lstStyle/>
          <a:p>
            <a:pPr algn="l">
              <a:lnSpc>
                <a:spcPct val="140000"/>
              </a:lnSpc>
            </a:pPr>
            <a:r>
              <a:rPr sz="1200" b="0">
                <a:solidFill>
                  <a:srgbClr val="4B5563"/>
                </a:solidFill>
                <a:latin typeface="Noto Sans KR"/>
              </a:rPr>
              <a:t>잠금 또는 보상 고르기 — 내가 원하는 방식으로</a:t>
            </a:r>
          </a:p>
          <a:p>
            <a:pPr algn="l">
              <a:lnSpc>
                <a:spcPct val="140000"/>
              </a:lnSpc>
              <a:spcBef>
                <a:spcPts val="0"/>
              </a:spcBef>
            </a:pPr>
            <a:r>
              <a:rPr sz="1200" b="0">
                <a:solidFill>
                  <a:srgbClr val="4B5563"/>
                </a:solidFill>
                <a:latin typeface="Noto Sans KR"/>
              </a:rPr>
              <a:t>혜택을 받고, 주도성을 느낍니다.</a:t>
            </a:r>
          </a:p>
        </p:txBody>
      </p:sp>
      <p:sp>
        <p:nvSpPr>
          <p:cNvPr id="15" name="TextBox 14"/>
          <p:cNvSpPr txBox="1"/>
          <p:nvPr/>
        </p:nvSpPr>
        <p:spPr>
          <a:xfrm>
            <a:off x="5852160" y="3840480"/>
            <a:ext cx="548640" cy="365760"/>
          </a:xfrm>
          <a:prstGeom prst="rect">
            <a:avLst/>
          </a:prstGeom>
          <a:noFill/>
        </p:spPr>
        <p:txBody>
          <a:bodyPr wrap="square" lIns="0" rIns="0" tIns="0" bIns="0" anchor="t">
            <a:spAutoFit/>
          </a:bodyPr>
          <a:lstStyle/>
          <a:p>
            <a:pPr algn="ctr">
              <a:lnSpc>
                <a:spcPct val="118000"/>
              </a:lnSpc>
            </a:pPr>
            <a:r>
              <a:rPr sz="2200" b="1">
                <a:solidFill>
                  <a:srgbClr val="4087C7"/>
                </a:solidFill>
                <a:latin typeface="Noto Sans KR"/>
              </a:rPr>
              <a:t>↓</a:t>
            </a:r>
          </a:p>
        </p:txBody>
      </p:sp>
      <p:sp>
        <p:nvSpPr>
          <p:cNvPr id="16" name="Rounded Rectangle 15"/>
          <p:cNvSpPr/>
          <p:nvPr/>
        </p:nvSpPr>
        <p:spPr>
          <a:xfrm>
            <a:off x="822960" y="4251960"/>
            <a:ext cx="10543032" cy="1481328"/>
          </a:xfrm>
          <a:prstGeom prst="roundRect">
            <a:avLst>
              <a:gd name="adj" fmla="val 9876"/>
            </a:avLst>
          </a:prstGeom>
          <a:solidFill>
            <a:srgbClr val="408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4343400"/>
            <a:ext cx="10543032" cy="777240"/>
          </a:xfrm>
          <a:prstGeom prst="rect">
            <a:avLst/>
          </a:prstGeom>
          <a:noFill/>
        </p:spPr>
        <p:txBody>
          <a:bodyPr wrap="square" lIns="0" rIns="0" tIns="0" bIns="0" anchor="ctr">
            <a:spAutoFit/>
          </a:bodyPr>
          <a:lstStyle/>
          <a:p>
            <a:pPr algn="ctr">
              <a:lnSpc>
                <a:spcPct val="118000"/>
              </a:lnSpc>
            </a:pPr>
            <a:r>
              <a:rPr sz="4000" b="1">
                <a:solidFill>
                  <a:srgbClr val="FFFFFF"/>
                </a:solidFill>
                <a:latin typeface="Noto Sans KR"/>
              </a:rPr>
              <a:t>MAKJI STOCK</a:t>
            </a:r>
          </a:p>
        </p:txBody>
      </p:sp>
      <p:sp>
        <p:nvSpPr>
          <p:cNvPr id="18" name="TextBox 17"/>
          <p:cNvSpPr txBox="1"/>
          <p:nvPr/>
        </p:nvSpPr>
        <p:spPr>
          <a:xfrm>
            <a:off x="822960" y="5074920"/>
            <a:ext cx="10543032" cy="274320"/>
          </a:xfrm>
          <a:prstGeom prst="rect">
            <a:avLst/>
          </a:prstGeom>
          <a:noFill/>
        </p:spPr>
        <p:txBody>
          <a:bodyPr wrap="square" lIns="0" rIns="0" tIns="0" bIns="0" anchor="t">
            <a:spAutoFit/>
          </a:bodyPr>
          <a:lstStyle/>
          <a:p>
            <a:pPr algn="ctr">
              <a:lnSpc>
                <a:spcPct val="118000"/>
              </a:lnSpc>
            </a:pPr>
            <a:r>
              <a:rPr sz="1250" b="0">
                <a:solidFill>
                  <a:srgbClr val="FFFFFF"/>
                </a:solidFill>
                <a:latin typeface="Noto Sans KR"/>
              </a:rPr>
              <a:t>빵값을 주식시장처럼 — 하루 두 번 열리는 시세를 보고, 내 방식대로 혜택을 골라 자사몰에서 삽니다.</a:t>
            </a:r>
          </a:p>
        </p:txBody>
      </p:sp>
      <p:sp>
        <p:nvSpPr>
          <p:cNvPr id="19" name="TextBox 18"/>
          <p:cNvSpPr txBox="1"/>
          <p:nvPr/>
        </p:nvSpPr>
        <p:spPr>
          <a:xfrm>
            <a:off x="822960" y="5376672"/>
            <a:ext cx="10543032" cy="274320"/>
          </a:xfrm>
          <a:prstGeom prst="rect">
            <a:avLst/>
          </a:prstGeom>
          <a:noFill/>
        </p:spPr>
        <p:txBody>
          <a:bodyPr wrap="square" lIns="0" rIns="0" tIns="0" bIns="0" anchor="t">
            <a:spAutoFit/>
          </a:bodyPr>
          <a:lstStyle/>
          <a:p>
            <a:pPr algn="ctr">
              <a:lnSpc>
                <a:spcPct val="118000"/>
              </a:lnSpc>
            </a:pPr>
            <a:r>
              <a:rPr sz="1150" b="1">
                <a:solidFill>
                  <a:srgbClr val="DCEAF7"/>
                </a:solidFill>
                <a:latin typeface="Noto Sans KR"/>
              </a:rPr>
              <a:t>경쟁 6곳 중 가격 변동 자체를 콘텐츠로 쓰는 곳은 아직 없습니다.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66928"/>
            <a:ext cx="7315200" cy="274320"/>
          </a:xfrm>
          <a:prstGeom prst="rect">
            <a:avLst/>
          </a:prstGeom>
          <a:noFill/>
        </p:spPr>
        <p:txBody>
          <a:bodyPr wrap="square" lIns="0" rIns="0" tIns="0" bIns="0" anchor="t">
            <a:spAutoFit/>
          </a:bodyPr>
          <a:lstStyle/>
          <a:p>
            <a:pPr algn="l">
              <a:lnSpc>
                <a:spcPct val="118000"/>
              </a:lnSpc>
            </a:pPr>
            <a:r>
              <a:rPr sz="1150" b="1">
                <a:solidFill>
                  <a:srgbClr val="2F6FAD"/>
                </a:solidFill>
                <a:latin typeface="Noto Sans KR"/>
              </a:rPr>
              <a:t>서비스 소개</a:t>
            </a:r>
          </a:p>
        </p:txBody>
      </p:sp>
      <p:sp>
        <p:nvSpPr>
          <p:cNvPr id="3" name="TextBox 2"/>
          <p:cNvSpPr txBox="1"/>
          <p:nvPr/>
        </p:nvSpPr>
        <p:spPr>
          <a:xfrm>
            <a:off x="822960" y="868680"/>
            <a:ext cx="10515600" cy="1097280"/>
          </a:xfrm>
          <a:prstGeom prst="rect">
            <a:avLst/>
          </a:prstGeom>
          <a:noFill/>
        </p:spPr>
        <p:txBody>
          <a:bodyPr wrap="square" lIns="0" rIns="0" tIns="0" bIns="0" anchor="t">
            <a:spAutoFit/>
          </a:bodyPr>
          <a:lstStyle/>
          <a:p>
            <a:pPr algn="l">
              <a:lnSpc>
                <a:spcPct val="115000"/>
              </a:lnSpc>
            </a:pPr>
            <a:r>
              <a:rPr sz="2700" b="1">
                <a:solidFill>
                  <a:srgbClr val="111827"/>
                </a:solidFill>
                <a:latin typeface="Noto Sans KR"/>
              </a:rPr>
              <a:t>아침에 본 가격을 잠그면,</a:t>
            </a:r>
          </a:p>
          <a:p>
            <a:pPr algn="l">
              <a:lnSpc>
                <a:spcPct val="115000"/>
              </a:lnSpc>
              <a:spcBef>
                <a:spcPts val="0"/>
              </a:spcBef>
            </a:pPr>
            <a:r>
              <a:rPr sz="2700" b="1">
                <a:solidFill>
                  <a:srgbClr val="111827"/>
                </a:solidFill>
                <a:latin typeface="Noto Sans KR"/>
              </a:rPr>
              <a:t>저녁 결제까지 이어집니다.</a:t>
            </a:r>
          </a:p>
        </p:txBody>
      </p:sp>
      <p:sp>
        <p:nvSpPr>
          <p:cNvPr id="4" name="Rectangle 3"/>
          <p:cNvSpPr/>
          <p:nvPr/>
        </p:nvSpPr>
        <p:spPr>
          <a:xfrm>
            <a:off x="10981944" y="5888736"/>
            <a:ext cx="384048" cy="41148"/>
          </a:xfrm>
          <a:prstGeom prst="rect">
            <a:avLst/>
          </a:prstGeom>
          <a:solidFill>
            <a:srgbClr val="408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0" y="6007608"/>
            <a:ext cx="8622792" cy="365760"/>
          </a:xfrm>
          <a:prstGeom prst="rect">
            <a:avLst/>
          </a:prstGeom>
          <a:noFill/>
        </p:spPr>
        <p:txBody>
          <a:bodyPr wrap="square" lIns="0" rIns="0" tIns="0" bIns="0" anchor="t">
            <a:spAutoFit/>
          </a:bodyPr>
          <a:lstStyle/>
          <a:p>
            <a:pPr algn="r">
              <a:lnSpc>
                <a:spcPct val="118000"/>
              </a:lnSpc>
            </a:pPr>
            <a:r>
              <a:rPr sz="1400" b="1">
                <a:solidFill>
                  <a:srgbClr val="2F6FAD"/>
                </a:solidFill>
                <a:latin typeface="Noto Sans KR"/>
              </a:rPr>
              <a:t>아침 관심과 저녁 결제 사이의 간극을 ‘잠금’이 메웁니다.</a:t>
            </a:r>
          </a:p>
        </p:txBody>
      </p:sp>
      <p:sp>
        <p:nvSpPr>
          <p:cNvPr id="6" name="TextBox 5"/>
          <p:cNvSpPr txBox="1"/>
          <p:nvPr/>
        </p:nvSpPr>
        <p:spPr>
          <a:xfrm>
            <a:off x="10058400" y="6446520"/>
            <a:ext cx="1307591" cy="182880"/>
          </a:xfrm>
          <a:prstGeom prst="rect">
            <a:avLst/>
          </a:prstGeom>
          <a:noFill/>
        </p:spPr>
        <p:txBody>
          <a:bodyPr wrap="square" lIns="0" rIns="0" tIns="0" bIns="0" anchor="t">
            <a:spAutoFit/>
          </a:bodyPr>
          <a:lstStyle/>
          <a:p>
            <a:pPr algn="r">
              <a:lnSpc>
                <a:spcPct val="118000"/>
              </a:lnSpc>
            </a:pPr>
            <a:r>
              <a:rPr sz="900" b="0">
                <a:solidFill>
                  <a:srgbClr val="9CA3AF"/>
                </a:solidFill>
                <a:latin typeface="Noto Sans KR"/>
              </a:rPr>
              <a:t>06 / 16</a:t>
            </a:r>
          </a:p>
        </p:txBody>
      </p:sp>
      <p:sp>
        <p:nvSpPr>
          <p:cNvPr id="7" name="Rounded Rectangle 6"/>
          <p:cNvSpPr/>
          <p:nvPr/>
        </p:nvSpPr>
        <p:spPr>
          <a:xfrm>
            <a:off x="822960" y="2057400"/>
            <a:ext cx="10543032" cy="1691640"/>
          </a:xfrm>
          <a:prstGeom prst="roundRect">
            <a:avLst>
              <a:gd name="adj" fmla="val 8648"/>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1645920" y="2542032"/>
            <a:ext cx="8915400" cy="0"/>
          </a:xfrm>
          <a:prstGeom prst="line">
            <a:avLst/>
          </a:prstGeom>
          <a:ln w="31750">
            <a:solidFill>
              <a:srgbClr val="E5E7EB"/>
            </a:solidFill>
          </a:ln>
          <a:effectLst/>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1517904" y="2414016"/>
            <a:ext cx="256032" cy="256032"/>
          </a:xfrm>
          <a:prstGeom prst="ellipse">
            <a:avLst/>
          </a:prstGeom>
          <a:solidFill>
            <a:srgbClr val="408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761488"/>
            <a:ext cx="2011680" cy="274320"/>
          </a:xfrm>
          <a:prstGeom prst="rect">
            <a:avLst/>
          </a:prstGeom>
          <a:noFill/>
        </p:spPr>
        <p:txBody>
          <a:bodyPr wrap="square" lIns="0" rIns="0" tIns="0" bIns="0" anchor="t">
            <a:spAutoFit/>
          </a:bodyPr>
          <a:lstStyle/>
          <a:p>
            <a:pPr algn="ctr">
              <a:lnSpc>
                <a:spcPct val="118000"/>
              </a:lnSpc>
            </a:pPr>
            <a:r>
              <a:rPr sz="1400" b="1">
                <a:solidFill>
                  <a:srgbClr val="111827"/>
                </a:solidFill>
                <a:latin typeface="Noto Sans KR"/>
              </a:rPr>
              <a:t>06:00</a:t>
            </a:r>
          </a:p>
        </p:txBody>
      </p:sp>
      <p:sp>
        <p:nvSpPr>
          <p:cNvPr id="11" name="TextBox 10"/>
          <p:cNvSpPr txBox="1"/>
          <p:nvPr/>
        </p:nvSpPr>
        <p:spPr>
          <a:xfrm>
            <a:off x="640080" y="3090672"/>
            <a:ext cx="2011680" cy="274320"/>
          </a:xfrm>
          <a:prstGeom prst="rect">
            <a:avLst/>
          </a:prstGeom>
          <a:noFill/>
        </p:spPr>
        <p:txBody>
          <a:bodyPr wrap="square" lIns="0" rIns="0" tIns="0" bIns="0" anchor="t">
            <a:spAutoFit/>
          </a:bodyPr>
          <a:lstStyle/>
          <a:p>
            <a:pPr algn="ctr">
              <a:lnSpc>
                <a:spcPct val="118000"/>
              </a:lnSpc>
            </a:pPr>
            <a:r>
              <a:rPr sz="1100" b="0">
                <a:solidFill>
                  <a:srgbClr val="4B5563"/>
                </a:solidFill>
                <a:latin typeface="Noto Sans KR"/>
              </a:rPr>
              <a:t>오전장 개장 · 시세 확인</a:t>
            </a:r>
          </a:p>
        </p:txBody>
      </p:sp>
      <p:sp>
        <p:nvSpPr>
          <p:cNvPr id="12" name="Oval 11"/>
          <p:cNvSpPr/>
          <p:nvPr/>
        </p:nvSpPr>
        <p:spPr>
          <a:xfrm>
            <a:off x="3749040" y="2414016"/>
            <a:ext cx="256032" cy="256032"/>
          </a:xfrm>
          <a:prstGeom prst="ellipse">
            <a:avLst/>
          </a:prstGeom>
          <a:solidFill>
            <a:srgbClr val="F5B3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71216" y="2761488"/>
            <a:ext cx="2011680" cy="274320"/>
          </a:xfrm>
          <a:prstGeom prst="rect">
            <a:avLst/>
          </a:prstGeom>
          <a:noFill/>
        </p:spPr>
        <p:txBody>
          <a:bodyPr wrap="square" lIns="0" rIns="0" tIns="0" bIns="0" anchor="t">
            <a:spAutoFit/>
          </a:bodyPr>
          <a:lstStyle/>
          <a:p>
            <a:pPr algn="ctr">
              <a:lnSpc>
                <a:spcPct val="118000"/>
              </a:lnSpc>
            </a:pPr>
            <a:r>
              <a:rPr sz="1400" b="1">
                <a:solidFill>
                  <a:srgbClr val="111827"/>
                </a:solidFill>
                <a:latin typeface="Noto Sans KR"/>
              </a:rPr>
              <a:t>오전장 중</a:t>
            </a:r>
          </a:p>
        </p:txBody>
      </p:sp>
      <p:sp>
        <p:nvSpPr>
          <p:cNvPr id="14" name="TextBox 13"/>
          <p:cNvSpPr txBox="1"/>
          <p:nvPr/>
        </p:nvSpPr>
        <p:spPr>
          <a:xfrm>
            <a:off x="2871216" y="3090672"/>
            <a:ext cx="2011680" cy="274320"/>
          </a:xfrm>
          <a:prstGeom prst="rect">
            <a:avLst/>
          </a:prstGeom>
          <a:noFill/>
        </p:spPr>
        <p:txBody>
          <a:bodyPr wrap="square" lIns="0" rIns="0" tIns="0" bIns="0" anchor="t">
            <a:spAutoFit/>
          </a:bodyPr>
          <a:lstStyle/>
          <a:p>
            <a:pPr algn="ctr">
              <a:lnSpc>
                <a:spcPct val="118000"/>
              </a:lnSpc>
            </a:pPr>
            <a:r>
              <a:rPr sz="1100" b="0">
                <a:solidFill>
                  <a:srgbClr val="4B5563"/>
                </a:solidFill>
                <a:latin typeface="Noto Sans KR"/>
              </a:rPr>
              <a:t>가격 잠금 (하루 1회)</a:t>
            </a:r>
          </a:p>
        </p:txBody>
      </p:sp>
      <p:sp>
        <p:nvSpPr>
          <p:cNvPr id="15" name="Oval 14"/>
          <p:cNvSpPr/>
          <p:nvPr/>
        </p:nvSpPr>
        <p:spPr>
          <a:xfrm>
            <a:off x="5980176" y="2414016"/>
            <a:ext cx="256032" cy="256032"/>
          </a:xfrm>
          <a:prstGeom prst="ellipse">
            <a:avLst/>
          </a:prstGeom>
          <a:solidFill>
            <a:srgbClr val="FF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02352" y="2761488"/>
            <a:ext cx="2011680" cy="274320"/>
          </a:xfrm>
          <a:prstGeom prst="rect">
            <a:avLst/>
          </a:prstGeom>
          <a:noFill/>
        </p:spPr>
        <p:txBody>
          <a:bodyPr wrap="square" lIns="0" rIns="0" tIns="0" bIns="0" anchor="t">
            <a:spAutoFit/>
          </a:bodyPr>
          <a:lstStyle/>
          <a:p>
            <a:pPr algn="ctr">
              <a:lnSpc>
                <a:spcPct val="118000"/>
              </a:lnSpc>
            </a:pPr>
            <a:r>
              <a:rPr sz="1400" b="1">
                <a:solidFill>
                  <a:srgbClr val="111827"/>
                </a:solidFill>
                <a:latin typeface="Noto Sans KR"/>
              </a:rPr>
              <a:t>16:00</a:t>
            </a:r>
          </a:p>
        </p:txBody>
      </p:sp>
      <p:sp>
        <p:nvSpPr>
          <p:cNvPr id="17" name="TextBox 16"/>
          <p:cNvSpPr txBox="1"/>
          <p:nvPr/>
        </p:nvSpPr>
        <p:spPr>
          <a:xfrm>
            <a:off x="5102352" y="3090672"/>
            <a:ext cx="2011680" cy="274320"/>
          </a:xfrm>
          <a:prstGeom prst="rect">
            <a:avLst/>
          </a:prstGeom>
          <a:noFill/>
        </p:spPr>
        <p:txBody>
          <a:bodyPr wrap="square" lIns="0" rIns="0" tIns="0" bIns="0" anchor="t">
            <a:spAutoFit/>
          </a:bodyPr>
          <a:lstStyle/>
          <a:p>
            <a:pPr algn="ctr">
              <a:lnSpc>
                <a:spcPct val="118000"/>
              </a:lnSpc>
            </a:pPr>
            <a:r>
              <a:rPr sz="1100" b="0">
                <a:solidFill>
                  <a:srgbClr val="4B5563"/>
                </a:solidFill>
                <a:latin typeface="Noto Sans KR"/>
              </a:rPr>
              <a:t>오후장 개장 · 잠금 정산</a:t>
            </a:r>
          </a:p>
        </p:txBody>
      </p:sp>
      <p:sp>
        <p:nvSpPr>
          <p:cNvPr id="18" name="Oval 17"/>
          <p:cNvSpPr/>
          <p:nvPr/>
        </p:nvSpPr>
        <p:spPr>
          <a:xfrm>
            <a:off x="8211312" y="2414016"/>
            <a:ext cx="256032" cy="256032"/>
          </a:xfrm>
          <a:prstGeom prst="ellipse">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33488" y="2761488"/>
            <a:ext cx="2011680" cy="274320"/>
          </a:xfrm>
          <a:prstGeom prst="rect">
            <a:avLst/>
          </a:prstGeom>
          <a:noFill/>
        </p:spPr>
        <p:txBody>
          <a:bodyPr wrap="square" lIns="0" rIns="0" tIns="0" bIns="0" anchor="t">
            <a:spAutoFit/>
          </a:bodyPr>
          <a:lstStyle/>
          <a:p>
            <a:pPr algn="ctr">
              <a:lnSpc>
                <a:spcPct val="118000"/>
              </a:lnSpc>
            </a:pPr>
            <a:r>
              <a:rPr sz="1400" b="1">
                <a:solidFill>
                  <a:srgbClr val="111827"/>
                </a:solidFill>
                <a:latin typeface="Noto Sans KR"/>
              </a:rPr>
              <a:t>구매</a:t>
            </a:r>
          </a:p>
        </p:txBody>
      </p:sp>
      <p:sp>
        <p:nvSpPr>
          <p:cNvPr id="20" name="TextBox 19"/>
          <p:cNvSpPr txBox="1"/>
          <p:nvPr/>
        </p:nvSpPr>
        <p:spPr>
          <a:xfrm>
            <a:off x="7333488" y="3090672"/>
            <a:ext cx="2011680" cy="274320"/>
          </a:xfrm>
          <a:prstGeom prst="rect">
            <a:avLst/>
          </a:prstGeom>
          <a:noFill/>
        </p:spPr>
        <p:txBody>
          <a:bodyPr wrap="square" lIns="0" rIns="0" tIns="0" bIns="0" anchor="t">
            <a:spAutoFit/>
          </a:bodyPr>
          <a:lstStyle/>
          <a:p>
            <a:pPr algn="ctr">
              <a:lnSpc>
                <a:spcPct val="118000"/>
              </a:lnSpc>
            </a:pPr>
            <a:r>
              <a:rPr sz="1100" b="0">
                <a:solidFill>
                  <a:srgbClr val="4B5563"/>
                </a:solidFill>
                <a:latin typeface="Noto Sans KR"/>
              </a:rPr>
              <a:t>막지 자사몰에서 결제</a:t>
            </a:r>
          </a:p>
        </p:txBody>
      </p:sp>
      <p:sp>
        <p:nvSpPr>
          <p:cNvPr id="21" name="Oval 20"/>
          <p:cNvSpPr/>
          <p:nvPr/>
        </p:nvSpPr>
        <p:spPr>
          <a:xfrm>
            <a:off x="10442448" y="2414016"/>
            <a:ext cx="256032" cy="256032"/>
          </a:xfrm>
          <a:prstGeom prst="ellipse">
            <a:avLst/>
          </a:prstGeom>
          <a:solidFill>
            <a:srgbClr val="10A3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64624" y="2761488"/>
            <a:ext cx="2011680" cy="274320"/>
          </a:xfrm>
          <a:prstGeom prst="rect">
            <a:avLst/>
          </a:prstGeom>
          <a:noFill/>
        </p:spPr>
        <p:txBody>
          <a:bodyPr wrap="square" lIns="0" rIns="0" tIns="0" bIns="0" anchor="t">
            <a:spAutoFit/>
          </a:bodyPr>
          <a:lstStyle/>
          <a:p>
            <a:pPr algn="ctr">
              <a:lnSpc>
                <a:spcPct val="118000"/>
              </a:lnSpc>
            </a:pPr>
            <a:r>
              <a:rPr sz="1400" b="1">
                <a:solidFill>
                  <a:srgbClr val="111827"/>
                </a:solidFill>
                <a:latin typeface="Noto Sans KR"/>
              </a:rPr>
              <a:t>익일 06:00</a:t>
            </a:r>
          </a:p>
        </p:txBody>
      </p:sp>
      <p:sp>
        <p:nvSpPr>
          <p:cNvPr id="23" name="TextBox 22"/>
          <p:cNvSpPr txBox="1"/>
          <p:nvPr/>
        </p:nvSpPr>
        <p:spPr>
          <a:xfrm>
            <a:off x="9564624" y="3090672"/>
            <a:ext cx="2011680" cy="274320"/>
          </a:xfrm>
          <a:prstGeom prst="rect">
            <a:avLst/>
          </a:prstGeom>
          <a:noFill/>
        </p:spPr>
        <p:txBody>
          <a:bodyPr wrap="square" lIns="0" rIns="0" tIns="0" bIns="0" anchor="t">
            <a:spAutoFit/>
          </a:bodyPr>
          <a:lstStyle/>
          <a:p>
            <a:pPr algn="ctr">
              <a:lnSpc>
                <a:spcPct val="118000"/>
              </a:lnSpc>
            </a:pPr>
            <a:r>
              <a:rPr sz="1100" b="0">
                <a:solidFill>
                  <a:srgbClr val="4B5563"/>
                </a:solidFill>
                <a:latin typeface="Noto Sans KR"/>
              </a:rPr>
              <a:t>예측 결과 확인</a:t>
            </a:r>
          </a:p>
        </p:txBody>
      </p:sp>
      <p:sp>
        <p:nvSpPr>
          <p:cNvPr id="24" name="Rounded Rectangle 23"/>
          <p:cNvSpPr/>
          <p:nvPr/>
        </p:nvSpPr>
        <p:spPr>
          <a:xfrm>
            <a:off x="822960" y="3931920"/>
            <a:ext cx="3410712" cy="1783080"/>
          </a:xfrm>
          <a:prstGeom prst="roundRect">
            <a:avLst>
              <a:gd name="adj" fmla="val 8205"/>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51560" y="4114800"/>
            <a:ext cx="457200" cy="54864"/>
          </a:xfrm>
          <a:prstGeom prst="rect">
            <a:avLst/>
          </a:prstGeom>
          <a:solidFill>
            <a:srgbClr val="408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51560" y="4297680"/>
            <a:ext cx="3017520" cy="365760"/>
          </a:xfrm>
          <a:prstGeom prst="rect">
            <a:avLst/>
          </a:prstGeom>
          <a:noFill/>
        </p:spPr>
        <p:txBody>
          <a:bodyPr wrap="square" lIns="0" rIns="0" tIns="0" bIns="0" anchor="t">
            <a:spAutoFit/>
          </a:bodyPr>
          <a:lstStyle/>
          <a:p>
            <a:pPr algn="l">
              <a:lnSpc>
                <a:spcPct val="118000"/>
              </a:lnSpc>
            </a:pPr>
            <a:r>
              <a:rPr sz="1700" b="1">
                <a:solidFill>
                  <a:srgbClr val="111827"/>
                </a:solidFill>
                <a:latin typeface="Noto Sans KR"/>
              </a:rPr>
              <a:t>오늘의 시세</a:t>
            </a:r>
          </a:p>
        </p:txBody>
      </p:sp>
      <p:sp>
        <p:nvSpPr>
          <p:cNvPr id="27" name="TextBox 26"/>
          <p:cNvSpPr txBox="1"/>
          <p:nvPr/>
        </p:nvSpPr>
        <p:spPr>
          <a:xfrm>
            <a:off x="1051560" y="4754880"/>
            <a:ext cx="3017520" cy="822960"/>
          </a:xfrm>
          <a:prstGeom prst="rect">
            <a:avLst/>
          </a:prstGeom>
          <a:noFill/>
        </p:spPr>
        <p:txBody>
          <a:bodyPr wrap="square" lIns="0" rIns="0" tIns="0" bIns="0" anchor="t">
            <a:spAutoFit/>
          </a:bodyPr>
          <a:lstStyle/>
          <a:p>
            <a:pPr algn="l">
              <a:lnSpc>
                <a:spcPct val="140000"/>
              </a:lnSpc>
            </a:pPr>
            <a:r>
              <a:rPr sz="1200" b="0">
                <a:solidFill>
                  <a:srgbClr val="4B5563"/>
                </a:solidFill>
                <a:latin typeface="Noto Sans KR"/>
              </a:rPr>
              <a:t>6종의 가격과 할인율을</a:t>
            </a:r>
          </a:p>
          <a:p>
            <a:pPr algn="l">
              <a:lnSpc>
                <a:spcPct val="140000"/>
              </a:lnSpc>
              <a:spcBef>
                <a:spcPts val="0"/>
              </a:spcBef>
            </a:pPr>
            <a:r>
              <a:rPr sz="1200" b="0">
                <a:solidFill>
                  <a:srgbClr val="4B5563"/>
                </a:solidFill>
                <a:latin typeface="Noto Sans KR"/>
              </a:rPr>
              <a:t>하루 두 번 공개합니다.</a:t>
            </a:r>
          </a:p>
        </p:txBody>
      </p:sp>
      <p:sp>
        <p:nvSpPr>
          <p:cNvPr id="28" name="Rounded Rectangle 27"/>
          <p:cNvSpPr/>
          <p:nvPr/>
        </p:nvSpPr>
        <p:spPr>
          <a:xfrm>
            <a:off x="4389120" y="3931920"/>
            <a:ext cx="3410712" cy="1783080"/>
          </a:xfrm>
          <a:prstGeom prst="roundRect">
            <a:avLst>
              <a:gd name="adj" fmla="val 8205"/>
            </a:avLst>
          </a:prstGeom>
          <a:solidFill>
            <a:srgbClr val="FFF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617720" y="4114800"/>
            <a:ext cx="457200" cy="54864"/>
          </a:xfrm>
          <a:prstGeom prst="rect">
            <a:avLst/>
          </a:prstGeom>
          <a:solidFill>
            <a:srgbClr val="F5B3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17720" y="4297680"/>
            <a:ext cx="3017520" cy="365760"/>
          </a:xfrm>
          <a:prstGeom prst="rect">
            <a:avLst/>
          </a:prstGeom>
          <a:noFill/>
        </p:spPr>
        <p:txBody>
          <a:bodyPr wrap="square" lIns="0" rIns="0" tIns="0" bIns="0" anchor="t">
            <a:spAutoFit/>
          </a:bodyPr>
          <a:lstStyle/>
          <a:p>
            <a:pPr algn="l">
              <a:lnSpc>
                <a:spcPct val="118000"/>
              </a:lnSpc>
            </a:pPr>
            <a:r>
              <a:rPr sz="1700" b="1">
                <a:solidFill>
                  <a:srgbClr val="111827"/>
                </a:solidFill>
                <a:latin typeface="Noto Sans KR"/>
              </a:rPr>
              <a:t>가격 잠금</a:t>
            </a:r>
          </a:p>
        </p:txBody>
      </p:sp>
      <p:sp>
        <p:nvSpPr>
          <p:cNvPr id="31" name="TextBox 30"/>
          <p:cNvSpPr txBox="1"/>
          <p:nvPr/>
        </p:nvSpPr>
        <p:spPr>
          <a:xfrm>
            <a:off x="4617720" y="4754880"/>
            <a:ext cx="3017520" cy="822960"/>
          </a:xfrm>
          <a:prstGeom prst="rect">
            <a:avLst/>
          </a:prstGeom>
          <a:noFill/>
        </p:spPr>
        <p:txBody>
          <a:bodyPr wrap="square" lIns="0" rIns="0" tIns="0" bIns="0" anchor="t">
            <a:spAutoFit/>
          </a:bodyPr>
          <a:lstStyle/>
          <a:p>
            <a:pPr algn="l">
              <a:lnSpc>
                <a:spcPct val="140000"/>
              </a:lnSpc>
            </a:pPr>
            <a:r>
              <a:rPr sz="1200" b="0">
                <a:solidFill>
                  <a:srgbClr val="4B5563"/>
                </a:solidFill>
                <a:latin typeface="Noto Sans KR"/>
              </a:rPr>
              <a:t>오전가를 하루 1개 잠그면</a:t>
            </a:r>
          </a:p>
          <a:p>
            <a:pPr algn="l">
              <a:lnSpc>
                <a:spcPct val="140000"/>
              </a:lnSpc>
              <a:spcBef>
                <a:spcPts val="0"/>
              </a:spcBef>
            </a:pPr>
            <a:r>
              <a:rPr sz="1200" b="0">
                <a:solidFill>
                  <a:srgbClr val="4B5563"/>
                </a:solidFill>
                <a:latin typeface="Noto Sans KR"/>
              </a:rPr>
              <a:t>오후에 올라도 그 가격입니다.</a:t>
            </a:r>
          </a:p>
        </p:txBody>
      </p:sp>
      <p:sp>
        <p:nvSpPr>
          <p:cNvPr id="32" name="Rounded Rectangle 31"/>
          <p:cNvSpPr/>
          <p:nvPr/>
        </p:nvSpPr>
        <p:spPr>
          <a:xfrm>
            <a:off x="7955279" y="3931920"/>
            <a:ext cx="3410712" cy="1783080"/>
          </a:xfrm>
          <a:prstGeom prst="roundRect">
            <a:avLst>
              <a:gd name="adj" fmla="val 8205"/>
            </a:avLst>
          </a:prstGeom>
          <a:solidFill>
            <a:srgbClr val="FF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83879" y="4114800"/>
            <a:ext cx="457200" cy="54864"/>
          </a:xfrm>
          <a:prstGeom prst="rect">
            <a:avLst/>
          </a:prstGeom>
          <a:solidFill>
            <a:srgbClr val="FF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83879" y="4297680"/>
            <a:ext cx="3017520" cy="365760"/>
          </a:xfrm>
          <a:prstGeom prst="rect">
            <a:avLst/>
          </a:prstGeom>
          <a:noFill/>
        </p:spPr>
        <p:txBody>
          <a:bodyPr wrap="square" lIns="0" rIns="0" tIns="0" bIns="0" anchor="t">
            <a:spAutoFit/>
          </a:bodyPr>
          <a:lstStyle/>
          <a:p>
            <a:pPr algn="l">
              <a:lnSpc>
                <a:spcPct val="118000"/>
              </a:lnSpc>
            </a:pPr>
            <a:r>
              <a:rPr sz="1700" b="1">
                <a:solidFill>
                  <a:srgbClr val="111827"/>
                </a:solidFill>
                <a:latin typeface="Noto Sans KR"/>
              </a:rPr>
              <a:t>오늘의 보상 고르기</a:t>
            </a:r>
          </a:p>
        </p:txBody>
      </p:sp>
      <p:sp>
        <p:nvSpPr>
          <p:cNvPr id="35" name="TextBox 34"/>
          <p:cNvSpPr txBox="1"/>
          <p:nvPr/>
        </p:nvSpPr>
        <p:spPr>
          <a:xfrm>
            <a:off x="8183879" y="4754880"/>
            <a:ext cx="3017520" cy="822960"/>
          </a:xfrm>
          <a:prstGeom prst="rect">
            <a:avLst/>
          </a:prstGeom>
          <a:noFill/>
        </p:spPr>
        <p:txBody>
          <a:bodyPr wrap="square" lIns="0" rIns="0" tIns="0" bIns="0" anchor="t">
            <a:spAutoFit/>
          </a:bodyPr>
          <a:lstStyle/>
          <a:p>
            <a:pPr algn="l">
              <a:lnSpc>
                <a:spcPct val="140000"/>
              </a:lnSpc>
            </a:pPr>
            <a:r>
              <a:rPr sz="1200" b="0">
                <a:solidFill>
                  <a:srgbClr val="4B5563"/>
                </a:solidFill>
                <a:latin typeface="Noto Sans KR"/>
              </a:rPr>
              <a:t>안정형은 즉시 확정 쿠폰,</a:t>
            </a:r>
          </a:p>
          <a:p>
            <a:pPr algn="l">
              <a:lnSpc>
                <a:spcPct val="140000"/>
              </a:lnSpc>
              <a:spcBef>
                <a:spcPts val="0"/>
              </a:spcBef>
            </a:pPr>
            <a:r>
              <a:rPr sz="1200" b="0">
                <a:solidFill>
                  <a:srgbClr val="4B5563"/>
                </a:solidFill>
                <a:latin typeface="Noto Sans KR"/>
              </a:rPr>
              <a:t>공격형은 내일 예측에 도전합니다.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66928"/>
            <a:ext cx="7315200" cy="274320"/>
          </a:xfrm>
          <a:prstGeom prst="rect">
            <a:avLst/>
          </a:prstGeom>
          <a:noFill/>
        </p:spPr>
        <p:txBody>
          <a:bodyPr wrap="square" lIns="0" rIns="0" tIns="0" bIns="0" anchor="t">
            <a:spAutoFit/>
          </a:bodyPr>
          <a:lstStyle/>
          <a:p>
            <a:pPr algn="l">
              <a:lnSpc>
                <a:spcPct val="118000"/>
              </a:lnSpc>
            </a:pPr>
            <a:r>
              <a:rPr sz="1150" b="1">
                <a:solidFill>
                  <a:srgbClr val="2F6FAD"/>
                </a:solidFill>
                <a:latin typeface="Noto Sans KR"/>
              </a:rPr>
              <a:t>사용자 여정 — 구매 의사별</a:t>
            </a:r>
          </a:p>
        </p:txBody>
      </p:sp>
      <p:sp>
        <p:nvSpPr>
          <p:cNvPr id="3" name="TextBox 2"/>
          <p:cNvSpPr txBox="1"/>
          <p:nvPr/>
        </p:nvSpPr>
        <p:spPr>
          <a:xfrm>
            <a:off x="822960" y="868680"/>
            <a:ext cx="10515600" cy="1097280"/>
          </a:xfrm>
          <a:prstGeom prst="rect">
            <a:avLst/>
          </a:prstGeom>
          <a:noFill/>
        </p:spPr>
        <p:txBody>
          <a:bodyPr wrap="square" lIns="0" rIns="0" tIns="0" bIns="0" anchor="t">
            <a:spAutoFit/>
          </a:bodyPr>
          <a:lstStyle/>
          <a:p>
            <a:pPr algn="l">
              <a:lnSpc>
                <a:spcPct val="115000"/>
              </a:lnSpc>
            </a:pPr>
            <a:r>
              <a:rPr sz="2700" b="1">
                <a:solidFill>
                  <a:srgbClr val="111827"/>
                </a:solidFill>
                <a:latin typeface="Noto Sans KR"/>
              </a:rPr>
              <a:t>고객 상황에 따라 길은 세 가지 —</a:t>
            </a:r>
          </a:p>
          <a:p>
            <a:pPr algn="l">
              <a:lnSpc>
                <a:spcPct val="115000"/>
              </a:lnSpc>
              <a:spcBef>
                <a:spcPts val="0"/>
              </a:spcBef>
            </a:pPr>
            <a:r>
              <a:rPr sz="2700" b="1">
                <a:solidFill>
                  <a:srgbClr val="111827"/>
                </a:solidFill>
                <a:latin typeface="Noto Sans KR"/>
              </a:rPr>
              <a:t>모두 자사몰 결제로 이어집니다.</a:t>
            </a:r>
          </a:p>
        </p:txBody>
      </p:sp>
      <p:sp>
        <p:nvSpPr>
          <p:cNvPr id="4" name="Rectangle 3"/>
          <p:cNvSpPr/>
          <p:nvPr/>
        </p:nvSpPr>
        <p:spPr>
          <a:xfrm>
            <a:off x="10981944" y="5888736"/>
            <a:ext cx="384048" cy="41148"/>
          </a:xfrm>
          <a:prstGeom prst="rect">
            <a:avLst/>
          </a:prstGeom>
          <a:solidFill>
            <a:srgbClr val="408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0" y="6007608"/>
            <a:ext cx="8622792" cy="365760"/>
          </a:xfrm>
          <a:prstGeom prst="rect">
            <a:avLst/>
          </a:prstGeom>
          <a:noFill/>
        </p:spPr>
        <p:txBody>
          <a:bodyPr wrap="square" lIns="0" rIns="0" tIns="0" bIns="0" anchor="t">
            <a:spAutoFit/>
          </a:bodyPr>
          <a:lstStyle/>
          <a:p>
            <a:pPr algn="r">
              <a:lnSpc>
                <a:spcPct val="118000"/>
              </a:lnSpc>
            </a:pPr>
            <a:r>
              <a:rPr sz="1400" b="1">
                <a:solidFill>
                  <a:srgbClr val="2F6FAD"/>
                </a:solidFill>
                <a:latin typeface="Noto Sans KR"/>
              </a:rPr>
              <a:t>잠금과 예측은 구매를 미루는 장치가 아니라 유리한 구매를 보장합니다.</a:t>
            </a:r>
          </a:p>
        </p:txBody>
      </p:sp>
      <p:sp>
        <p:nvSpPr>
          <p:cNvPr id="6" name="TextBox 5"/>
          <p:cNvSpPr txBox="1"/>
          <p:nvPr/>
        </p:nvSpPr>
        <p:spPr>
          <a:xfrm>
            <a:off x="10058400" y="6446520"/>
            <a:ext cx="1307591" cy="182880"/>
          </a:xfrm>
          <a:prstGeom prst="rect">
            <a:avLst/>
          </a:prstGeom>
          <a:noFill/>
        </p:spPr>
        <p:txBody>
          <a:bodyPr wrap="square" lIns="0" rIns="0" tIns="0" bIns="0" anchor="t">
            <a:spAutoFit/>
          </a:bodyPr>
          <a:lstStyle/>
          <a:p>
            <a:pPr algn="r">
              <a:lnSpc>
                <a:spcPct val="118000"/>
              </a:lnSpc>
            </a:pPr>
            <a:r>
              <a:rPr sz="900" b="0">
                <a:solidFill>
                  <a:srgbClr val="9CA3AF"/>
                </a:solidFill>
                <a:latin typeface="Noto Sans KR"/>
              </a:rPr>
              <a:t>07 / 16</a:t>
            </a:r>
          </a:p>
        </p:txBody>
      </p:sp>
      <p:sp>
        <p:nvSpPr>
          <p:cNvPr id="7" name="TextBox 6"/>
          <p:cNvSpPr txBox="1"/>
          <p:nvPr/>
        </p:nvSpPr>
        <p:spPr>
          <a:xfrm>
            <a:off x="822960" y="2084831"/>
            <a:ext cx="7315200" cy="274320"/>
          </a:xfrm>
          <a:prstGeom prst="rect">
            <a:avLst/>
          </a:prstGeom>
          <a:noFill/>
        </p:spPr>
        <p:txBody>
          <a:bodyPr wrap="square" lIns="0" rIns="0" tIns="0" bIns="0" anchor="t">
            <a:spAutoFit/>
          </a:bodyPr>
          <a:lstStyle/>
          <a:p>
            <a:pPr algn="l">
              <a:lnSpc>
                <a:spcPct val="118000"/>
              </a:lnSpc>
            </a:pPr>
            <a:r>
              <a:rPr sz="1250" b="1">
                <a:solidFill>
                  <a:srgbClr val="111827"/>
                </a:solidFill>
                <a:latin typeface="Noto Sans KR"/>
              </a:rPr>
              <a:t>마켓 방문  </a:t>
            </a:r>
            <a:r>
              <a:rPr sz="1250" b="1">
                <a:solidFill>
                  <a:srgbClr val="2F6FAD"/>
                </a:solidFill>
                <a:latin typeface="Noto Sans KR"/>
              </a:rPr>
              <a:t>오늘의 가격 확인   4,500원 → 3,200원</a:t>
            </a:r>
          </a:p>
        </p:txBody>
      </p:sp>
      <p:sp>
        <p:nvSpPr>
          <p:cNvPr id="8" name="Rounded Rectangle 7"/>
          <p:cNvSpPr/>
          <p:nvPr/>
        </p:nvSpPr>
        <p:spPr>
          <a:xfrm>
            <a:off x="822960" y="2514600"/>
            <a:ext cx="10543032" cy="914400"/>
          </a:xfrm>
          <a:prstGeom prst="roundRect">
            <a:avLst>
              <a:gd name="adj" fmla="val 16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60120" y="2624328"/>
            <a:ext cx="3520440" cy="694944"/>
          </a:xfrm>
          <a:prstGeom prst="roundRect">
            <a:avLst>
              <a:gd name="adj" fmla="val 18421"/>
            </a:avLst>
          </a:prstGeom>
          <a:solidFill>
            <a:srgbClr val="E6FAF3"/>
          </a:solidFill>
          <a:ln w="15875">
            <a:solidFill>
              <a:srgbClr val="20C9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2624328"/>
            <a:ext cx="3200400" cy="694944"/>
          </a:xfrm>
          <a:prstGeom prst="rect">
            <a:avLst/>
          </a:prstGeom>
          <a:noFill/>
        </p:spPr>
        <p:txBody>
          <a:bodyPr wrap="square" lIns="0" rIns="0" tIns="0" bIns="0" anchor="ctr">
            <a:spAutoFit/>
          </a:bodyPr>
          <a:lstStyle/>
          <a:p>
            <a:pPr algn="l">
              <a:lnSpc>
                <a:spcPct val="120000"/>
              </a:lnSpc>
            </a:pPr>
            <a:r>
              <a:rPr sz="1400" b="1">
                <a:solidFill>
                  <a:srgbClr val="087F5B"/>
                </a:solidFill>
                <a:latin typeface="Noto Sans KR"/>
              </a:rPr>
              <a:t>즉시 구매형</a:t>
            </a:r>
          </a:p>
          <a:p>
            <a:pPr algn="l">
              <a:lnSpc>
                <a:spcPct val="120000"/>
              </a:lnSpc>
              <a:spcBef>
                <a:spcPts val="0"/>
              </a:spcBef>
            </a:pPr>
            <a:r>
              <a:rPr sz="1150" b="0">
                <a:solidFill>
                  <a:srgbClr val="087F5B"/>
                </a:solidFill>
                <a:latin typeface="Noto Sans KR"/>
              </a:rPr>
              <a:t>이 가격 완벽해!</a:t>
            </a:r>
          </a:p>
        </p:txBody>
      </p:sp>
      <p:sp>
        <p:nvSpPr>
          <p:cNvPr id="11" name="TextBox 10"/>
          <p:cNvSpPr txBox="1"/>
          <p:nvPr/>
        </p:nvSpPr>
        <p:spPr>
          <a:xfrm>
            <a:off x="4572000" y="2514600"/>
            <a:ext cx="457200" cy="914400"/>
          </a:xfrm>
          <a:prstGeom prst="rect">
            <a:avLst/>
          </a:prstGeom>
          <a:noFill/>
        </p:spPr>
        <p:txBody>
          <a:bodyPr wrap="square" lIns="0" rIns="0" tIns="0" bIns="0" anchor="ctr">
            <a:spAutoFit/>
          </a:bodyPr>
          <a:lstStyle/>
          <a:p>
            <a:pPr algn="ctr">
              <a:lnSpc>
                <a:spcPct val="118000"/>
              </a:lnSpc>
            </a:pPr>
            <a:r>
              <a:rPr sz="2000" b="1">
                <a:solidFill>
                  <a:srgbClr val="4087C7"/>
                </a:solidFill>
                <a:latin typeface="Noto Sans KR"/>
              </a:rPr>
              <a:t>→</a:t>
            </a:r>
          </a:p>
        </p:txBody>
      </p:sp>
      <p:sp>
        <p:nvSpPr>
          <p:cNvPr id="12" name="TextBox 11"/>
          <p:cNvSpPr txBox="1"/>
          <p:nvPr/>
        </p:nvSpPr>
        <p:spPr>
          <a:xfrm>
            <a:off x="5120640" y="2514600"/>
            <a:ext cx="3108960" cy="914400"/>
          </a:xfrm>
          <a:prstGeom prst="rect">
            <a:avLst/>
          </a:prstGeom>
          <a:noFill/>
        </p:spPr>
        <p:txBody>
          <a:bodyPr wrap="square" lIns="0" rIns="0" tIns="0" bIns="0" anchor="ctr">
            <a:spAutoFit/>
          </a:bodyPr>
          <a:lstStyle/>
          <a:p>
            <a:pPr algn="l">
              <a:lnSpc>
                <a:spcPct val="118000"/>
              </a:lnSpc>
            </a:pPr>
            <a:r>
              <a:rPr sz="1450" b="1">
                <a:solidFill>
                  <a:srgbClr val="111827"/>
                </a:solidFill>
                <a:latin typeface="Noto Sans KR"/>
              </a:rPr>
              <a:t>오늘 가격으로 즉시 구매</a:t>
            </a:r>
          </a:p>
        </p:txBody>
      </p:sp>
      <p:sp>
        <p:nvSpPr>
          <p:cNvPr id="13" name="TextBox 12"/>
          <p:cNvSpPr txBox="1"/>
          <p:nvPr/>
        </p:nvSpPr>
        <p:spPr>
          <a:xfrm>
            <a:off x="8138160" y="2514600"/>
            <a:ext cx="457200" cy="914400"/>
          </a:xfrm>
          <a:prstGeom prst="rect">
            <a:avLst/>
          </a:prstGeom>
          <a:noFill/>
        </p:spPr>
        <p:txBody>
          <a:bodyPr wrap="square" lIns="0" rIns="0" tIns="0" bIns="0" anchor="ctr">
            <a:spAutoFit/>
          </a:bodyPr>
          <a:lstStyle/>
          <a:p>
            <a:pPr algn="ctr">
              <a:lnSpc>
                <a:spcPct val="118000"/>
              </a:lnSpc>
            </a:pPr>
            <a:r>
              <a:rPr sz="2000" b="1">
                <a:solidFill>
                  <a:srgbClr val="4087C7"/>
                </a:solidFill>
                <a:latin typeface="Noto Sans KR"/>
              </a:rPr>
              <a:t>→</a:t>
            </a:r>
          </a:p>
        </p:txBody>
      </p:sp>
      <p:sp>
        <p:nvSpPr>
          <p:cNvPr id="14" name="Rounded Rectangle 13"/>
          <p:cNvSpPr/>
          <p:nvPr/>
        </p:nvSpPr>
        <p:spPr>
          <a:xfrm>
            <a:off x="8641080" y="2670048"/>
            <a:ext cx="2606040" cy="603504"/>
          </a:xfrm>
          <a:prstGeom prst="roundRect">
            <a:avLst>
              <a:gd name="adj" fmla="val 50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41080" y="2670048"/>
            <a:ext cx="2606040" cy="603504"/>
          </a:xfrm>
          <a:prstGeom prst="rect">
            <a:avLst/>
          </a:prstGeom>
          <a:noFill/>
        </p:spPr>
        <p:txBody>
          <a:bodyPr wrap="square" lIns="0" rIns="0" tIns="0" bIns="0" anchor="ctr">
            <a:spAutoFit/>
          </a:bodyPr>
          <a:lstStyle/>
          <a:p>
            <a:pPr algn="ctr">
              <a:lnSpc>
                <a:spcPct val="118000"/>
              </a:lnSpc>
            </a:pPr>
            <a:r>
              <a:rPr sz="1150" b="1">
                <a:solidFill>
                  <a:srgbClr val="FFFFFF"/>
                </a:solidFill>
                <a:latin typeface="Noto Sans KR"/>
              </a:rPr>
              <a:t>오늘가로 즉시 결제</a:t>
            </a:r>
          </a:p>
        </p:txBody>
      </p:sp>
      <p:sp>
        <p:nvSpPr>
          <p:cNvPr id="16" name="Rounded Rectangle 15"/>
          <p:cNvSpPr/>
          <p:nvPr/>
        </p:nvSpPr>
        <p:spPr>
          <a:xfrm>
            <a:off x="822960" y="3566160"/>
            <a:ext cx="10543032" cy="914400"/>
          </a:xfrm>
          <a:prstGeom prst="roundRect">
            <a:avLst>
              <a:gd name="adj" fmla="val 16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60120" y="3675887"/>
            <a:ext cx="3520440" cy="694944"/>
          </a:xfrm>
          <a:prstGeom prst="roundRect">
            <a:avLst>
              <a:gd name="adj" fmla="val 18421"/>
            </a:avLst>
          </a:prstGeom>
          <a:solidFill>
            <a:srgbClr val="FFF1E0"/>
          </a:solidFill>
          <a:ln w="15875">
            <a:solidFill>
              <a:srgbClr val="FF9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88720" y="3675887"/>
            <a:ext cx="3200400" cy="694944"/>
          </a:xfrm>
          <a:prstGeom prst="rect">
            <a:avLst/>
          </a:prstGeom>
          <a:noFill/>
        </p:spPr>
        <p:txBody>
          <a:bodyPr wrap="square" lIns="0" rIns="0" tIns="0" bIns="0" anchor="ctr">
            <a:spAutoFit/>
          </a:bodyPr>
          <a:lstStyle/>
          <a:p>
            <a:pPr algn="l">
              <a:lnSpc>
                <a:spcPct val="120000"/>
              </a:lnSpc>
            </a:pPr>
            <a:r>
              <a:rPr sz="1400" b="1">
                <a:solidFill>
                  <a:srgbClr val="B8470D"/>
                </a:solidFill>
                <a:latin typeface="Noto Sans KR"/>
              </a:rPr>
              <a:t>가격 확보형</a:t>
            </a:r>
          </a:p>
          <a:p>
            <a:pPr algn="l">
              <a:lnSpc>
                <a:spcPct val="120000"/>
              </a:lnSpc>
              <a:spcBef>
                <a:spcPts val="0"/>
              </a:spcBef>
            </a:pPr>
            <a:r>
              <a:rPr sz="1150" b="0">
                <a:solidFill>
                  <a:srgbClr val="B8470D"/>
                </a:solidFill>
                <a:latin typeface="Noto Sans KR"/>
              </a:rPr>
              <a:t>가격은 좋은데 결제는 이따가!</a:t>
            </a:r>
          </a:p>
        </p:txBody>
      </p:sp>
      <p:sp>
        <p:nvSpPr>
          <p:cNvPr id="19" name="TextBox 18"/>
          <p:cNvSpPr txBox="1"/>
          <p:nvPr/>
        </p:nvSpPr>
        <p:spPr>
          <a:xfrm>
            <a:off x="4572000" y="3566160"/>
            <a:ext cx="457200" cy="914400"/>
          </a:xfrm>
          <a:prstGeom prst="rect">
            <a:avLst/>
          </a:prstGeom>
          <a:noFill/>
        </p:spPr>
        <p:txBody>
          <a:bodyPr wrap="square" lIns="0" rIns="0" tIns="0" bIns="0" anchor="ctr">
            <a:spAutoFit/>
          </a:bodyPr>
          <a:lstStyle/>
          <a:p>
            <a:pPr algn="ctr">
              <a:lnSpc>
                <a:spcPct val="118000"/>
              </a:lnSpc>
            </a:pPr>
            <a:r>
              <a:rPr sz="2000" b="1">
                <a:solidFill>
                  <a:srgbClr val="4087C7"/>
                </a:solidFill>
                <a:latin typeface="Noto Sans KR"/>
              </a:rPr>
              <a:t>→</a:t>
            </a:r>
          </a:p>
        </p:txBody>
      </p:sp>
      <p:sp>
        <p:nvSpPr>
          <p:cNvPr id="20" name="TextBox 19"/>
          <p:cNvSpPr txBox="1"/>
          <p:nvPr/>
        </p:nvSpPr>
        <p:spPr>
          <a:xfrm>
            <a:off x="5120640" y="3566160"/>
            <a:ext cx="3108960" cy="914400"/>
          </a:xfrm>
          <a:prstGeom prst="rect">
            <a:avLst/>
          </a:prstGeom>
          <a:noFill/>
        </p:spPr>
        <p:txBody>
          <a:bodyPr wrap="square" lIns="0" rIns="0" tIns="0" bIns="0" anchor="ctr">
            <a:spAutoFit/>
          </a:bodyPr>
          <a:lstStyle/>
          <a:p>
            <a:pPr algn="l">
              <a:lnSpc>
                <a:spcPct val="118000"/>
              </a:lnSpc>
            </a:pPr>
            <a:r>
              <a:rPr sz="1450" b="1">
                <a:solidFill>
                  <a:srgbClr val="111827"/>
                </a:solidFill>
                <a:latin typeface="Noto Sans KR"/>
              </a:rPr>
              <a:t>오전가 잠금 후 이따가 구매</a:t>
            </a:r>
          </a:p>
        </p:txBody>
      </p:sp>
      <p:sp>
        <p:nvSpPr>
          <p:cNvPr id="21" name="TextBox 20"/>
          <p:cNvSpPr txBox="1"/>
          <p:nvPr/>
        </p:nvSpPr>
        <p:spPr>
          <a:xfrm>
            <a:off x="8138160" y="3566160"/>
            <a:ext cx="457200" cy="914400"/>
          </a:xfrm>
          <a:prstGeom prst="rect">
            <a:avLst/>
          </a:prstGeom>
          <a:noFill/>
        </p:spPr>
        <p:txBody>
          <a:bodyPr wrap="square" lIns="0" rIns="0" tIns="0" bIns="0" anchor="ctr">
            <a:spAutoFit/>
          </a:bodyPr>
          <a:lstStyle/>
          <a:p>
            <a:pPr algn="ctr">
              <a:lnSpc>
                <a:spcPct val="118000"/>
              </a:lnSpc>
            </a:pPr>
            <a:r>
              <a:rPr sz="2000" b="1">
                <a:solidFill>
                  <a:srgbClr val="4087C7"/>
                </a:solidFill>
                <a:latin typeface="Noto Sans KR"/>
              </a:rPr>
              <a:t>→</a:t>
            </a:r>
          </a:p>
        </p:txBody>
      </p:sp>
      <p:sp>
        <p:nvSpPr>
          <p:cNvPr id="22" name="Rounded Rectangle 21"/>
          <p:cNvSpPr/>
          <p:nvPr/>
        </p:nvSpPr>
        <p:spPr>
          <a:xfrm>
            <a:off x="8641080" y="3721608"/>
            <a:ext cx="2606040" cy="603504"/>
          </a:xfrm>
          <a:prstGeom prst="roundRect">
            <a:avLst>
              <a:gd name="adj" fmla="val 50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41080" y="3721608"/>
            <a:ext cx="2606040" cy="603504"/>
          </a:xfrm>
          <a:prstGeom prst="rect">
            <a:avLst/>
          </a:prstGeom>
          <a:noFill/>
        </p:spPr>
        <p:txBody>
          <a:bodyPr wrap="square" lIns="0" rIns="0" tIns="0" bIns="0" anchor="ctr">
            <a:spAutoFit/>
          </a:bodyPr>
          <a:lstStyle/>
          <a:p>
            <a:pPr algn="ctr">
              <a:lnSpc>
                <a:spcPct val="118000"/>
              </a:lnSpc>
            </a:pPr>
            <a:r>
              <a:rPr sz="1150" b="1">
                <a:solidFill>
                  <a:srgbClr val="FFFFFF"/>
                </a:solidFill>
                <a:latin typeface="Noto Sans KR"/>
              </a:rPr>
              <a:t>잠근 가격으로 안심 결제</a:t>
            </a:r>
          </a:p>
        </p:txBody>
      </p:sp>
      <p:sp>
        <p:nvSpPr>
          <p:cNvPr id="24" name="Rounded Rectangle 23"/>
          <p:cNvSpPr/>
          <p:nvPr/>
        </p:nvSpPr>
        <p:spPr>
          <a:xfrm>
            <a:off x="822960" y="4617720"/>
            <a:ext cx="10543032" cy="914400"/>
          </a:xfrm>
          <a:prstGeom prst="roundRect">
            <a:avLst>
              <a:gd name="adj" fmla="val 16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60120" y="4727448"/>
            <a:ext cx="3520440" cy="694944"/>
          </a:xfrm>
          <a:prstGeom prst="roundRect">
            <a:avLst>
              <a:gd name="adj" fmla="val 18421"/>
            </a:avLst>
          </a:prstGeom>
          <a:solidFill>
            <a:srgbClr val="E6F3FF"/>
          </a:solidFill>
          <a:ln w="15875">
            <a:solidFill>
              <a:srgbClr val="339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88720" y="4727448"/>
            <a:ext cx="3200400" cy="694944"/>
          </a:xfrm>
          <a:prstGeom prst="rect">
            <a:avLst/>
          </a:prstGeom>
          <a:noFill/>
        </p:spPr>
        <p:txBody>
          <a:bodyPr wrap="square" lIns="0" rIns="0" tIns="0" bIns="0" anchor="ctr">
            <a:spAutoFit/>
          </a:bodyPr>
          <a:lstStyle/>
          <a:p>
            <a:pPr algn="l">
              <a:lnSpc>
                <a:spcPct val="120000"/>
              </a:lnSpc>
            </a:pPr>
            <a:r>
              <a:rPr sz="1400" b="1">
                <a:solidFill>
                  <a:srgbClr val="1864AB"/>
                </a:solidFill>
                <a:latin typeface="Noto Sans KR"/>
              </a:rPr>
              <a:t>관망·기대형</a:t>
            </a:r>
          </a:p>
          <a:p>
            <a:pPr algn="l">
              <a:lnSpc>
                <a:spcPct val="120000"/>
              </a:lnSpc>
              <a:spcBef>
                <a:spcPts val="0"/>
              </a:spcBef>
            </a:pPr>
            <a:r>
              <a:rPr sz="1150" b="0">
                <a:solidFill>
                  <a:srgbClr val="1864AB"/>
                </a:solidFill>
                <a:latin typeface="Noto Sans KR"/>
              </a:rPr>
              <a:t>오후장에 더 싸지면 살래</a:t>
            </a:r>
          </a:p>
        </p:txBody>
      </p:sp>
      <p:sp>
        <p:nvSpPr>
          <p:cNvPr id="27" name="TextBox 26"/>
          <p:cNvSpPr txBox="1"/>
          <p:nvPr/>
        </p:nvSpPr>
        <p:spPr>
          <a:xfrm>
            <a:off x="4572000" y="4617720"/>
            <a:ext cx="457200" cy="914400"/>
          </a:xfrm>
          <a:prstGeom prst="rect">
            <a:avLst/>
          </a:prstGeom>
          <a:noFill/>
        </p:spPr>
        <p:txBody>
          <a:bodyPr wrap="square" lIns="0" rIns="0" tIns="0" bIns="0" anchor="ctr">
            <a:spAutoFit/>
          </a:bodyPr>
          <a:lstStyle/>
          <a:p>
            <a:pPr algn="ctr">
              <a:lnSpc>
                <a:spcPct val="118000"/>
              </a:lnSpc>
            </a:pPr>
            <a:r>
              <a:rPr sz="2000" b="1">
                <a:solidFill>
                  <a:srgbClr val="4087C7"/>
                </a:solidFill>
                <a:latin typeface="Noto Sans KR"/>
              </a:rPr>
              <a:t>→</a:t>
            </a:r>
          </a:p>
        </p:txBody>
      </p:sp>
      <p:sp>
        <p:nvSpPr>
          <p:cNvPr id="28" name="TextBox 27"/>
          <p:cNvSpPr txBox="1"/>
          <p:nvPr/>
        </p:nvSpPr>
        <p:spPr>
          <a:xfrm>
            <a:off x="5120640" y="4617720"/>
            <a:ext cx="3108960" cy="914400"/>
          </a:xfrm>
          <a:prstGeom prst="rect">
            <a:avLst/>
          </a:prstGeom>
          <a:noFill/>
        </p:spPr>
        <p:txBody>
          <a:bodyPr wrap="square" lIns="0" rIns="0" tIns="0" bIns="0" anchor="ctr">
            <a:spAutoFit/>
          </a:bodyPr>
          <a:lstStyle/>
          <a:p>
            <a:pPr algn="l">
              <a:lnSpc>
                <a:spcPct val="118000"/>
              </a:lnSpc>
            </a:pPr>
            <a:r>
              <a:rPr sz="1450" b="1">
                <a:solidFill>
                  <a:srgbClr val="111827"/>
                </a:solidFill>
                <a:latin typeface="Noto Sans KR"/>
              </a:rPr>
              <a:t>내일 가격 예측 참여</a:t>
            </a:r>
          </a:p>
        </p:txBody>
      </p:sp>
      <p:sp>
        <p:nvSpPr>
          <p:cNvPr id="29" name="TextBox 28"/>
          <p:cNvSpPr txBox="1"/>
          <p:nvPr/>
        </p:nvSpPr>
        <p:spPr>
          <a:xfrm>
            <a:off x="8138160" y="4617720"/>
            <a:ext cx="457200" cy="914400"/>
          </a:xfrm>
          <a:prstGeom prst="rect">
            <a:avLst/>
          </a:prstGeom>
          <a:noFill/>
        </p:spPr>
        <p:txBody>
          <a:bodyPr wrap="square" lIns="0" rIns="0" tIns="0" bIns="0" anchor="ctr">
            <a:spAutoFit/>
          </a:bodyPr>
          <a:lstStyle/>
          <a:p>
            <a:pPr algn="ctr">
              <a:lnSpc>
                <a:spcPct val="118000"/>
              </a:lnSpc>
            </a:pPr>
            <a:r>
              <a:rPr sz="2000" b="1">
                <a:solidFill>
                  <a:srgbClr val="4087C7"/>
                </a:solidFill>
                <a:latin typeface="Noto Sans KR"/>
              </a:rPr>
              <a:t>→</a:t>
            </a:r>
          </a:p>
        </p:txBody>
      </p:sp>
      <p:sp>
        <p:nvSpPr>
          <p:cNvPr id="30" name="Rounded Rectangle 29"/>
          <p:cNvSpPr/>
          <p:nvPr/>
        </p:nvSpPr>
        <p:spPr>
          <a:xfrm>
            <a:off x="8641080" y="4773168"/>
            <a:ext cx="2606040" cy="603504"/>
          </a:xfrm>
          <a:prstGeom prst="roundRect">
            <a:avLst>
              <a:gd name="adj" fmla="val 50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41080" y="4773168"/>
            <a:ext cx="2606040" cy="603504"/>
          </a:xfrm>
          <a:prstGeom prst="rect">
            <a:avLst/>
          </a:prstGeom>
          <a:noFill/>
        </p:spPr>
        <p:txBody>
          <a:bodyPr wrap="square" lIns="0" rIns="0" tIns="0" bIns="0" anchor="ctr">
            <a:spAutoFit/>
          </a:bodyPr>
          <a:lstStyle/>
          <a:p>
            <a:pPr algn="ctr">
              <a:lnSpc>
                <a:spcPct val="118000"/>
              </a:lnSpc>
            </a:pPr>
            <a:r>
              <a:rPr sz="1150" b="1">
                <a:solidFill>
                  <a:srgbClr val="FFFFFF"/>
                </a:solidFill>
                <a:latin typeface="Noto Sans KR"/>
              </a:rPr>
              <a:t>쿠폰 적용해 최적가 결제</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66928"/>
            <a:ext cx="7315200" cy="274320"/>
          </a:xfrm>
          <a:prstGeom prst="rect">
            <a:avLst/>
          </a:prstGeom>
          <a:noFill/>
        </p:spPr>
        <p:txBody>
          <a:bodyPr wrap="square" lIns="0" rIns="0" tIns="0" bIns="0" anchor="t">
            <a:spAutoFit/>
          </a:bodyPr>
          <a:lstStyle/>
          <a:p>
            <a:pPr algn="l">
              <a:lnSpc>
                <a:spcPct val="118000"/>
              </a:lnSpc>
            </a:pPr>
            <a:r>
              <a:rPr sz="1150" b="1">
                <a:solidFill>
                  <a:srgbClr val="2F6FAD"/>
                </a:solidFill>
                <a:latin typeface="Noto Sans KR"/>
              </a:rPr>
              <a:t>가격 결정 방식</a:t>
            </a:r>
          </a:p>
        </p:txBody>
      </p:sp>
      <p:sp>
        <p:nvSpPr>
          <p:cNvPr id="3" name="TextBox 2"/>
          <p:cNvSpPr txBox="1"/>
          <p:nvPr/>
        </p:nvSpPr>
        <p:spPr>
          <a:xfrm>
            <a:off x="822960" y="868680"/>
            <a:ext cx="10515600" cy="1097280"/>
          </a:xfrm>
          <a:prstGeom prst="rect">
            <a:avLst/>
          </a:prstGeom>
          <a:noFill/>
        </p:spPr>
        <p:txBody>
          <a:bodyPr wrap="square" lIns="0" rIns="0" tIns="0" bIns="0" anchor="t">
            <a:spAutoFit/>
          </a:bodyPr>
          <a:lstStyle/>
          <a:p>
            <a:pPr algn="l">
              <a:lnSpc>
                <a:spcPct val="115000"/>
              </a:lnSpc>
            </a:pPr>
            <a:r>
              <a:rPr sz="2700" b="1">
                <a:solidFill>
                  <a:srgbClr val="111827"/>
                </a:solidFill>
                <a:latin typeface="Noto Sans KR"/>
              </a:rPr>
              <a:t>이 모든 것이 통하려면 가격을 믿을 수 있어야 합니다 —</a:t>
            </a:r>
          </a:p>
          <a:p>
            <a:pPr algn="l">
              <a:lnSpc>
                <a:spcPct val="115000"/>
              </a:lnSpc>
              <a:spcBef>
                <a:spcPts val="0"/>
              </a:spcBef>
            </a:pPr>
            <a:r>
              <a:rPr sz="2700" b="1">
                <a:solidFill>
                  <a:srgbClr val="111827"/>
                </a:solidFill>
                <a:latin typeface="Noto Sans KR"/>
              </a:rPr>
              <a:t>그래서 가격은 공개된 산식으로만 움직입니다.</a:t>
            </a:r>
          </a:p>
        </p:txBody>
      </p:sp>
      <p:sp>
        <p:nvSpPr>
          <p:cNvPr id="4" name="Rectangle 3"/>
          <p:cNvSpPr/>
          <p:nvPr/>
        </p:nvSpPr>
        <p:spPr>
          <a:xfrm>
            <a:off x="10981944" y="5888736"/>
            <a:ext cx="384048" cy="41148"/>
          </a:xfrm>
          <a:prstGeom prst="rect">
            <a:avLst/>
          </a:prstGeom>
          <a:solidFill>
            <a:srgbClr val="408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0" y="6007608"/>
            <a:ext cx="8622792" cy="365760"/>
          </a:xfrm>
          <a:prstGeom prst="rect">
            <a:avLst/>
          </a:prstGeom>
          <a:noFill/>
        </p:spPr>
        <p:txBody>
          <a:bodyPr wrap="square" lIns="0" rIns="0" tIns="0" bIns="0" anchor="t">
            <a:spAutoFit/>
          </a:bodyPr>
          <a:lstStyle/>
          <a:p>
            <a:pPr algn="r">
              <a:lnSpc>
                <a:spcPct val="118000"/>
              </a:lnSpc>
            </a:pPr>
            <a:r>
              <a:rPr sz="1400" b="1">
                <a:solidFill>
                  <a:srgbClr val="2F6FAD"/>
                </a:solidFill>
                <a:latin typeface="Noto Sans KR"/>
              </a:rPr>
              <a:t>산식은 공개하고 상한은 38% — 그렇다면 실제 할인은 얼마나 될까요?</a:t>
            </a:r>
          </a:p>
        </p:txBody>
      </p:sp>
      <p:sp>
        <p:nvSpPr>
          <p:cNvPr id="6" name="TextBox 5"/>
          <p:cNvSpPr txBox="1"/>
          <p:nvPr/>
        </p:nvSpPr>
        <p:spPr>
          <a:xfrm>
            <a:off x="10058400" y="6446520"/>
            <a:ext cx="1307591" cy="182880"/>
          </a:xfrm>
          <a:prstGeom prst="rect">
            <a:avLst/>
          </a:prstGeom>
          <a:noFill/>
        </p:spPr>
        <p:txBody>
          <a:bodyPr wrap="square" lIns="0" rIns="0" tIns="0" bIns="0" anchor="t">
            <a:spAutoFit/>
          </a:bodyPr>
          <a:lstStyle/>
          <a:p>
            <a:pPr algn="r">
              <a:lnSpc>
                <a:spcPct val="118000"/>
              </a:lnSpc>
            </a:pPr>
            <a:r>
              <a:rPr sz="900" b="0">
                <a:solidFill>
                  <a:srgbClr val="9CA3AF"/>
                </a:solidFill>
                <a:latin typeface="Noto Sans KR"/>
              </a:rPr>
              <a:t>08 / 16</a:t>
            </a:r>
          </a:p>
        </p:txBody>
      </p:sp>
      <p:sp>
        <p:nvSpPr>
          <p:cNvPr id="7" name="Rounded Rectangle 6"/>
          <p:cNvSpPr/>
          <p:nvPr/>
        </p:nvSpPr>
        <p:spPr>
          <a:xfrm>
            <a:off x="822960" y="2084831"/>
            <a:ext cx="4347210" cy="548640"/>
          </a:xfrm>
          <a:prstGeom prst="roundRect">
            <a:avLst>
              <a:gd name="adj" fmla="val 20000"/>
            </a:avLst>
          </a:prstGeom>
          <a:solidFill>
            <a:srgbClr val="408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084831"/>
            <a:ext cx="4072890" cy="548640"/>
          </a:xfrm>
          <a:prstGeom prst="rect">
            <a:avLst/>
          </a:prstGeom>
          <a:noFill/>
        </p:spPr>
        <p:txBody>
          <a:bodyPr wrap="square" lIns="0" rIns="0" tIns="0" bIns="0" anchor="ctr">
            <a:spAutoFit/>
          </a:bodyPr>
          <a:lstStyle/>
          <a:p>
            <a:pPr algn="l">
              <a:lnSpc>
                <a:spcPct val="118000"/>
              </a:lnSpc>
            </a:pPr>
            <a:r>
              <a:rPr sz="1250" b="1">
                <a:solidFill>
                  <a:srgbClr val="FFFFFF"/>
                </a:solidFill>
                <a:latin typeface="Noto Sans KR"/>
              </a:rPr>
              <a:t>오전장  06:00 ~ 15:59</a:t>
            </a:r>
            <a:r>
              <a:rPr sz="1050" b="0">
                <a:solidFill>
                  <a:srgbClr val="E6EEF7"/>
                </a:solidFill>
                <a:latin typeface="Noto Sans KR"/>
              </a:rPr>
              <a:t>   전일 종가 기준</a:t>
            </a:r>
          </a:p>
        </p:txBody>
      </p:sp>
      <p:sp>
        <p:nvSpPr>
          <p:cNvPr id="9" name="Rounded Rectangle 8"/>
          <p:cNvSpPr/>
          <p:nvPr/>
        </p:nvSpPr>
        <p:spPr>
          <a:xfrm>
            <a:off x="5215890" y="2084831"/>
            <a:ext cx="4347210" cy="548640"/>
          </a:xfrm>
          <a:prstGeom prst="roundRect">
            <a:avLst>
              <a:gd name="adj" fmla="val 20000"/>
            </a:avLst>
          </a:prstGeom>
          <a:solidFill>
            <a:srgbClr val="FF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98770" y="2084831"/>
            <a:ext cx="4072890" cy="548640"/>
          </a:xfrm>
          <a:prstGeom prst="rect">
            <a:avLst/>
          </a:prstGeom>
          <a:noFill/>
        </p:spPr>
        <p:txBody>
          <a:bodyPr wrap="square" lIns="0" rIns="0" tIns="0" bIns="0" anchor="ctr">
            <a:spAutoFit/>
          </a:bodyPr>
          <a:lstStyle/>
          <a:p>
            <a:pPr algn="l">
              <a:lnSpc>
                <a:spcPct val="118000"/>
              </a:lnSpc>
            </a:pPr>
            <a:r>
              <a:rPr sz="1250" b="1">
                <a:solidFill>
                  <a:srgbClr val="FFFFFF"/>
                </a:solidFill>
                <a:latin typeface="Noto Sans KR"/>
              </a:rPr>
              <a:t>오후장  16:00 ~ 익일 01:59</a:t>
            </a:r>
            <a:r>
              <a:rPr sz="1050" b="0">
                <a:solidFill>
                  <a:srgbClr val="E6EEF7"/>
                </a:solidFill>
                <a:latin typeface="Noto Sans KR"/>
              </a:rPr>
              <a:t>   당일 시가 기준</a:t>
            </a:r>
          </a:p>
        </p:txBody>
      </p:sp>
      <p:sp>
        <p:nvSpPr>
          <p:cNvPr id="11" name="Rounded Rectangle 10"/>
          <p:cNvSpPr/>
          <p:nvPr/>
        </p:nvSpPr>
        <p:spPr>
          <a:xfrm>
            <a:off x="9608820" y="2084831"/>
            <a:ext cx="1711451" cy="548640"/>
          </a:xfrm>
          <a:prstGeom prst="roundRect">
            <a:avLst>
              <a:gd name="adj" fmla="val 20000"/>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91699" y="2084831"/>
            <a:ext cx="1437131" cy="548640"/>
          </a:xfrm>
          <a:prstGeom prst="rect">
            <a:avLst/>
          </a:prstGeom>
          <a:noFill/>
        </p:spPr>
        <p:txBody>
          <a:bodyPr wrap="square" lIns="0" rIns="0" tIns="0" bIns="0" anchor="ctr">
            <a:spAutoFit/>
          </a:bodyPr>
          <a:lstStyle/>
          <a:p>
            <a:pPr algn="l">
              <a:lnSpc>
                <a:spcPct val="118000"/>
              </a:lnSpc>
            </a:pPr>
            <a:r>
              <a:rPr sz="1000" b="1">
                <a:solidFill>
                  <a:srgbClr val="4B5563"/>
                </a:solidFill>
                <a:latin typeface="Noto Sans KR"/>
              </a:rPr>
              <a:t>정가  02:00~05:59</a:t>
            </a:r>
            <a:r>
              <a:rPr sz="1050" b="0">
                <a:solidFill>
                  <a:srgbClr val="4B5563"/>
                </a:solidFill>
                <a:latin typeface="Noto Sans KR"/>
              </a:rPr>
              <a:t>   </a:t>
            </a:r>
          </a:p>
        </p:txBody>
      </p:sp>
      <p:sp>
        <p:nvSpPr>
          <p:cNvPr id="13" name="Rounded Rectangle 12"/>
          <p:cNvSpPr/>
          <p:nvPr/>
        </p:nvSpPr>
        <p:spPr>
          <a:xfrm>
            <a:off x="822960" y="2816352"/>
            <a:ext cx="10543032" cy="1325880"/>
          </a:xfrm>
          <a:prstGeom prst="roundRect">
            <a:avLst>
              <a:gd name="adj" fmla="val 11034"/>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926080"/>
            <a:ext cx="10543032" cy="594360"/>
          </a:xfrm>
          <a:prstGeom prst="rect">
            <a:avLst/>
          </a:prstGeom>
          <a:noFill/>
        </p:spPr>
        <p:txBody>
          <a:bodyPr wrap="square" lIns="0" rIns="0" tIns="0" bIns="0" anchor="ctr">
            <a:spAutoFit/>
          </a:bodyPr>
          <a:lstStyle/>
          <a:p>
            <a:pPr algn="ctr">
              <a:lnSpc>
                <a:spcPct val="118000"/>
              </a:lnSpc>
            </a:pPr>
            <a:r>
              <a:rPr sz="2600" b="1">
                <a:solidFill>
                  <a:srgbClr val="111827"/>
                </a:solidFill>
                <a:latin typeface="Noto Sans KR"/>
              </a:rPr>
              <a:t>총 할인율  =  </a:t>
            </a:r>
            <a:r>
              <a:rPr sz="2600" b="1">
                <a:solidFill>
                  <a:srgbClr val="2F6FAD"/>
                </a:solidFill>
                <a:latin typeface="Noto Sans KR"/>
              </a:rPr>
              <a:t>검색 할인</a:t>
            </a:r>
            <a:r>
              <a:rPr sz="2600" b="1">
                <a:solidFill>
                  <a:srgbClr val="9CA3AF"/>
                </a:solidFill>
                <a:latin typeface="Noto Sans KR"/>
              </a:rPr>
              <a:t>  +  </a:t>
            </a:r>
            <a:r>
              <a:rPr sz="2600" b="1">
                <a:solidFill>
                  <a:srgbClr val="FF7A45"/>
                </a:solidFill>
                <a:latin typeface="Noto Sans KR"/>
              </a:rPr>
              <a:t>환율 조정</a:t>
            </a:r>
            <a:r>
              <a:rPr sz="1600" b="1">
                <a:solidFill>
                  <a:srgbClr val="9CA3AF"/>
                </a:solidFill>
                <a:latin typeface="Noto Sans KR"/>
              </a:rPr>
              <a:t>     (0% ~ 38%)</a:t>
            </a:r>
          </a:p>
        </p:txBody>
      </p:sp>
      <p:sp>
        <p:nvSpPr>
          <p:cNvPr id="15" name="TextBox 14"/>
          <p:cNvSpPr txBox="1"/>
          <p:nvPr/>
        </p:nvSpPr>
        <p:spPr>
          <a:xfrm>
            <a:off x="822960" y="3611880"/>
            <a:ext cx="10543032" cy="320040"/>
          </a:xfrm>
          <a:prstGeom prst="rect">
            <a:avLst/>
          </a:prstGeom>
          <a:noFill/>
        </p:spPr>
        <p:txBody>
          <a:bodyPr wrap="square" lIns="0" rIns="0" tIns="0" bIns="0" anchor="t">
            <a:spAutoFit/>
          </a:bodyPr>
          <a:lstStyle/>
          <a:p>
            <a:pPr algn="ctr">
              <a:lnSpc>
                <a:spcPct val="118000"/>
              </a:lnSpc>
            </a:pPr>
            <a:r>
              <a:rPr sz="1250" b="0">
                <a:solidFill>
                  <a:srgbClr val="4B5563"/>
                </a:solidFill>
                <a:latin typeface="Noto Sans KR"/>
              </a:rPr>
              <a:t>검색지수 × 0.15 (최대 15%)   ·   환율 하락은 ×14 전부 환원, 상승은 ×7 절반만 반영</a:t>
            </a:r>
          </a:p>
        </p:txBody>
      </p:sp>
      <p:sp>
        <p:nvSpPr>
          <p:cNvPr id="16" name="Rounded Rectangle 15"/>
          <p:cNvSpPr/>
          <p:nvPr/>
        </p:nvSpPr>
        <p:spPr>
          <a:xfrm>
            <a:off x="822960" y="4325112"/>
            <a:ext cx="10543032" cy="1389888"/>
          </a:xfrm>
          <a:prstGeom prst="roundRect">
            <a:avLst>
              <a:gd name="adj" fmla="val 10526"/>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434840"/>
            <a:ext cx="4572000" cy="228600"/>
          </a:xfrm>
          <a:prstGeom prst="rect">
            <a:avLst/>
          </a:prstGeom>
          <a:noFill/>
        </p:spPr>
        <p:txBody>
          <a:bodyPr wrap="square" lIns="0" rIns="0" tIns="0" bIns="0" anchor="t">
            <a:spAutoFit/>
          </a:bodyPr>
          <a:lstStyle/>
          <a:p>
            <a:pPr algn="l">
              <a:lnSpc>
                <a:spcPct val="118000"/>
              </a:lnSpc>
            </a:pPr>
            <a:r>
              <a:rPr sz="1150" b="1">
                <a:solidFill>
                  <a:srgbClr val="2F6FAD"/>
                </a:solidFill>
                <a:latin typeface="Noto Sans KR"/>
              </a:rPr>
              <a:t>예시 · 막지 제로 모닝롤</a:t>
            </a:r>
          </a:p>
        </p:txBody>
      </p:sp>
      <p:sp>
        <p:nvSpPr>
          <p:cNvPr id="18" name="TextBox 17"/>
          <p:cNvSpPr txBox="1"/>
          <p:nvPr/>
        </p:nvSpPr>
        <p:spPr>
          <a:xfrm>
            <a:off x="1097280" y="4736592"/>
            <a:ext cx="3017520" cy="274320"/>
          </a:xfrm>
          <a:prstGeom prst="rect">
            <a:avLst/>
          </a:prstGeom>
          <a:noFill/>
        </p:spPr>
        <p:txBody>
          <a:bodyPr wrap="square" lIns="0" rIns="0" tIns="0" bIns="0" anchor="t">
            <a:spAutoFit/>
          </a:bodyPr>
          <a:lstStyle/>
          <a:p>
            <a:pPr algn="l">
              <a:lnSpc>
                <a:spcPct val="118000"/>
              </a:lnSpc>
            </a:pPr>
            <a:r>
              <a:rPr sz="1200" b="0">
                <a:solidFill>
                  <a:srgbClr val="4B5563"/>
                </a:solidFill>
                <a:latin typeface="Noto Sans KR"/>
              </a:rPr>
              <a:t>정가</a:t>
            </a:r>
          </a:p>
        </p:txBody>
      </p:sp>
      <p:sp>
        <p:nvSpPr>
          <p:cNvPr id="19" name="TextBox 18"/>
          <p:cNvSpPr txBox="1"/>
          <p:nvPr/>
        </p:nvSpPr>
        <p:spPr>
          <a:xfrm>
            <a:off x="1097280" y="5010912"/>
            <a:ext cx="3017520" cy="548640"/>
          </a:xfrm>
          <a:prstGeom prst="rect">
            <a:avLst/>
          </a:prstGeom>
          <a:noFill/>
        </p:spPr>
        <p:txBody>
          <a:bodyPr wrap="square" lIns="0" rIns="0" tIns="0" bIns="0" anchor="t">
            <a:spAutoFit/>
          </a:bodyPr>
          <a:lstStyle/>
          <a:p>
            <a:pPr algn="l">
              <a:lnSpc>
                <a:spcPct val="118000"/>
              </a:lnSpc>
            </a:pPr>
            <a:r>
              <a:rPr sz="2800" b="1">
                <a:solidFill>
                  <a:srgbClr val="4B5563"/>
                </a:solidFill>
                <a:latin typeface="Noto Sans KR"/>
              </a:rPr>
              <a:t>4,500원</a:t>
            </a:r>
          </a:p>
        </p:txBody>
      </p:sp>
      <p:sp>
        <p:nvSpPr>
          <p:cNvPr id="20" name="TextBox 19"/>
          <p:cNvSpPr txBox="1"/>
          <p:nvPr/>
        </p:nvSpPr>
        <p:spPr>
          <a:xfrm>
            <a:off x="3474720" y="4937760"/>
            <a:ext cx="548640" cy="548640"/>
          </a:xfrm>
          <a:prstGeom prst="rect">
            <a:avLst/>
          </a:prstGeom>
          <a:noFill/>
        </p:spPr>
        <p:txBody>
          <a:bodyPr wrap="square" lIns="0" rIns="0" tIns="0" bIns="0" anchor="t">
            <a:spAutoFit/>
          </a:bodyPr>
          <a:lstStyle/>
          <a:p>
            <a:pPr algn="ctr">
              <a:lnSpc>
                <a:spcPct val="118000"/>
              </a:lnSpc>
            </a:pPr>
            <a:r>
              <a:rPr sz="2200" b="1">
                <a:solidFill>
                  <a:srgbClr val="4087C7"/>
                </a:solidFill>
                <a:latin typeface="Noto Sans KR"/>
              </a:rPr>
              <a:t>→</a:t>
            </a:r>
          </a:p>
        </p:txBody>
      </p:sp>
      <p:sp>
        <p:nvSpPr>
          <p:cNvPr id="21" name="TextBox 20"/>
          <p:cNvSpPr txBox="1"/>
          <p:nvPr/>
        </p:nvSpPr>
        <p:spPr>
          <a:xfrm>
            <a:off x="4526280" y="4736592"/>
            <a:ext cx="3017520" cy="274320"/>
          </a:xfrm>
          <a:prstGeom prst="rect">
            <a:avLst/>
          </a:prstGeom>
          <a:noFill/>
        </p:spPr>
        <p:txBody>
          <a:bodyPr wrap="square" lIns="0" rIns="0" tIns="0" bIns="0" anchor="t">
            <a:spAutoFit/>
          </a:bodyPr>
          <a:lstStyle/>
          <a:p>
            <a:pPr algn="l">
              <a:lnSpc>
                <a:spcPct val="118000"/>
              </a:lnSpc>
            </a:pPr>
            <a:r>
              <a:rPr sz="1200" b="0">
                <a:solidFill>
                  <a:srgbClr val="4B5563"/>
                </a:solidFill>
                <a:latin typeface="Noto Sans KR"/>
              </a:rPr>
              <a:t>평균 할인 15%</a:t>
            </a:r>
          </a:p>
        </p:txBody>
      </p:sp>
      <p:sp>
        <p:nvSpPr>
          <p:cNvPr id="22" name="TextBox 21"/>
          <p:cNvSpPr txBox="1"/>
          <p:nvPr/>
        </p:nvSpPr>
        <p:spPr>
          <a:xfrm>
            <a:off x="4526280" y="5010912"/>
            <a:ext cx="3017520" cy="548640"/>
          </a:xfrm>
          <a:prstGeom prst="rect">
            <a:avLst/>
          </a:prstGeom>
          <a:noFill/>
        </p:spPr>
        <p:txBody>
          <a:bodyPr wrap="square" lIns="0" rIns="0" tIns="0" bIns="0" anchor="t">
            <a:spAutoFit/>
          </a:bodyPr>
          <a:lstStyle/>
          <a:p>
            <a:pPr algn="l">
              <a:lnSpc>
                <a:spcPct val="118000"/>
              </a:lnSpc>
            </a:pPr>
            <a:r>
              <a:rPr sz="2800" b="1">
                <a:solidFill>
                  <a:srgbClr val="2F6FAD"/>
                </a:solidFill>
                <a:latin typeface="Noto Sans KR"/>
              </a:rPr>
              <a:t>3,830원</a:t>
            </a:r>
          </a:p>
        </p:txBody>
      </p:sp>
      <p:sp>
        <p:nvSpPr>
          <p:cNvPr id="23" name="TextBox 22"/>
          <p:cNvSpPr txBox="1"/>
          <p:nvPr/>
        </p:nvSpPr>
        <p:spPr>
          <a:xfrm>
            <a:off x="6903720" y="4937760"/>
            <a:ext cx="548640" cy="548640"/>
          </a:xfrm>
          <a:prstGeom prst="rect">
            <a:avLst/>
          </a:prstGeom>
          <a:noFill/>
        </p:spPr>
        <p:txBody>
          <a:bodyPr wrap="square" lIns="0" rIns="0" tIns="0" bIns="0" anchor="t">
            <a:spAutoFit/>
          </a:bodyPr>
          <a:lstStyle/>
          <a:p>
            <a:pPr algn="ctr">
              <a:lnSpc>
                <a:spcPct val="118000"/>
              </a:lnSpc>
            </a:pPr>
            <a:r>
              <a:rPr sz="2200" b="1">
                <a:solidFill>
                  <a:srgbClr val="4087C7"/>
                </a:solidFill>
                <a:latin typeface="Noto Sans KR"/>
              </a:rPr>
              <a:t>→</a:t>
            </a:r>
          </a:p>
        </p:txBody>
      </p:sp>
      <p:sp>
        <p:nvSpPr>
          <p:cNvPr id="24" name="TextBox 23"/>
          <p:cNvSpPr txBox="1"/>
          <p:nvPr/>
        </p:nvSpPr>
        <p:spPr>
          <a:xfrm>
            <a:off x="7955279" y="4736592"/>
            <a:ext cx="3017520" cy="274320"/>
          </a:xfrm>
          <a:prstGeom prst="rect">
            <a:avLst/>
          </a:prstGeom>
          <a:noFill/>
        </p:spPr>
        <p:txBody>
          <a:bodyPr wrap="square" lIns="0" rIns="0" tIns="0" bIns="0" anchor="t">
            <a:spAutoFit/>
          </a:bodyPr>
          <a:lstStyle/>
          <a:p>
            <a:pPr algn="l">
              <a:lnSpc>
                <a:spcPct val="118000"/>
              </a:lnSpc>
            </a:pPr>
            <a:r>
              <a:rPr sz="1200" b="0">
                <a:solidFill>
                  <a:srgbClr val="4B5563"/>
                </a:solidFill>
                <a:latin typeface="Noto Sans KR"/>
              </a:rPr>
              <a:t>최대 할인 38%</a:t>
            </a:r>
          </a:p>
        </p:txBody>
      </p:sp>
      <p:sp>
        <p:nvSpPr>
          <p:cNvPr id="25" name="TextBox 24"/>
          <p:cNvSpPr txBox="1"/>
          <p:nvPr/>
        </p:nvSpPr>
        <p:spPr>
          <a:xfrm>
            <a:off x="7955279" y="5010912"/>
            <a:ext cx="3017520" cy="548640"/>
          </a:xfrm>
          <a:prstGeom prst="rect">
            <a:avLst/>
          </a:prstGeom>
          <a:noFill/>
        </p:spPr>
        <p:txBody>
          <a:bodyPr wrap="square" lIns="0" rIns="0" tIns="0" bIns="0" anchor="t">
            <a:spAutoFit/>
          </a:bodyPr>
          <a:lstStyle/>
          <a:p>
            <a:pPr algn="l">
              <a:lnSpc>
                <a:spcPct val="118000"/>
              </a:lnSpc>
            </a:pPr>
            <a:r>
              <a:rPr sz="2800" b="1">
                <a:solidFill>
                  <a:srgbClr val="FF7A45"/>
                </a:solidFill>
                <a:latin typeface="Noto Sans KR"/>
              </a:rPr>
              <a:t>2,790원</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66928"/>
            <a:ext cx="7315200" cy="274320"/>
          </a:xfrm>
          <a:prstGeom prst="rect">
            <a:avLst/>
          </a:prstGeom>
          <a:noFill/>
        </p:spPr>
        <p:txBody>
          <a:bodyPr wrap="square" lIns="0" rIns="0" tIns="0" bIns="0" anchor="t">
            <a:spAutoFit/>
          </a:bodyPr>
          <a:lstStyle/>
          <a:p>
            <a:pPr algn="l">
              <a:lnSpc>
                <a:spcPct val="118000"/>
              </a:lnSpc>
            </a:pPr>
            <a:r>
              <a:rPr sz="1150" b="1">
                <a:solidFill>
                  <a:srgbClr val="2F6FAD"/>
                </a:solidFill>
                <a:latin typeface="Noto Sans KR"/>
              </a:rPr>
              <a:t>할인율 분포</a:t>
            </a:r>
          </a:p>
        </p:txBody>
      </p:sp>
      <p:sp>
        <p:nvSpPr>
          <p:cNvPr id="3" name="TextBox 2"/>
          <p:cNvSpPr txBox="1"/>
          <p:nvPr/>
        </p:nvSpPr>
        <p:spPr>
          <a:xfrm>
            <a:off x="822960" y="868680"/>
            <a:ext cx="10515600" cy="1097280"/>
          </a:xfrm>
          <a:prstGeom prst="rect">
            <a:avLst/>
          </a:prstGeom>
          <a:noFill/>
        </p:spPr>
        <p:txBody>
          <a:bodyPr wrap="square" lIns="0" rIns="0" tIns="0" bIns="0" anchor="t">
            <a:spAutoFit/>
          </a:bodyPr>
          <a:lstStyle/>
          <a:p>
            <a:pPr algn="l">
              <a:lnSpc>
                <a:spcPct val="115000"/>
              </a:lnSpc>
            </a:pPr>
            <a:r>
              <a:rPr sz="2700" b="1">
                <a:solidFill>
                  <a:srgbClr val="111827"/>
                </a:solidFill>
                <a:latin typeface="Noto Sans KR"/>
              </a:rPr>
              <a:t>실제로 돌려 보니 평균 할인은 15%,</a:t>
            </a:r>
          </a:p>
          <a:p>
            <a:pPr algn="l">
              <a:lnSpc>
                <a:spcPct val="115000"/>
              </a:lnSpc>
              <a:spcBef>
                <a:spcPts val="0"/>
              </a:spcBef>
            </a:pPr>
            <a:r>
              <a:rPr sz="2700" b="1">
                <a:solidFill>
                  <a:srgbClr val="111827"/>
                </a:solidFill>
                <a:latin typeface="Noto Sans KR"/>
              </a:rPr>
              <a:t>세션의 84%가 20% 미만이었습니다.</a:t>
            </a:r>
          </a:p>
        </p:txBody>
      </p:sp>
      <p:sp>
        <p:nvSpPr>
          <p:cNvPr id="4" name="Rectangle 3"/>
          <p:cNvSpPr/>
          <p:nvPr/>
        </p:nvSpPr>
        <p:spPr>
          <a:xfrm>
            <a:off x="10981944" y="5888736"/>
            <a:ext cx="384048" cy="41148"/>
          </a:xfrm>
          <a:prstGeom prst="rect">
            <a:avLst/>
          </a:prstGeom>
          <a:solidFill>
            <a:srgbClr val="408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0" y="6007608"/>
            <a:ext cx="8622792" cy="365760"/>
          </a:xfrm>
          <a:prstGeom prst="rect">
            <a:avLst/>
          </a:prstGeom>
          <a:noFill/>
        </p:spPr>
        <p:txBody>
          <a:bodyPr wrap="square" lIns="0" rIns="0" tIns="0" bIns="0" anchor="t">
            <a:spAutoFit/>
          </a:bodyPr>
          <a:lstStyle/>
          <a:p>
            <a:pPr algn="r">
              <a:lnSpc>
                <a:spcPct val="118000"/>
              </a:lnSpc>
            </a:pPr>
            <a:r>
              <a:rPr sz="1400" b="1">
                <a:solidFill>
                  <a:srgbClr val="2F6FAD"/>
                </a:solidFill>
                <a:latin typeface="Noto Sans KR"/>
              </a:rPr>
              <a:t>대부분 얕은 할인 — 그렇다면 마진은 버틸까요?</a:t>
            </a:r>
          </a:p>
        </p:txBody>
      </p:sp>
      <p:sp>
        <p:nvSpPr>
          <p:cNvPr id="6" name="TextBox 5"/>
          <p:cNvSpPr txBox="1"/>
          <p:nvPr/>
        </p:nvSpPr>
        <p:spPr>
          <a:xfrm>
            <a:off x="822960" y="6419088"/>
            <a:ext cx="9692640" cy="274320"/>
          </a:xfrm>
          <a:prstGeom prst="rect">
            <a:avLst/>
          </a:prstGeom>
          <a:noFill/>
        </p:spPr>
        <p:txBody>
          <a:bodyPr wrap="square" lIns="0" rIns="0" tIns="0" bIns="0" anchor="t">
            <a:spAutoFit/>
          </a:bodyPr>
          <a:lstStyle/>
          <a:p>
            <a:pPr algn="l">
              <a:lnSpc>
                <a:spcPct val="110000"/>
              </a:lnSpc>
            </a:pPr>
            <a:r>
              <a:rPr sz="800" b="0">
                <a:solidFill>
                  <a:srgbClr val="9CA3AF"/>
                </a:solidFill>
                <a:latin typeface="Noto Sans KR"/>
              </a:rPr>
              <a:t>실제 가격 엔진(v1.0)에 한국은행 ECOS 원/달러 시가·종가와 일별 검색지수를 넣은 재현값 (2026.06.12~09.10, 하루 2세션 × 91일) · 25% 이상 7세션 중 6세션은 상한 38% · 검색지수는 6종 합산 단일 시계열</a:t>
            </a:r>
          </a:p>
        </p:txBody>
      </p:sp>
      <p:sp>
        <p:nvSpPr>
          <p:cNvPr id="7" name="TextBox 6"/>
          <p:cNvSpPr txBox="1"/>
          <p:nvPr/>
        </p:nvSpPr>
        <p:spPr>
          <a:xfrm>
            <a:off x="10058400" y="6446520"/>
            <a:ext cx="1307591" cy="182880"/>
          </a:xfrm>
          <a:prstGeom prst="rect">
            <a:avLst/>
          </a:prstGeom>
          <a:noFill/>
        </p:spPr>
        <p:txBody>
          <a:bodyPr wrap="square" lIns="0" rIns="0" tIns="0" bIns="0" anchor="t">
            <a:spAutoFit/>
          </a:bodyPr>
          <a:lstStyle/>
          <a:p>
            <a:pPr algn="r">
              <a:lnSpc>
                <a:spcPct val="118000"/>
              </a:lnSpc>
            </a:pPr>
            <a:r>
              <a:rPr sz="900" b="0">
                <a:solidFill>
                  <a:srgbClr val="9CA3AF"/>
                </a:solidFill>
                <a:latin typeface="Noto Sans KR"/>
              </a:rPr>
              <a:t>09 / 16</a:t>
            </a:r>
          </a:p>
        </p:txBody>
      </p:sp>
      <p:sp>
        <p:nvSpPr>
          <p:cNvPr id="8" name="Rounded Rectangle 7"/>
          <p:cNvSpPr/>
          <p:nvPr/>
        </p:nvSpPr>
        <p:spPr>
          <a:xfrm>
            <a:off x="822960" y="1965960"/>
            <a:ext cx="10543032" cy="3767328"/>
          </a:xfrm>
          <a:prstGeom prst="roundRect">
            <a:avLst>
              <a:gd name="adj" fmla="val 3883"/>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103120"/>
            <a:ext cx="1097280" cy="228600"/>
          </a:xfrm>
          <a:prstGeom prst="rect">
            <a:avLst/>
          </a:prstGeom>
          <a:noFill/>
        </p:spPr>
        <p:txBody>
          <a:bodyPr wrap="square" lIns="0" rIns="0" tIns="0" bIns="0" anchor="t">
            <a:spAutoFit/>
          </a:bodyPr>
          <a:lstStyle/>
          <a:p>
            <a:pPr algn="l">
              <a:lnSpc>
                <a:spcPct val="118000"/>
              </a:lnSpc>
            </a:pPr>
            <a:r>
              <a:rPr sz="1100" b="0">
                <a:solidFill>
                  <a:srgbClr val="4087C7"/>
                </a:solidFill>
                <a:latin typeface="Noto Sans KR"/>
              </a:rPr>
              <a:t>■ 오전장</a:t>
            </a:r>
          </a:p>
        </p:txBody>
      </p:sp>
      <p:sp>
        <p:nvSpPr>
          <p:cNvPr id="10" name="TextBox 9"/>
          <p:cNvSpPr txBox="1"/>
          <p:nvPr/>
        </p:nvSpPr>
        <p:spPr>
          <a:xfrm>
            <a:off x="2011680" y="2103120"/>
            <a:ext cx="1097280" cy="228600"/>
          </a:xfrm>
          <a:prstGeom prst="rect">
            <a:avLst/>
          </a:prstGeom>
          <a:noFill/>
        </p:spPr>
        <p:txBody>
          <a:bodyPr wrap="square" lIns="0" rIns="0" tIns="0" bIns="0" anchor="t">
            <a:spAutoFit/>
          </a:bodyPr>
          <a:lstStyle/>
          <a:p>
            <a:pPr algn="l">
              <a:lnSpc>
                <a:spcPct val="118000"/>
              </a:lnSpc>
            </a:pPr>
            <a:r>
              <a:rPr sz="1100" b="0">
                <a:solidFill>
                  <a:srgbClr val="FF7A45"/>
                </a:solidFill>
                <a:latin typeface="Noto Sans KR"/>
              </a:rPr>
              <a:t>■ 오후장</a:t>
            </a:r>
          </a:p>
        </p:txBody>
      </p:sp>
      <p:sp>
        <p:nvSpPr>
          <p:cNvPr id="11" name="TextBox 10"/>
          <p:cNvSpPr txBox="1"/>
          <p:nvPr/>
        </p:nvSpPr>
        <p:spPr>
          <a:xfrm>
            <a:off x="7863840" y="2011680"/>
            <a:ext cx="3246120" cy="457200"/>
          </a:xfrm>
          <a:prstGeom prst="rect">
            <a:avLst/>
          </a:prstGeom>
          <a:noFill/>
        </p:spPr>
        <p:txBody>
          <a:bodyPr wrap="square" lIns="0" rIns="0" tIns="0" bIns="0" anchor="ctr">
            <a:spAutoFit/>
          </a:bodyPr>
          <a:lstStyle/>
          <a:p>
            <a:pPr algn="r">
              <a:lnSpc>
                <a:spcPct val="118000"/>
              </a:lnSpc>
            </a:pPr>
            <a:r>
              <a:rPr sz="1200" b="0">
                <a:solidFill>
                  <a:srgbClr val="9CA3AF"/>
                </a:solidFill>
                <a:latin typeface="Noto Sans KR"/>
              </a:rPr>
              <a:t>평균 </a:t>
            </a:r>
            <a:r>
              <a:rPr sz="2600" b="1">
                <a:solidFill>
                  <a:srgbClr val="2F6FAD"/>
                </a:solidFill>
                <a:latin typeface="Noto Sans KR"/>
              </a:rPr>
              <a:t>15.0%</a:t>
            </a:r>
          </a:p>
        </p:txBody>
      </p:sp>
      <p:sp>
        <p:nvSpPr>
          <p:cNvPr id="12" name="TextBox 11"/>
          <p:cNvSpPr txBox="1"/>
          <p:nvPr/>
        </p:nvSpPr>
        <p:spPr>
          <a:xfrm>
            <a:off x="7315200" y="2487168"/>
            <a:ext cx="3794760" cy="228600"/>
          </a:xfrm>
          <a:prstGeom prst="rect">
            <a:avLst/>
          </a:prstGeom>
          <a:noFill/>
        </p:spPr>
        <p:txBody>
          <a:bodyPr wrap="square" lIns="0" rIns="0" tIns="0" bIns="0" anchor="t">
            <a:spAutoFit/>
          </a:bodyPr>
          <a:lstStyle/>
          <a:p>
            <a:pPr algn="r">
              <a:lnSpc>
                <a:spcPct val="118000"/>
              </a:lnSpc>
            </a:pPr>
            <a:r>
              <a:rPr sz="1100" b="0">
                <a:solidFill>
                  <a:srgbClr val="9CA3AF"/>
                </a:solidFill>
                <a:latin typeface="Noto Sans KR"/>
              </a:rPr>
              <a:t>오전장 15.8% · 오후장 14.2%</a:t>
            </a:r>
          </a:p>
        </p:txBody>
      </p:sp>
      <p:sp>
        <p:nvSpPr>
          <p:cNvPr id="13" name="Rounded Rectangle 12"/>
          <p:cNvSpPr/>
          <p:nvPr/>
        </p:nvSpPr>
        <p:spPr>
          <a:xfrm>
            <a:off x="1325880" y="4986528"/>
            <a:ext cx="502920" cy="42672"/>
          </a:xfrm>
          <a:prstGeom prst="roundRect">
            <a:avLst>
              <a:gd name="adj" fmla="val 50000"/>
            </a:avLst>
          </a:prstGeom>
          <a:solidFill>
            <a:srgbClr val="408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39" y="4712208"/>
            <a:ext cx="685800" cy="237744"/>
          </a:xfrm>
          <a:prstGeom prst="rect">
            <a:avLst/>
          </a:prstGeom>
          <a:noFill/>
        </p:spPr>
        <p:txBody>
          <a:bodyPr wrap="square" lIns="0" rIns="0" tIns="0" bIns="0" anchor="t">
            <a:spAutoFit/>
          </a:bodyPr>
          <a:lstStyle/>
          <a:p>
            <a:pPr algn="ctr">
              <a:lnSpc>
                <a:spcPct val="118000"/>
              </a:lnSpc>
            </a:pPr>
            <a:r>
              <a:rPr sz="1200" b="1">
                <a:solidFill>
                  <a:srgbClr val="111827"/>
                </a:solidFill>
                <a:latin typeface="Noto Sans KR"/>
              </a:rPr>
              <a:t>1</a:t>
            </a:r>
          </a:p>
        </p:txBody>
      </p:sp>
      <p:sp>
        <p:nvSpPr>
          <p:cNvPr id="15" name="Rounded Rectangle 14"/>
          <p:cNvSpPr/>
          <p:nvPr/>
        </p:nvSpPr>
        <p:spPr>
          <a:xfrm>
            <a:off x="1892807" y="4986528"/>
            <a:ext cx="502920" cy="42672"/>
          </a:xfrm>
          <a:prstGeom prst="roundRect">
            <a:avLst>
              <a:gd name="adj" fmla="val 50000"/>
            </a:avLst>
          </a:prstGeom>
          <a:solidFill>
            <a:srgbClr val="FF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01367" y="4712208"/>
            <a:ext cx="685800" cy="237744"/>
          </a:xfrm>
          <a:prstGeom prst="rect">
            <a:avLst/>
          </a:prstGeom>
          <a:noFill/>
        </p:spPr>
        <p:txBody>
          <a:bodyPr wrap="square" lIns="0" rIns="0" tIns="0" bIns="0" anchor="t">
            <a:spAutoFit/>
          </a:bodyPr>
          <a:lstStyle/>
          <a:p>
            <a:pPr algn="ctr">
              <a:lnSpc>
                <a:spcPct val="118000"/>
              </a:lnSpc>
            </a:pPr>
            <a:r>
              <a:rPr sz="1200" b="1">
                <a:solidFill>
                  <a:srgbClr val="111827"/>
                </a:solidFill>
                <a:latin typeface="Noto Sans KR"/>
              </a:rPr>
              <a:t>1</a:t>
            </a:r>
          </a:p>
        </p:txBody>
      </p:sp>
      <p:sp>
        <p:nvSpPr>
          <p:cNvPr id="17" name="TextBox 16"/>
          <p:cNvSpPr txBox="1"/>
          <p:nvPr/>
        </p:nvSpPr>
        <p:spPr>
          <a:xfrm>
            <a:off x="1143000" y="5120640"/>
            <a:ext cx="1783080" cy="228600"/>
          </a:xfrm>
          <a:prstGeom prst="rect">
            <a:avLst/>
          </a:prstGeom>
          <a:noFill/>
        </p:spPr>
        <p:txBody>
          <a:bodyPr wrap="square" lIns="0" rIns="0" tIns="0" bIns="0" anchor="t">
            <a:spAutoFit/>
          </a:bodyPr>
          <a:lstStyle/>
          <a:p>
            <a:pPr algn="ctr">
              <a:lnSpc>
                <a:spcPct val="118000"/>
              </a:lnSpc>
            </a:pPr>
            <a:r>
              <a:rPr sz="1200" b="1">
                <a:solidFill>
                  <a:srgbClr val="111827"/>
                </a:solidFill>
                <a:latin typeface="Noto Sans KR"/>
              </a:rPr>
              <a:t>5% 미만</a:t>
            </a:r>
          </a:p>
        </p:txBody>
      </p:sp>
      <p:sp>
        <p:nvSpPr>
          <p:cNvPr id="18" name="TextBox 17"/>
          <p:cNvSpPr txBox="1"/>
          <p:nvPr/>
        </p:nvSpPr>
        <p:spPr>
          <a:xfrm>
            <a:off x="1143000" y="5376672"/>
            <a:ext cx="1783080" cy="201168"/>
          </a:xfrm>
          <a:prstGeom prst="rect">
            <a:avLst/>
          </a:prstGeom>
          <a:noFill/>
        </p:spPr>
        <p:txBody>
          <a:bodyPr wrap="square" lIns="0" rIns="0" tIns="0" bIns="0" anchor="t">
            <a:spAutoFit/>
          </a:bodyPr>
          <a:lstStyle/>
          <a:p>
            <a:pPr algn="ctr">
              <a:lnSpc>
                <a:spcPct val="118000"/>
              </a:lnSpc>
            </a:pPr>
            <a:r>
              <a:rPr sz="1100" b="0">
                <a:solidFill>
                  <a:srgbClr val="9CA3AF"/>
                </a:solidFill>
                <a:latin typeface="Noto Sans KR"/>
              </a:rPr>
              <a:t>1.1%</a:t>
            </a:r>
          </a:p>
        </p:txBody>
      </p:sp>
      <p:sp>
        <p:nvSpPr>
          <p:cNvPr id="19" name="Rounded Rectangle 18"/>
          <p:cNvSpPr/>
          <p:nvPr/>
        </p:nvSpPr>
        <p:spPr>
          <a:xfrm>
            <a:off x="2971800" y="4645152"/>
            <a:ext cx="502920" cy="384048"/>
          </a:xfrm>
          <a:prstGeom prst="roundRect">
            <a:avLst>
              <a:gd name="adj" fmla="val 9523"/>
            </a:avLst>
          </a:prstGeom>
          <a:solidFill>
            <a:srgbClr val="408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80360" y="4370832"/>
            <a:ext cx="685800" cy="237744"/>
          </a:xfrm>
          <a:prstGeom prst="rect">
            <a:avLst/>
          </a:prstGeom>
          <a:noFill/>
        </p:spPr>
        <p:txBody>
          <a:bodyPr wrap="square" lIns="0" rIns="0" tIns="0" bIns="0" anchor="t">
            <a:spAutoFit/>
          </a:bodyPr>
          <a:lstStyle/>
          <a:p>
            <a:pPr algn="ctr">
              <a:lnSpc>
                <a:spcPct val="118000"/>
              </a:lnSpc>
            </a:pPr>
            <a:r>
              <a:rPr sz="1200" b="1">
                <a:solidFill>
                  <a:srgbClr val="111827"/>
                </a:solidFill>
                <a:latin typeface="Noto Sans KR"/>
              </a:rPr>
              <a:t>9</a:t>
            </a:r>
          </a:p>
        </p:txBody>
      </p:sp>
      <p:sp>
        <p:nvSpPr>
          <p:cNvPr id="21" name="Rounded Rectangle 20"/>
          <p:cNvSpPr/>
          <p:nvPr/>
        </p:nvSpPr>
        <p:spPr>
          <a:xfrm>
            <a:off x="3538728" y="4261104"/>
            <a:ext cx="502920" cy="768096"/>
          </a:xfrm>
          <a:prstGeom prst="roundRect">
            <a:avLst>
              <a:gd name="adj" fmla="val 7272"/>
            </a:avLst>
          </a:prstGeom>
          <a:solidFill>
            <a:srgbClr val="FF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47288" y="3986784"/>
            <a:ext cx="685800" cy="237744"/>
          </a:xfrm>
          <a:prstGeom prst="rect">
            <a:avLst/>
          </a:prstGeom>
          <a:noFill/>
        </p:spPr>
        <p:txBody>
          <a:bodyPr wrap="square" lIns="0" rIns="0" tIns="0" bIns="0" anchor="t">
            <a:spAutoFit/>
          </a:bodyPr>
          <a:lstStyle/>
          <a:p>
            <a:pPr algn="ctr">
              <a:lnSpc>
                <a:spcPct val="118000"/>
              </a:lnSpc>
            </a:pPr>
            <a:r>
              <a:rPr sz="1200" b="1">
                <a:solidFill>
                  <a:srgbClr val="111827"/>
                </a:solidFill>
                <a:latin typeface="Noto Sans KR"/>
              </a:rPr>
              <a:t>18</a:t>
            </a:r>
          </a:p>
        </p:txBody>
      </p:sp>
      <p:sp>
        <p:nvSpPr>
          <p:cNvPr id="23" name="TextBox 22"/>
          <p:cNvSpPr txBox="1"/>
          <p:nvPr/>
        </p:nvSpPr>
        <p:spPr>
          <a:xfrm>
            <a:off x="2788920" y="5120640"/>
            <a:ext cx="1783080" cy="228600"/>
          </a:xfrm>
          <a:prstGeom prst="rect">
            <a:avLst/>
          </a:prstGeom>
          <a:noFill/>
        </p:spPr>
        <p:txBody>
          <a:bodyPr wrap="square" lIns="0" rIns="0" tIns="0" bIns="0" anchor="t">
            <a:spAutoFit/>
          </a:bodyPr>
          <a:lstStyle/>
          <a:p>
            <a:pPr algn="ctr">
              <a:lnSpc>
                <a:spcPct val="118000"/>
              </a:lnSpc>
            </a:pPr>
            <a:r>
              <a:rPr sz="1200" b="1">
                <a:solidFill>
                  <a:srgbClr val="111827"/>
                </a:solidFill>
                <a:latin typeface="Noto Sans KR"/>
              </a:rPr>
              <a:t>5~10%</a:t>
            </a:r>
          </a:p>
        </p:txBody>
      </p:sp>
      <p:sp>
        <p:nvSpPr>
          <p:cNvPr id="24" name="TextBox 23"/>
          <p:cNvSpPr txBox="1"/>
          <p:nvPr/>
        </p:nvSpPr>
        <p:spPr>
          <a:xfrm>
            <a:off x="2788920" y="5376672"/>
            <a:ext cx="1783080" cy="201168"/>
          </a:xfrm>
          <a:prstGeom prst="rect">
            <a:avLst/>
          </a:prstGeom>
          <a:noFill/>
        </p:spPr>
        <p:txBody>
          <a:bodyPr wrap="square" lIns="0" rIns="0" tIns="0" bIns="0" anchor="t">
            <a:spAutoFit/>
          </a:bodyPr>
          <a:lstStyle/>
          <a:p>
            <a:pPr algn="ctr">
              <a:lnSpc>
                <a:spcPct val="118000"/>
              </a:lnSpc>
            </a:pPr>
            <a:r>
              <a:rPr sz="1100" b="0">
                <a:solidFill>
                  <a:srgbClr val="9CA3AF"/>
                </a:solidFill>
                <a:latin typeface="Noto Sans KR"/>
              </a:rPr>
              <a:t>14.8%</a:t>
            </a:r>
          </a:p>
        </p:txBody>
      </p:sp>
      <p:sp>
        <p:nvSpPr>
          <p:cNvPr id="25" name="Rounded Rectangle 24"/>
          <p:cNvSpPr/>
          <p:nvPr/>
        </p:nvSpPr>
        <p:spPr>
          <a:xfrm>
            <a:off x="4617720" y="3450336"/>
            <a:ext cx="502920" cy="1578864"/>
          </a:xfrm>
          <a:prstGeom prst="roundRect">
            <a:avLst>
              <a:gd name="adj" fmla="val 7272"/>
            </a:avLst>
          </a:prstGeom>
          <a:solidFill>
            <a:srgbClr val="408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26280" y="3176016"/>
            <a:ext cx="685800" cy="237744"/>
          </a:xfrm>
          <a:prstGeom prst="rect">
            <a:avLst/>
          </a:prstGeom>
          <a:noFill/>
        </p:spPr>
        <p:txBody>
          <a:bodyPr wrap="square" lIns="0" rIns="0" tIns="0" bIns="0" anchor="t">
            <a:spAutoFit/>
          </a:bodyPr>
          <a:lstStyle/>
          <a:p>
            <a:pPr algn="ctr">
              <a:lnSpc>
                <a:spcPct val="118000"/>
              </a:lnSpc>
            </a:pPr>
            <a:r>
              <a:rPr sz="1200" b="1">
                <a:solidFill>
                  <a:srgbClr val="111827"/>
                </a:solidFill>
                <a:latin typeface="Noto Sans KR"/>
              </a:rPr>
              <a:t>37</a:t>
            </a:r>
          </a:p>
        </p:txBody>
      </p:sp>
      <p:sp>
        <p:nvSpPr>
          <p:cNvPr id="27" name="Rounded Rectangle 26"/>
          <p:cNvSpPr/>
          <p:nvPr/>
        </p:nvSpPr>
        <p:spPr>
          <a:xfrm>
            <a:off x="5184648" y="3322320"/>
            <a:ext cx="502920" cy="1706880"/>
          </a:xfrm>
          <a:prstGeom prst="roundRect">
            <a:avLst>
              <a:gd name="adj" fmla="val 7272"/>
            </a:avLst>
          </a:prstGeom>
          <a:solidFill>
            <a:srgbClr val="FF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93208" y="3048000"/>
            <a:ext cx="685800" cy="237744"/>
          </a:xfrm>
          <a:prstGeom prst="rect">
            <a:avLst/>
          </a:prstGeom>
          <a:noFill/>
        </p:spPr>
        <p:txBody>
          <a:bodyPr wrap="square" lIns="0" rIns="0" tIns="0" bIns="0" anchor="t">
            <a:spAutoFit/>
          </a:bodyPr>
          <a:lstStyle/>
          <a:p>
            <a:pPr algn="ctr">
              <a:lnSpc>
                <a:spcPct val="118000"/>
              </a:lnSpc>
            </a:pPr>
            <a:r>
              <a:rPr sz="1200" b="1">
                <a:solidFill>
                  <a:srgbClr val="111827"/>
                </a:solidFill>
                <a:latin typeface="Noto Sans KR"/>
              </a:rPr>
              <a:t>40</a:t>
            </a:r>
          </a:p>
        </p:txBody>
      </p:sp>
      <p:sp>
        <p:nvSpPr>
          <p:cNvPr id="29" name="TextBox 28"/>
          <p:cNvSpPr txBox="1"/>
          <p:nvPr/>
        </p:nvSpPr>
        <p:spPr>
          <a:xfrm>
            <a:off x="4434840" y="5120640"/>
            <a:ext cx="1783080" cy="228600"/>
          </a:xfrm>
          <a:prstGeom prst="rect">
            <a:avLst/>
          </a:prstGeom>
          <a:noFill/>
        </p:spPr>
        <p:txBody>
          <a:bodyPr wrap="square" lIns="0" rIns="0" tIns="0" bIns="0" anchor="t">
            <a:spAutoFit/>
          </a:bodyPr>
          <a:lstStyle/>
          <a:p>
            <a:pPr algn="ctr">
              <a:lnSpc>
                <a:spcPct val="118000"/>
              </a:lnSpc>
            </a:pPr>
            <a:r>
              <a:rPr sz="1200" b="1">
                <a:solidFill>
                  <a:srgbClr val="111827"/>
                </a:solidFill>
                <a:latin typeface="Noto Sans KR"/>
              </a:rPr>
              <a:t>10~15%</a:t>
            </a:r>
          </a:p>
        </p:txBody>
      </p:sp>
      <p:sp>
        <p:nvSpPr>
          <p:cNvPr id="30" name="TextBox 29"/>
          <p:cNvSpPr txBox="1"/>
          <p:nvPr/>
        </p:nvSpPr>
        <p:spPr>
          <a:xfrm>
            <a:off x="4434840" y="5376672"/>
            <a:ext cx="1783080" cy="201168"/>
          </a:xfrm>
          <a:prstGeom prst="rect">
            <a:avLst/>
          </a:prstGeom>
          <a:noFill/>
        </p:spPr>
        <p:txBody>
          <a:bodyPr wrap="square" lIns="0" rIns="0" tIns="0" bIns="0" anchor="t">
            <a:spAutoFit/>
          </a:bodyPr>
          <a:lstStyle/>
          <a:p>
            <a:pPr algn="ctr">
              <a:lnSpc>
                <a:spcPct val="118000"/>
              </a:lnSpc>
            </a:pPr>
            <a:r>
              <a:rPr sz="1100" b="0">
                <a:solidFill>
                  <a:srgbClr val="9CA3AF"/>
                </a:solidFill>
                <a:latin typeface="Noto Sans KR"/>
              </a:rPr>
              <a:t>42.3%</a:t>
            </a:r>
          </a:p>
        </p:txBody>
      </p:sp>
      <p:sp>
        <p:nvSpPr>
          <p:cNvPr id="31" name="Rounded Rectangle 30"/>
          <p:cNvSpPr/>
          <p:nvPr/>
        </p:nvSpPr>
        <p:spPr>
          <a:xfrm>
            <a:off x="6263640" y="3962399"/>
            <a:ext cx="502920" cy="1066800"/>
          </a:xfrm>
          <a:prstGeom prst="roundRect">
            <a:avLst>
              <a:gd name="adj" fmla="val 7272"/>
            </a:avLst>
          </a:prstGeom>
          <a:solidFill>
            <a:srgbClr val="408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72200" y="3688080"/>
            <a:ext cx="685800" cy="237744"/>
          </a:xfrm>
          <a:prstGeom prst="rect">
            <a:avLst/>
          </a:prstGeom>
          <a:noFill/>
        </p:spPr>
        <p:txBody>
          <a:bodyPr wrap="square" lIns="0" rIns="0" tIns="0" bIns="0" anchor="t">
            <a:spAutoFit/>
          </a:bodyPr>
          <a:lstStyle/>
          <a:p>
            <a:pPr algn="ctr">
              <a:lnSpc>
                <a:spcPct val="118000"/>
              </a:lnSpc>
            </a:pPr>
            <a:r>
              <a:rPr sz="1200" b="1">
                <a:solidFill>
                  <a:srgbClr val="111827"/>
                </a:solidFill>
                <a:latin typeface="Noto Sans KR"/>
              </a:rPr>
              <a:t>25</a:t>
            </a:r>
          </a:p>
        </p:txBody>
      </p:sp>
      <p:sp>
        <p:nvSpPr>
          <p:cNvPr id="33" name="Rounded Rectangle 32"/>
          <p:cNvSpPr/>
          <p:nvPr/>
        </p:nvSpPr>
        <p:spPr>
          <a:xfrm>
            <a:off x="6830568" y="4090416"/>
            <a:ext cx="502920" cy="938784"/>
          </a:xfrm>
          <a:prstGeom prst="roundRect">
            <a:avLst>
              <a:gd name="adj" fmla="val 7272"/>
            </a:avLst>
          </a:prstGeom>
          <a:solidFill>
            <a:srgbClr val="FF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39128" y="3816096"/>
            <a:ext cx="685800" cy="237744"/>
          </a:xfrm>
          <a:prstGeom prst="rect">
            <a:avLst/>
          </a:prstGeom>
          <a:noFill/>
        </p:spPr>
        <p:txBody>
          <a:bodyPr wrap="square" lIns="0" rIns="0" tIns="0" bIns="0" anchor="t">
            <a:spAutoFit/>
          </a:bodyPr>
          <a:lstStyle/>
          <a:p>
            <a:pPr algn="ctr">
              <a:lnSpc>
                <a:spcPct val="118000"/>
              </a:lnSpc>
            </a:pPr>
            <a:r>
              <a:rPr sz="1200" b="1">
                <a:solidFill>
                  <a:srgbClr val="111827"/>
                </a:solidFill>
                <a:latin typeface="Noto Sans KR"/>
              </a:rPr>
              <a:t>22</a:t>
            </a:r>
          </a:p>
        </p:txBody>
      </p:sp>
      <p:sp>
        <p:nvSpPr>
          <p:cNvPr id="35" name="TextBox 34"/>
          <p:cNvSpPr txBox="1"/>
          <p:nvPr/>
        </p:nvSpPr>
        <p:spPr>
          <a:xfrm>
            <a:off x="6080760" y="5120640"/>
            <a:ext cx="1783080" cy="228600"/>
          </a:xfrm>
          <a:prstGeom prst="rect">
            <a:avLst/>
          </a:prstGeom>
          <a:noFill/>
        </p:spPr>
        <p:txBody>
          <a:bodyPr wrap="square" lIns="0" rIns="0" tIns="0" bIns="0" anchor="t">
            <a:spAutoFit/>
          </a:bodyPr>
          <a:lstStyle/>
          <a:p>
            <a:pPr algn="ctr">
              <a:lnSpc>
                <a:spcPct val="118000"/>
              </a:lnSpc>
            </a:pPr>
            <a:r>
              <a:rPr sz="1200" b="1">
                <a:solidFill>
                  <a:srgbClr val="111827"/>
                </a:solidFill>
                <a:latin typeface="Noto Sans KR"/>
              </a:rPr>
              <a:t>15~20%</a:t>
            </a:r>
          </a:p>
        </p:txBody>
      </p:sp>
      <p:sp>
        <p:nvSpPr>
          <p:cNvPr id="36" name="TextBox 35"/>
          <p:cNvSpPr txBox="1"/>
          <p:nvPr/>
        </p:nvSpPr>
        <p:spPr>
          <a:xfrm>
            <a:off x="6080760" y="5376672"/>
            <a:ext cx="1783080" cy="201168"/>
          </a:xfrm>
          <a:prstGeom prst="rect">
            <a:avLst/>
          </a:prstGeom>
          <a:noFill/>
        </p:spPr>
        <p:txBody>
          <a:bodyPr wrap="square" lIns="0" rIns="0" tIns="0" bIns="0" anchor="t">
            <a:spAutoFit/>
          </a:bodyPr>
          <a:lstStyle/>
          <a:p>
            <a:pPr algn="ctr">
              <a:lnSpc>
                <a:spcPct val="118000"/>
              </a:lnSpc>
            </a:pPr>
            <a:r>
              <a:rPr sz="1100" b="0">
                <a:solidFill>
                  <a:srgbClr val="9CA3AF"/>
                </a:solidFill>
                <a:latin typeface="Noto Sans KR"/>
              </a:rPr>
              <a:t>25.8%</a:t>
            </a:r>
          </a:p>
        </p:txBody>
      </p:sp>
      <p:sp>
        <p:nvSpPr>
          <p:cNvPr id="37" name="Rounded Rectangle 36"/>
          <p:cNvSpPr/>
          <p:nvPr/>
        </p:nvSpPr>
        <p:spPr>
          <a:xfrm>
            <a:off x="7909560" y="4431792"/>
            <a:ext cx="502920" cy="597408"/>
          </a:xfrm>
          <a:prstGeom prst="roundRect">
            <a:avLst>
              <a:gd name="adj" fmla="val 7272"/>
            </a:avLst>
          </a:prstGeom>
          <a:solidFill>
            <a:srgbClr val="408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818120" y="4157472"/>
            <a:ext cx="685800" cy="237744"/>
          </a:xfrm>
          <a:prstGeom prst="rect">
            <a:avLst/>
          </a:prstGeom>
          <a:noFill/>
        </p:spPr>
        <p:txBody>
          <a:bodyPr wrap="square" lIns="0" rIns="0" tIns="0" bIns="0" anchor="t">
            <a:spAutoFit/>
          </a:bodyPr>
          <a:lstStyle/>
          <a:p>
            <a:pPr algn="ctr">
              <a:lnSpc>
                <a:spcPct val="118000"/>
              </a:lnSpc>
            </a:pPr>
            <a:r>
              <a:rPr sz="1200" b="1">
                <a:solidFill>
                  <a:srgbClr val="111827"/>
                </a:solidFill>
                <a:latin typeface="Noto Sans KR"/>
              </a:rPr>
              <a:t>14</a:t>
            </a:r>
          </a:p>
        </p:txBody>
      </p:sp>
      <p:sp>
        <p:nvSpPr>
          <p:cNvPr id="39" name="Rounded Rectangle 38"/>
          <p:cNvSpPr/>
          <p:nvPr/>
        </p:nvSpPr>
        <p:spPr>
          <a:xfrm>
            <a:off x="8476488" y="4687824"/>
            <a:ext cx="502920" cy="341376"/>
          </a:xfrm>
          <a:prstGeom prst="roundRect">
            <a:avLst>
              <a:gd name="adj" fmla="val 10714"/>
            </a:avLst>
          </a:prstGeom>
          <a:solidFill>
            <a:srgbClr val="FF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85048" y="4413504"/>
            <a:ext cx="685800" cy="237744"/>
          </a:xfrm>
          <a:prstGeom prst="rect">
            <a:avLst/>
          </a:prstGeom>
          <a:noFill/>
        </p:spPr>
        <p:txBody>
          <a:bodyPr wrap="square" lIns="0" rIns="0" tIns="0" bIns="0" anchor="t">
            <a:spAutoFit/>
          </a:bodyPr>
          <a:lstStyle/>
          <a:p>
            <a:pPr algn="ctr">
              <a:lnSpc>
                <a:spcPct val="118000"/>
              </a:lnSpc>
            </a:pPr>
            <a:r>
              <a:rPr sz="1200" b="1">
                <a:solidFill>
                  <a:srgbClr val="111827"/>
                </a:solidFill>
                <a:latin typeface="Noto Sans KR"/>
              </a:rPr>
              <a:t>8</a:t>
            </a:r>
          </a:p>
        </p:txBody>
      </p:sp>
      <p:sp>
        <p:nvSpPr>
          <p:cNvPr id="41" name="TextBox 40"/>
          <p:cNvSpPr txBox="1"/>
          <p:nvPr/>
        </p:nvSpPr>
        <p:spPr>
          <a:xfrm>
            <a:off x="7726680" y="5120640"/>
            <a:ext cx="1783080" cy="228600"/>
          </a:xfrm>
          <a:prstGeom prst="rect">
            <a:avLst/>
          </a:prstGeom>
          <a:noFill/>
        </p:spPr>
        <p:txBody>
          <a:bodyPr wrap="square" lIns="0" rIns="0" tIns="0" bIns="0" anchor="t">
            <a:spAutoFit/>
          </a:bodyPr>
          <a:lstStyle/>
          <a:p>
            <a:pPr algn="ctr">
              <a:lnSpc>
                <a:spcPct val="118000"/>
              </a:lnSpc>
            </a:pPr>
            <a:r>
              <a:rPr sz="1200" b="1">
                <a:solidFill>
                  <a:srgbClr val="111827"/>
                </a:solidFill>
                <a:latin typeface="Noto Sans KR"/>
              </a:rPr>
              <a:t>20~25%</a:t>
            </a:r>
          </a:p>
        </p:txBody>
      </p:sp>
      <p:sp>
        <p:nvSpPr>
          <p:cNvPr id="42" name="TextBox 41"/>
          <p:cNvSpPr txBox="1"/>
          <p:nvPr/>
        </p:nvSpPr>
        <p:spPr>
          <a:xfrm>
            <a:off x="7726680" y="5376672"/>
            <a:ext cx="1783080" cy="201168"/>
          </a:xfrm>
          <a:prstGeom prst="rect">
            <a:avLst/>
          </a:prstGeom>
          <a:noFill/>
        </p:spPr>
        <p:txBody>
          <a:bodyPr wrap="square" lIns="0" rIns="0" tIns="0" bIns="0" anchor="t">
            <a:spAutoFit/>
          </a:bodyPr>
          <a:lstStyle/>
          <a:p>
            <a:pPr algn="ctr">
              <a:lnSpc>
                <a:spcPct val="118000"/>
              </a:lnSpc>
            </a:pPr>
            <a:r>
              <a:rPr sz="1100" b="0">
                <a:solidFill>
                  <a:srgbClr val="9CA3AF"/>
                </a:solidFill>
                <a:latin typeface="Noto Sans KR"/>
              </a:rPr>
              <a:t>12.1%</a:t>
            </a:r>
          </a:p>
        </p:txBody>
      </p:sp>
      <p:sp>
        <p:nvSpPr>
          <p:cNvPr id="43" name="Rounded Rectangle 42"/>
          <p:cNvSpPr/>
          <p:nvPr/>
        </p:nvSpPr>
        <p:spPr>
          <a:xfrm>
            <a:off x="9555480" y="4815840"/>
            <a:ext cx="502920" cy="213360"/>
          </a:xfrm>
          <a:prstGeom prst="roundRect">
            <a:avLst>
              <a:gd name="adj" fmla="val 17142"/>
            </a:avLst>
          </a:prstGeom>
          <a:solidFill>
            <a:srgbClr val="408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464040" y="4541520"/>
            <a:ext cx="685800" cy="237744"/>
          </a:xfrm>
          <a:prstGeom prst="rect">
            <a:avLst/>
          </a:prstGeom>
          <a:noFill/>
        </p:spPr>
        <p:txBody>
          <a:bodyPr wrap="square" lIns="0" rIns="0" tIns="0" bIns="0" anchor="t">
            <a:spAutoFit/>
          </a:bodyPr>
          <a:lstStyle/>
          <a:p>
            <a:pPr algn="ctr">
              <a:lnSpc>
                <a:spcPct val="118000"/>
              </a:lnSpc>
            </a:pPr>
            <a:r>
              <a:rPr sz="1200" b="1">
                <a:solidFill>
                  <a:srgbClr val="111827"/>
                </a:solidFill>
                <a:latin typeface="Noto Sans KR"/>
              </a:rPr>
              <a:t>5</a:t>
            </a:r>
          </a:p>
        </p:txBody>
      </p:sp>
      <p:sp>
        <p:nvSpPr>
          <p:cNvPr id="45" name="Rounded Rectangle 44"/>
          <p:cNvSpPr/>
          <p:nvPr/>
        </p:nvSpPr>
        <p:spPr>
          <a:xfrm>
            <a:off x="10122407" y="4943856"/>
            <a:ext cx="502920" cy="85344"/>
          </a:xfrm>
          <a:prstGeom prst="roundRect">
            <a:avLst>
              <a:gd name="adj" fmla="val 42857"/>
            </a:avLst>
          </a:prstGeom>
          <a:solidFill>
            <a:srgbClr val="FF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030967" y="4669536"/>
            <a:ext cx="685800" cy="237744"/>
          </a:xfrm>
          <a:prstGeom prst="rect">
            <a:avLst/>
          </a:prstGeom>
          <a:noFill/>
        </p:spPr>
        <p:txBody>
          <a:bodyPr wrap="square" lIns="0" rIns="0" tIns="0" bIns="0" anchor="t">
            <a:spAutoFit/>
          </a:bodyPr>
          <a:lstStyle/>
          <a:p>
            <a:pPr algn="ctr">
              <a:lnSpc>
                <a:spcPct val="118000"/>
              </a:lnSpc>
            </a:pPr>
            <a:r>
              <a:rPr sz="1200" b="1">
                <a:solidFill>
                  <a:srgbClr val="111827"/>
                </a:solidFill>
                <a:latin typeface="Noto Sans KR"/>
              </a:rPr>
              <a:t>2</a:t>
            </a:r>
          </a:p>
        </p:txBody>
      </p:sp>
      <p:sp>
        <p:nvSpPr>
          <p:cNvPr id="47" name="TextBox 46"/>
          <p:cNvSpPr txBox="1"/>
          <p:nvPr/>
        </p:nvSpPr>
        <p:spPr>
          <a:xfrm>
            <a:off x="9372600" y="5120640"/>
            <a:ext cx="1783080" cy="228600"/>
          </a:xfrm>
          <a:prstGeom prst="rect">
            <a:avLst/>
          </a:prstGeom>
          <a:noFill/>
        </p:spPr>
        <p:txBody>
          <a:bodyPr wrap="square" lIns="0" rIns="0" tIns="0" bIns="0" anchor="t">
            <a:spAutoFit/>
          </a:bodyPr>
          <a:lstStyle/>
          <a:p>
            <a:pPr algn="ctr">
              <a:lnSpc>
                <a:spcPct val="118000"/>
              </a:lnSpc>
            </a:pPr>
            <a:r>
              <a:rPr sz="1200" b="1">
                <a:solidFill>
                  <a:srgbClr val="111827"/>
                </a:solidFill>
                <a:latin typeface="Noto Sans KR"/>
              </a:rPr>
              <a:t>25% 이상</a:t>
            </a:r>
          </a:p>
        </p:txBody>
      </p:sp>
      <p:sp>
        <p:nvSpPr>
          <p:cNvPr id="48" name="TextBox 47"/>
          <p:cNvSpPr txBox="1"/>
          <p:nvPr/>
        </p:nvSpPr>
        <p:spPr>
          <a:xfrm>
            <a:off x="9372600" y="5376672"/>
            <a:ext cx="1783080" cy="201168"/>
          </a:xfrm>
          <a:prstGeom prst="rect">
            <a:avLst/>
          </a:prstGeom>
          <a:noFill/>
        </p:spPr>
        <p:txBody>
          <a:bodyPr wrap="square" lIns="0" rIns="0" tIns="0" bIns="0" anchor="t">
            <a:spAutoFit/>
          </a:bodyPr>
          <a:lstStyle/>
          <a:p>
            <a:pPr algn="ctr">
              <a:lnSpc>
                <a:spcPct val="118000"/>
              </a:lnSpc>
            </a:pPr>
            <a:r>
              <a:rPr sz="1100" b="0">
                <a:solidFill>
                  <a:srgbClr val="9CA3AF"/>
                </a:solidFill>
                <a:latin typeface="Noto Sans KR"/>
              </a:rPr>
              <a:t>3.8%</a:t>
            </a:r>
          </a:p>
        </p:txBody>
      </p:sp>
      <p:cxnSp>
        <p:nvCxnSpPr>
          <p:cNvPr id="49" name="Connector 48"/>
          <p:cNvCxnSpPr/>
          <p:nvPr/>
        </p:nvCxnSpPr>
        <p:spPr>
          <a:xfrm>
            <a:off x="1097280" y="5029200"/>
            <a:ext cx="9994392" cy="0"/>
          </a:xfrm>
          <a:prstGeom prst="line">
            <a:avLst/>
          </a:prstGeom>
          <a:ln w="19050">
            <a:solidFill>
              <a:srgbClr val="E5E7EB"/>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234440" y="3127248"/>
            <a:ext cx="6099048" cy="0"/>
          </a:xfrm>
          <a:prstGeom prst="line">
            <a:avLst/>
          </a:prstGeom>
          <a:ln w="19050">
            <a:solidFill>
              <a:srgbClr val="4087C7"/>
            </a:solidFill>
          </a:ln>
          <a:effectLst/>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1234440" y="2816352"/>
            <a:ext cx="6099048" cy="274320"/>
          </a:xfrm>
          <a:prstGeom prst="rect">
            <a:avLst/>
          </a:prstGeom>
          <a:noFill/>
        </p:spPr>
        <p:txBody>
          <a:bodyPr wrap="square" lIns="0" rIns="0" tIns="0" bIns="0" anchor="t">
            <a:spAutoFit/>
          </a:bodyPr>
          <a:lstStyle/>
          <a:p>
            <a:pPr algn="ctr">
              <a:lnSpc>
                <a:spcPct val="118000"/>
              </a:lnSpc>
            </a:pPr>
            <a:r>
              <a:rPr sz="1250" b="1">
                <a:solidFill>
                  <a:srgbClr val="2F6FAD"/>
                </a:solidFill>
                <a:latin typeface="Noto Sans KR"/>
              </a:rPr>
              <a:t>84%  (153 / 182 세션)</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66928"/>
            <a:ext cx="7315200" cy="274320"/>
          </a:xfrm>
          <a:prstGeom prst="rect">
            <a:avLst/>
          </a:prstGeom>
          <a:noFill/>
        </p:spPr>
        <p:txBody>
          <a:bodyPr wrap="square" lIns="0" rIns="0" tIns="0" bIns="0" anchor="t">
            <a:spAutoFit/>
          </a:bodyPr>
          <a:lstStyle/>
          <a:p>
            <a:pPr algn="l">
              <a:lnSpc>
                <a:spcPct val="118000"/>
              </a:lnSpc>
            </a:pPr>
            <a:r>
              <a:rPr sz="1150" b="1">
                <a:solidFill>
                  <a:srgbClr val="2F6FAD"/>
                </a:solidFill>
                <a:latin typeface="Noto Sans KR"/>
              </a:rPr>
              <a:t>마진율 방어</a:t>
            </a:r>
          </a:p>
        </p:txBody>
      </p:sp>
      <p:sp>
        <p:nvSpPr>
          <p:cNvPr id="3" name="TextBox 2"/>
          <p:cNvSpPr txBox="1"/>
          <p:nvPr/>
        </p:nvSpPr>
        <p:spPr>
          <a:xfrm>
            <a:off x="822960" y="868680"/>
            <a:ext cx="10515600" cy="1097280"/>
          </a:xfrm>
          <a:prstGeom prst="rect">
            <a:avLst/>
          </a:prstGeom>
          <a:noFill/>
        </p:spPr>
        <p:txBody>
          <a:bodyPr wrap="square" lIns="0" rIns="0" tIns="0" bIns="0" anchor="t">
            <a:spAutoFit/>
          </a:bodyPr>
          <a:lstStyle/>
          <a:p>
            <a:pPr algn="l">
              <a:lnSpc>
                <a:spcPct val="115000"/>
              </a:lnSpc>
            </a:pPr>
            <a:r>
              <a:rPr sz="2700" b="1">
                <a:solidFill>
                  <a:srgbClr val="111827"/>
                </a:solidFill>
                <a:latin typeface="Noto Sans KR"/>
              </a:rPr>
              <a:t>그래서 마진은 버팁니다 —</a:t>
            </a:r>
          </a:p>
          <a:p>
            <a:pPr algn="l">
              <a:lnSpc>
                <a:spcPct val="115000"/>
              </a:lnSpc>
              <a:spcBef>
                <a:spcPts val="0"/>
              </a:spcBef>
            </a:pPr>
            <a:r>
              <a:rPr sz="2700" b="1">
                <a:solidFill>
                  <a:srgbClr val="111827"/>
                </a:solidFill>
                <a:latin typeface="Noto Sans KR"/>
              </a:rPr>
              <a:t>깊은 할인은 드물고, 상한 38%에서 멈춥니다.</a:t>
            </a:r>
          </a:p>
        </p:txBody>
      </p:sp>
      <p:sp>
        <p:nvSpPr>
          <p:cNvPr id="4" name="Rectangle 3"/>
          <p:cNvSpPr/>
          <p:nvPr/>
        </p:nvSpPr>
        <p:spPr>
          <a:xfrm>
            <a:off x="10981944" y="5888736"/>
            <a:ext cx="384048" cy="41148"/>
          </a:xfrm>
          <a:prstGeom prst="rect">
            <a:avLst/>
          </a:prstGeom>
          <a:solidFill>
            <a:srgbClr val="408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0" y="6007608"/>
            <a:ext cx="8622792" cy="365760"/>
          </a:xfrm>
          <a:prstGeom prst="rect">
            <a:avLst/>
          </a:prstGeom>
          <a:noFill/>
        </p:spPr>
        <p:txBody>
          <a:bodyPr wrap="square" lIns="0" rIns="0" tIns="0" bIns="0" anchor="t">
            <a:spAutoFit/>
          </a:bodyPr>
          <a:lstStyle/>
          <a:p>
            <a:pPr algn="r">
              <a:lnSpc>
                <a:spcPct val="118000"/>
              </a:lnSpc>
            </a:pPr>
            <a:r>
              <a:rPr sz="1400" b="1">
                <a:solidFill>
                  <a:srgbClr val="2F6FAD"/>
                </a:solidFill>
                <a:latin typeface="Noto Sans KR"/>
              </a:rPr>
              <a:t>정가 마진 40% 이상이면 가장 깊은 할인에서도 적자가 나지 않습니다.</a:t>
            </a:r>
          </a:p>
        </p:txBody>
      </p:sp>
      <p:sp>
        <p:nvSpPr>
          <p:cNvPr id="6" name="TextBox 5"/>
          <p:cNvSpPr txBox="1"/>
          <p:nvPr/>
        </p:nvSpPr>
        <p:spPr>
          <a:xfrm>
            <a:off x="822960" y="6419088"/>
            <a:ext cx="9692640" cy="274320"/>
          </a:xfrm>
          <a:prstGeom prst="rect">
            <a:avLst/>
          </a:prstGeom>
          <a:noFill/>
        </p:spPr>
        <p:txBody>
          <a:bodyPr wrap="square" lIns="0" rIns="0" tIns="0" bIns="0" anchor="t">
            <a:spAutoFit/>
          </a:bodyPr>
          <a:lstStyle/>
          <a:p>
            <a:pPr algn="l">
              <a:lnSpc>
                <a:spcPct val="110000"/>
              </a:lnSpc>
            </a:pPr>
            <a:r>
              <a:rPr sz="800" b="0">
                <a:solidFill>
                  <a:srgbClr val="9CA3AF"/>
                </a:solidFill>
                <a:latin typeface="Noto Sans KR"/>
              </a:rPr>
              <a:t>※ 실제 원가·마진 자료가 없어 정가 마진율 40/50/60%를 가정한 시나리오입니다 (마진율 = (판매가 − 원가) ÷ 판매가, 원가는 정가 기준 고정)</a:t>
            </a:r>
          </a:p>
        </p:txBody>
      </p:sp>
      <p:sp>
        <p:nvSpPr>
          <p:cNvPr id="7" name="TextBox 6"/>
          <p:cNvSpPr txBox="1"/>
          <p:nvPr/>
        </p:nvSpPr>
        <p:spPr>
          <a:xfrm>
            <a:off x="10058400" y="6446520"/>
            <a:ext cx="1307591" cy="182880"/>
          </a:xfrm>
          <a:prstGeom prst="rect">
            <a:avLst/>
          </a:prstGeom>
          <a:noFill/>
        </p:spPr>
        <p:txBody>
          <a:bodyPr wrap="square" lIns="0" rIns="0" tIns="0" bIns="0" anchor="t">
            <a:spAutoFit/>
          </a:bodyPr>
          <a:lstStyle/>
          <a:p>
            <a:pPr algn="r">
              <a:lnSpc>
                <a:spcPct val="118000"/>
              </a:lnSpc>
            </a:pPr>
            <a:r>
              <a:rPr sz="900" b="0">
                <a:solidFill>
                  <a:srgbClr val="9CA3AF"/>
                </a:solidFill>
                <a:latin typeface="Noto Sans KR"/>
              </a:rPr>
              <a:t>10 / 16</a:t>
            </a:r>
          </a:p>
        </p:txBody>
      </p:sp>
      <p:sp>
        <p:nvSpPr>
          <p:cNvPr id="8" name="Rounded Rectangle 7"/>
          <p:cNvSpPr/>
          <p:nvPr/>
        </p:nvSpPr>
        <p:spPr>
          <a:xfrm>
            <a:off x="822960" y="1965960"/>
            <a:ext cx="10543032" cy="3767328"/>
          </a:xfrm>
          <a:prstGeom prst="roundRect">
            <a:avLst>
              <a:gd name="adj" fmla="val 3883"/>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83080" y="2240280"/>
            <a:ext cx="3611880" cy="2743200"/>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783080" y="2286000"/>
            <a:ext cx="3611880" cy="256032"/>
          </a:xfrm>
          <a:prstGeom prst="rect">
            <a:avLst/>
          </a:prstGeom>
          <a:noFill/>
        </p:spPr>
        <p:txBody>
          <a:bodyPr wrap="square" lIns="0" rIns="0" tIns="0" bIns="0" anchor="t">
            <a:spAutoFit/>
          </a:bodyPr>
          <a:lstStyle/>
          <a:p>
            <a:pPr algn="ctr">
              <a:lnSpc>
                <a:spcPct val="118000"/>
              </a:lnSpc>
            </a:pPr>
            <a:r>
              <a:rPr sz="1200" b="1">
                <a:solidFill>
                  <a:srgbClr val="2F6FAD"/>
                </a:solidFill>
                <a:latin typeface="Noto Sans KR"/>
              </a:rPr>
              <a:t>세션의 84%</a:t>
            </a:r>
          </a:p>
        </p:txBody>
      </p:sp>
      <p:cxnSp>
        <p:nvCxnSpPr>
          <p:cNvPr id="11" name="Connector 10"/>
          <p:cNvCxnSpPr/>
          <p:nvPr/>
        </p:nvCxnSpPr>
        <p:spPr>
          <a:xfrm>
            <a:off x="1783080" y="4983480"/>
            <a:ext cx="7223760" cy="0"/>
          </a:xfrm>
          <a:prstGeom prst="line">
            <a:avLst/>
          </a:prstGeom>
          <a:ln w="7620">
            <a:solidFill>
              <a:srgbClr val="E5E7EB"/>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234440" y="4882896"/>
            <a:ext cx="457200" cy="201168"/>
          </a:xfrm>
          <a:prstGeom prst="rect">
            <a:avLst/>
          </a:prstGeom>
          <a:noFill/>
        </p:spPr>
        <p:txBody>
          <a:bodyPr wrap="square" lIns="0" rIns="0" tIns="0" bIns="0" anchor="t">
            <a:spAutoFit/>
          </a:bodyPr>
          <a:lstStyle/>
          <a:p>
            <a:pPr algn="r">
              <a:lnSpc>
                <a:spcPct val="118000"/>
              </a:lnSpc>
            </a:pPr>
            <a:r>
              <a:rPr sz="1050" b="0">
                <a:solidFill>
                  <a:srgbClr val="9CA3AF"/>
                </a:solidFill>
                <a:latin typeface="Noto Sans KR"/>
              </a:rPr>
              <a:t>0%</a:t>
            </a:r>
          </a:p>
        </p:txBody>
      </p:sp>
      <p:cxnSp>
        <p:nvCxnSpPr>
          <p:cNvPr id="13" name="Connector 12"/>
          <p:cNvCxnSpPr/>
          <p:nvPr/>
        </p:nvCxnSpPr>
        <p:spPr>
          <a:xfrm>
            <a:off x="1783080" y="4199708"/>
            <a:ext cx="7223760" cy="0"/>
          </a:xfrm>
          <a:prstGeom prst="line">
            <a:avLst/>
          </a:prstGeom>
          <a:ln w="7620">
            <a:solidFill>
              <a:srgbClr val="E5E7EB"/>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234440" y="4099124"/>
            <a:ext cx="457200" cy="201168"/>
          </a:xfrm>
          <a:prstGeom prst="rect">
            <a:avLst/>
          </a:prstGeom>
          <a:noFill/>
        </p:spPr>
        <p:txBody>
          <a:bodyPr wrap="square" lIns="0" rIns="0" tIns="0" bIns="0" anchor="t">
            <a:spAutoFit/>
          </a:bodyPr>
          <a:lstStyle/>
          <a:p>
            <a:pPr algn="r">
              <a:lnSpc>
                <a:spcPct val="118000"/>
              </a:lnSpc>
            </a:pPr>
            <a:r>
              <a:rPr sz="1050" b="0">
                <a:solidFill>
                  <a:srgbClr val="9CA3AF"/>
                </a:solidFill>
                <a:latin typeface="Noto Sans KR"/>
              </a:rPr>
              <a:t>20%</a:t>
            </a:r>
          </a:p>
        </p:txBody>
      </p:sp>
      <p:cxnSp>
        <p:nvCxnSpPr>
          <p:cNvPr id="15" name="Connector 14"/>
          <p:cNvCxnSpPr/>
          <p:nvPr/>
        </p:nvCxnSpPr>
        <p:spPr>
          <a:xfrm>
            <a:off x="1783080" y="3415937"/>
            <a:ext cx="7223760" cy="0"/>
          </a:xfrm>
          <a:prstGeom prst="line">
            <a:avLst/>
          </a:prstGeom>
          <a:ln w="7620">
            <a:solidFill>
              <a:srgbClr val="E5E7EB"/>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234440" y="3315353"/>
            <a:ext cx="457200" cy="201168"/>
          </a:xfrm>
          <a:prstGeom prst="rect">
            <a:avLst/>
          </a:prstGeom>
          <a:noFill/>
        </p:spPr>
        <p:txBody>
          <a:bodyPr wrap="square" lIns="0" rIns="0" tIns="0" bIns="0" anchor="t">
            <a:spAutoFit/>
          </a:bodyPr>
          <a:lstStyle/>
          <a:p>
            <a:pPr algn="r">
              <a:lnSpc>
                <a:spcPct val="118000"/>
              </a:lnSpc>
            </a:pPr>
            <a:r>
              <a:rPr sz="1050" b="0">
                <a:solidFill>
                  <a:srgbClr val="9CA3AF"/>
                </a:solidFill>
                <a:latin typeface="Noto Sans KR"/>
              </a:rPr>
              <a:t>40%</a:t>
            </a:r>
          </a:p>
        </p:txBody>
      </p:sp>
      <p:cxnSp>
        <p:nvCxnSpPr>
          <p:cNvPr id="17" name="Connector 16"/>
          <p:cNvCxnSpPr/>
          <p:nvPr/>
        </p:nvCxnSpPr>
        <p:spPr>
          <a:xfrm>
            <a:off x="1783080" y="2632165"/>
            <a:ext cx="7223760" cy="0"/>
          </a:xfrm>
          <a:prstGeom prst="line">
            <a:avLst/>
          </a:prstGeom>
          <a:ln w="7620">
            <a:solidFill>
              <a:srgbClr val="E5E7EB"/>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234440" y="2531581"/>
            <a:ext cx="457200" cy="201168"/>
          </a:xfrm>
          <a:prstGeom prst="rect">
            <a:avLst/>
          </a:prstGeom>
          <a:noFill/>
        </p:spPr>
        <p:txBody>
          <a:bodyPr wrap="square" lIns="0" rIns="0" tIns="0" bIns="0" anchor="t">
            <a:spAutoFit/>
          </a:bodyPr>
          <a:lstStyle/>
          <a:p>
            <a:pPr algn="r">
              <a:lnSpc>
                <a:spcPct val="118000"/>
              </a:lnSpc>
            </a:pPr>
            <a:r>
              <a:rPr sz="1050" b="0">
                <a:solidFill>
                  <a:srgbClr val="9CA3AF"/>
                </a:solidFill>
                <a:latin typeface="Noto Sans KR"/>
              </a:rPr>
              <a:t>60%</a:t>
            </a:r>
          </a:p>
        </p:txBody>
      </p:sp>
      <p:sp>
        <p:nvSpPr>
          <p:cNvPr id="19" name="TextBox 18"/>
          <p:cNvSpPr txBox="1"/>
          <p:nvPr/>
        </p:nvSpPr>
        <p:spPr>
          <a:xfrm>
            <a:off x="1463040" y="5056632"/>
            <a:ext cx="640080" cy="201168"/>
          </a:xfrm>
          <a:prstGeom prst="rect">
            <a:avLst/>
          </a:prstGeom>
          <a:noFill/>
        </p:spPr>
        <p:txBody>
          <a:bodyPr wrap="square" lIns="0" rIns="0" tIns="0" bIns="0" anchor="t">
            <a:spAutoFit/>
          </a:bodyPr>
          <a:lstStyle/>
          <a:p>
            <a:pPr algn="ctr">
              <a:lnSpc>
                <a:spcPct val="118000"/>
              </a:lnSpc>
            </a:pPr>
            <a:r>
              <a:rPr sz="1050" b="0">
                <a:solidFill>
                  <a:srgbClr val="9CA3AF"/>
                </a:solidFill>
                <a:latin typeface="Noto Sans KR"/>
              </a:rPr>
              <a:t>0%</a:t>
            </a:r>
          </a:p>
        </p:txBody>
      </p:sp>
      <p:sp>
        <p:nvSpPr>
          <p:cNvPr id="20" name="TextBox 19"/>
          <p:cNvSpPr txBox="1"/>
          <p:nvPr/>
        </p:nvSpPr>
        <p:spPr>
          <a:xfrm>
            <a:off x="3268979" y="5056632"/>
            <a:ext cx="640080" cy="201168"/>
          </a:xfrm>
          <a:prstGeom prst="rect">
            <a:avLst/>
          </a:prstGeom>
          <a:noFill/>
        </p:spPr>
        <p:txBody>
          <a:bodyPr wrap="square" lIns="0" rIns="0" tIns="0" bIns="0" anchor="t">
            <a:spAutoFit/>
          </a:bodyPr>
          <a:lstStyle/>
          <a:p>
            <a:pPr algn="ctr">
              <a:lnSpc>
                <a:spcPct val="118000"/>
              </a:lnSpc>
            </a:pPr>
            <a:r>
              <a:rPr sz="1050" b="0">
                <a:solidFill>
                  <a:srgbClr val="9CA3AF"/>
                </a:solidFill>
                <a:latin typeface="Noto Sans KR"/>
              </a:rPr>
              <a:t>10%</a:t>
            </a:r>
          </a:p>
        </p:txBody>
      </p:sp>
      <p:sp>
        <p:nvSpPr>
          <p:cNvPr id="21" name="TextBox 20"/>
          <p:cNvSpPr txBox="1"/>
          <p:nvPr/>
        </p:nvSpPr>
        <p:spPr>
          <a:xfrm>
            <a:off x="5074920" y="5056632"/>
            <a:ext cx="640080" cy="201168"/>
          </a:xfrm>
          <a:prstGeom prst="rect">
            <a:avLst/>
          </a:prstGeom>
          <a:noFill/>
        </p:spPr>
        <p:txBody>
          <a:bodyPr wrap="square" lIns="0" rIns="0" tIns="0" bIns="0" anchor="t">
            <a:spAutoFit/>
          </a:bodyPr>
          <a:lstStyle/>
          <a:p>
            <a:pPr algn="ctr">
              <a:lnSpc>
                <a:spcPct val="118000"/>
              </a:lnSpc>
            </a:pPr>
            <a:r>
              <a:rPr sz="1050" b="0">
                <a:solidFill>
                  <a:srgbClr val="9CA3AF"/>
                </a:solidFill>
                <a:latin typeface="Noto Sans KR"/>
              </a:rPr>
              <a:t>20%</a:t>
            </a:r>
          </a:p>
        </p:txBody>
      </p:sp>
      <p:sp>
        <p:nvSpPr>
          <p:cNvPr id="22" name="TextBox 21"/>
          <p:cNvSpPr txBox="1"/>
          <p:nvPr/>
        </p:nvSpPr>
        <p:spPr>
          <a:xfrm>
            <a:off x="6880860" y="5056632"/>
            <a:ext cx="640080" cy="201168"/>
          </a:xfrm>
          <a:prstGeom prst="rect">
            <a:avLst/>
          </a:prstGeom>
          <a:noFill/>
        </p:spPr>
        <p:txBody>
          <a:bodyPr wrap="square" lIns="0" rIns="0" tIns="0" bIns="0" anchor="t">
            <a:spAutoFit/>
          </a:bodyPr>
          <a:lstStyle/>
          <a:p>
            <a:pPr algn="ctr">
              <a:lnSpc>
                <a:spcPct val="118000"/>
              </a:lnSpc>
            </a:pPr>
            <a:r>
              <a:rPr sz="1050" b="0">
                <a:solidFill>
                  <a:srgbClr val="9CA3AF"/>
                </a:solidFill>
                <a:latin typeface="Noto Sans KR"/>
              </a:rPr>
              <a:t>30%</a:t>
            </a:r>
          </a:p>
        </p:txBody>
      </p:sp>
      <p:sp>
        <p:nvSpPr>
          <p:cNvPr id="23" name="TextBox 22"/>
          <p:cNvSpPr txBox="1"/>
          <p:nvPr/>
        </p:nvSpPr>
        <p:spPr>
          <a:xfrm>
            <a:off x="8325612" y="5056632"/>
            <a:ext cx="640080" cy="201168"/>
          </a:xfrm>
          <a:prstGeom prst="rect">
            <a:avLst/>
          </a:prstGeom>
          <a:noFill/>
        </p:spPr>
        <p:txBody>
          <a:bodyPr wrap="square" lIns="0" rIns="0" tIns="0" bIns="0" anchor="t">
            <a:spAutoFit/>
          </a:bodyPr>
          <a:lstStyle/>
          <a:p>
            <a:pPr algn="ctr">
              <a:lnSpc>
                <a:spcPct val="118000"/>
              </a:lnSpc>
            </a:pPr>
            <a:r>
              <a:rPr sz="1050" b="0">
                <a:solidFill>
                  <a:srgbClr val="9CA3AF"/>
                </a:solidFill>
                <a:latin typeface="Noto Sans KR"/>
              </a:rPr>
              <a:t>38%</a:t>
            </a:r>
          </a:p>
        </p:txBody>
      </p:sp>
      <p:sp>
        <p:nvSpPr>
          <p:cNvPr id="24" name="TextBox 23"/>
          <p:cNvSpPr txBox="1"/>
          <p:nvPr/>
        </p:nvSpPr>
        <p:spPr>
          <a:xfrm>
            <a:off x="9102852" y="5056632"/>
            <a:ext cx="1097280" cy="201168"/>
          </a:xfrm>
          <a:prstGeom prst="rect">
            <a:avLst/>
          </a:prstGeom>
          <a:noFill/>
        </p:spPr>
        <p:txBody>
          <a:bodyPr wrap="square" lIns="0" rIns="0" tIns="0" bIns="0" anchor="t">
            <a:spAutoFit/>
          </a:bodyPr>
          <a:lstStyle/>
          <a:p>
            <a:pPr algn="l">
              <a:lnSpc>
                <a:spcPct val="118000"/>
              </a:lnSpc>
            </a:pPr>
            <a:r>
              <a:rPr sz="1100" b="1">
                <a:solidFill>
                  <a:srgbClr val="4B5563"/>
                </a:solidFill>
                <a:latin typeface="Noto Sans KR"/>
              </a:rPr>
              <a:t>← 할인율</a:t>
            </a:r>
          </a:p>
        </p:txBody>
      </p:sp>
      <p:cxnSp>
        <p:nvCxnSpPr>
          <p:cNvPr id="25" name="Connector 24"/>
          <p:cNvCxnSpPr/>
          <p:nvPr/>
        </p:nvCxnSpPr>
        <p:spPr>
          <a:xfrm>
            <a:off x="8645652" y="2240280"/>
            <a:ext cx="0" cy="2743200"/>
          </a:xfrm>
          <a:prstGeom prst="line">
            <a:avLst/>
          </a:prstGeom>
          <a:ln w="12700">
            <a:solidFill>
              <a:srgbClr val="FF7A45"/>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783080" y="2632165"/>
            <a:ext cx="361188" cy="31991"/>
          </a:xfrm>
          <a:prstGeom prst="line">
            <a:avLst/>
          </a:prstGeom>
          <a:ln w="34925">
            <a:solidFill>
              <a:srgbClr val="10A37F"/>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144268" y="2664156"/>
            <a:ext cx="361188" cy="33324"/>
          </a:xfrm>
          <a:prstGeom prst="line">
            <a:avLst/>
          </a:prstGeom>
          <a:ln w="34925">
            <a:solidFill>
              <a:srgbClr val="10A37F"/>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505456" y="2697480"/>
            <a:ext cx="361188" cy="34741"/>
          </a:xfrm>
          <a:prstGeom prst="line">
            <a:avLst/>
          </a:prstGeom>
          <a:ln w="34925">
            <a:solidFill>
              <a:srgbClr val="10A37F"/>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866644" y="2732221"/>
            <a:ext cx="361188" cy="36252"/>
          </a:xfrm>
          <a:prstGeom prst="line">
            <a:avLst/>
          </a:prstGeom>
          <a:ln w="34925">
            <a:solidFill>
              <a:srgbClr val="10A37F"/>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227832" y="2768473"/>
            <a:ext cx="361188" cy="37864"/>
          </a:xfrm>
          <a:prstGeom prst="line">
            <a:avLst/>
          </a:prstGeom>
          <a:ln w="34925">
            <a:solidFill>
              <a:srgbClr val="10A37F"/>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589020" y="2806337"/>
            <a:ext cx="361188" cy="39584"/>
          </a:xfrm>
          <a:prstGeom prst="line">
            <a:avLst/>
          </a:prstGeom>
          <a:ln w="34925">
            <a:solidFill>
              <a:srgbClr val="10A37F"/>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3950208" y="2845921"/>
            <a:ext cx="361188" cy="41426"/>
          </a:xfrm>
          <a:prstGeom prst="line">
            <a:avLst/>
          </a:prstGeom>
          <a:ln w="34925">
            <a:solidFill>
              <a:srgbClr val="10A37F"/>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311396" y="2887347"/>
            <a:ext cx="361188" cy="43398"/>
          </a:xfrm>
          <a:prstGeom prst="line">
            <a:avLst/>
          </a:prstGeom>
          <a:ln w="34925">
            <a:solidFill>
              <a:srgbClr val="10A37F"/>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672584" y="2930745"/>
            <a:ext cx="361188" cy="45515"/>
          </a:xfrm>
          <a:prstGeom prst="line">
            <a:avLst/>
          </a:prstGeom>
          <a:ln w="34925">
            <a:solidFill>
              <a:srgbClr val="10A37F"/>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033772" y="2976260"/>
            <a:ext cx="361188" cy="47791"/>
          </a:xfrm>
          <a:prstGeom prst="line">
            <a:avLst/>
          </a:prstGeom>
          <a:ln w="34925">
            <a:solidFill>
              <a:srgbClr val="10A37F"/>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394960" y="3024051"/>
            <a:ext cx="361188" cy="50242"/>
          </a:xfrm>
          <a:prstGeom prst="line">
            <a:avLst/>
          </a:prstGeom>
          <a:ln w="34925">
            <a:solidFill>
              <a:srgbClr val="10A37F"/>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756148" y="3074293"/>
            <a:ext cx="361188" cy="52886"/>
          </a:xfrm>
          <a:prstGeom prst="line">
            <a:avLst/>
          </a:prstGeom>
          <a:ln w="34925">
            <a:solidFill>
              <a:srgbClr val="10A37F"/>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117336" y="3127179"/>
            <a:ext cx="361188" cy="55745"/>
          </a:xfrm>
          <a:prstGeom prst="line">
            <a:avLst/>
          </a:prstGeom>
          <a:ln w="34925">
            <a:solidFill>
              <a:srgbClr val="10A37F"/>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478524" y="3182924"/>
            <a:ext cx="361188" cy="58841"/>
          </a:xfrm>
          <a:prstGeom prst="line">
            <a:avLst/>
          </a:prstGeom>
          <a:ln w="34925">
            <a:solidFill>
              <a:srgbClr val="10A37F"/>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839712" y="3241765"/>
            <a:ext cx="361188" cy="62204"/>
          </a:xfrm>
          <a:prstGeom prst="line">
            <a:avLst/>
          </a:prstGeom>
          <a:ln w="34925">
            <a:solidFill>
              <a:srgbClr val="10A37F"/>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7200900" y="3303969"/>
            <a:ext cx="361188" cy="65863"/>
          </a:xfrm>
          <a:prstGeom prst="line">
            <a:avLst/>
          </a:prstGeom>
          <a:ln w="34925">
            <a:solidFill>
              <a:srgbClr val="10A37F"/>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7562088" y="3369832"/>
            <a:ext cx="361187" cy="69855"/>
          </a:xfrm>
          <a:prstGeom prst="line">
            <a:avLst/>
          </a:prstGeom>
          <a:ln w="34925">
            <a:solidFill>
              <a:srgbClr val="10A37F"/>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7923275" y="3439687"/>
            <a:ext cx="361189" cy="74221"/>
          </a:xfrm>
          <a:prstGeom prst="line">
            <a:avLst/>
          </a:prstGeom>
          <a:ln w="34925">
            <a:solidFill>
              <a:srgbClr val="10A37F"/>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284464" y="3513908"/>
            <a:ext cx="361188" cy="79009"/>
          </a:xfrm>
          <a:prstGeom prst="line">
            <a:avLst/>
          </a:prstGeom>
          <a:ln w="34925">
            <a:solidFill>
              <a:srgbClr val="10A37F"/>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8645652" y="3592917"/>
            <a:ext cx="0" cy="0"/>
          </a:xfrm>
          <a:prstGeom prst="line">
            <a:avLst/>
          </a:prstGeom>
          <a:ln w="34925">
            <a:solidFill>
              <a:srgbClr val="10A37F"/>
            </a:solidFill>
          </a:ln>
          <a:effectLst/>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4427982" y="2844782"/>
            <a:ext cx="128016" cy="128016"/>
          </a:xfrm>
          <a:prstGeom prst="ellipse">
            <a:avLst/>
          </a:prstGeom>
          <a:solidFill>
            <a:srgbClr val="FFFFFF"/>
          </a:solidFill>
          <a:ln>
            <a:solidFill>
              <a:srgbClr val="10A3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400550" y="2597894"/>
            <a:ext cx="822960" cy="219456"/>
          </a:xfrm>
          <a:prstGeom prst="rect">
            <a:avLst/>
          </a:prstGeom>
          <a:noFill/>
        </p:spPr>
        <p:txBody>
          <a:bodyPr wrap="square" lIns="0" rIns="0" tIns="0" bIns="0" anchor="t">
            <a:spAutoFit/>
          </a:bodyPr>
          <a:lstStyle/>
          <a:p>
            <a:pPr algn="l">
              <a:lnSpc>
                <a:spcPct val="118000"/>
              </a:lnSpc>
            </a:pPr>
            <a:r>
              <a:rPr sz="1150" b="1">
                <a:solidFill>
                  <a:srgbClr val="111827"/>
                </a:solidFill>
                <a:latin typeface="Noto Sans KR"/>
              </a:rPr>
              <a:t>52.9%</a:t>
            </a:r>
          </a:p>
        </p:txBody>
      </p:sp>
      <p:sp>
        <p:nvSpPr>
          <p:cNvPr id="48" name="Oval 47"/>
          <p:cNvSpPr/>
          <p:nvPr/>
        </p:nvSpPr>
        <p:spPr>
          <a:xfrm>
            <a:off x="8581644" y="3528909"/>
            <a:ext cx="128016" cy="128016"/>
          </a:xfrm>
          <a:prstGeom prst="ellipse">
            <a:avLst/>
          </a:prstGeom>
          <a:solidFill>
            <a:srgbClr val="10A3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773668" y="3474045"/>
            <a:ext cx="1920240" cy="237744"/>
          </a:xfrm>
          <a:prstGeom prst="rect">
            <a:avLst/>
          </a:prstGeom>
          <a:noFill/>
        </p:spPr>
        <p:txBody>
          <a:bodyPr wrap="square" lIns="0" rIns="0" tIns="0" bIns="0" anchor="t">
            <a:spAutoFit/>
          </a:bodyPr>
          <a:lstStyle/>
          <a:p>
            <a:pPr algn="l">
              <a:lnSpc>
                <a:spcPct val="118000"/>
              </a:lnSpc>
            </a:pPr>
            <a:r>
              <a:rPr sz="1200" b="1">
                <a:solidFill>
                  <a:srgbClr val="111827"/>
                </a:solidFill>
                <a:latin typeface="Noto Sans KR"/>
              </a:rPr>
              <a:t>35.5%</a:t>
            </a:r>
            <a:r>
              <a:rPr sz="1100" b="1">
                <a:solidFill>
                  <a:srgbClr val="10A37F"/>
                </a:solidFill>
                <a:latin typeface="Noto Sans KR"/>
              </a:rPr>
              <a:t>   마진 60%</a:t>
            </a:r>
          </a:p>
        </p:txBody>
      </p:sp>
      <p:cxnSp>
        <p:nvCxnSpPr>
          <p:cNvPr id="50" name="Connector 49"/>
          <p:cNvCxnSpPr/>
          <p:nvPr/>
        </p:nvCxnSpPr>
        <p:spPr>
          <a:xfrm>
            <a:off x="1783080" y="3024051"/>
            <a:ext cx="361188" cy="39988"/>
          </a:xfrm>
          <a:prstGeom prst="line">
            <a:avLst/>
          </a:prstGeom>
          <a:ln w="34925">
            <a:solidFill>
              <a:srgbClr val="4087C7"/>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2144268" y="3064039"/>
            <a:ext cx="361188" cy="41655"/>
          </a:xfrm>
          <a:prstGeom prst="line">
            <a:avLst/>
          </a:prstGeom>
          <a:ln w="34925">
            <a:solidFill>
              <a:srgbClr val="4087C7"/>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2505456" y="3105694"/>
            <a:ext cx="361188" cy="43427"/>
          </a:xfrm>
          <a:prstGeom prst="line">
            <a:avLst/>
          </a:prstGeom>
          <a:ln w="34925">
            <a:solidFill>
              <a:srgbClr val="4087C7"/>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2866644" y="3149121"/>
            <a:ext cx="361188" cy="45315"/>
          </a:xfrm>
          <a:prstGeom prst="line">
            <a:avLst/>
          </a:prstGeom>
          <a:ln w="34925">
            <a:solidFill>
              <a:srgbClr val="4087C7"/>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3227832" y="3194436"/>
            <a:ext cx="361188" cy="47329"/>
          </a:xfrm>
          <a:prstGeom prst="line">
            <a:avLst/>
          </a:prstGeom>
          <a:ln w="34925">
            <a:solidFill>
              <a:srgbClr val="4087C7"/>
            </a:solidFill>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3589020" y="3241765"/>
            <a:ext cx="361188" cy="49481"/>
          </a:xfrm>
          <a:prstGeom prst="line">
            <a:avLst/>
          </a:prstGeom>
          <a:ln w="34925">
            <a:solidFill>
              <a:srgbClr val="4087C7"/>
            </a:solidFill>
          </a:ln>
          <a:effectLst/>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3950208" y="3291246"/>
            <a:ext cx="361188" cy="51782"/>
          </a:xfrm>
          <a:prstGeom prst="line">
            <a:avLst/>
          </a:prstGeom>
          <a:ln w="34925">
            <a:solidFill>
              <a:srgbClr val="4087C7"/>
            </a:solidFill>
          </a:ln>
          <a:effectLst/>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4311396" y="3343028"/>
            <a:ext cx="361188" cy="54247"/>
          </a:xfrm>
          <a:prstGeom prst="line">
            <a:avLst/>
          </a:prstGeom>
          <a:ln w="34925">
            <a:solidFill>
              <a:srgbClr val="4087C7"/>
            </a:solidFill>
          </a:ln>
          <a:effectLst/>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4672584" y="3397275"/>
            <a:ext cx="361188" cy="56894"/>
          </a:xfrm>
          <a:prstGeom prst="line">
            <a:avLst/>
          </a:prstGeom>
          <a:ln w="34925">
            <a:solidFill>
              <a:srgbClr val="4087C7"/>
            </a:solidFill>
          </a:ln>
          <a:effectLst/>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5033772" y="3454169"/>
            <a:ext cx="361188" cy="59739"/>
          </a:xfrm>
          <a:prstGeom prst="line">
            <a:avLst/>
          </a:prstGeom>
          <a:ln w="34925">
            <a:solidFill>
              <a:srgbClr val="4087C7"/>
            </a:solidFill>
          </a:ln>
          <a:effectLst/>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5394960" y="3513908"/>
            <a:ext cx="361188" cy="62802"/>
          </a:xfrm>
          <a:prstGeom prst="line">
            <a:avLst/>
          </a:prstGeom>
          <a:ln w="34925">
            <a:solidFill>
              <a:srgbClr val="4087C7"/>
            </a:solidFill>
          </a:ln>
          <a:effectLst/>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5756148" y="3576710"/>
            <a:ext cx="361188" cy="66108"/>
          </a:xfrm>
          <a:prstGeom prst="line">
            <a:avLst/>
          </a:prstGeom>
          <a:ln w="34925">
            <a:solidFill>
              <a:srgbClr val="4087C7"/>
            </a:solidFill>
          </a:ln>
          <a:effectLst/>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6117336" y="3642818"/>
            <a:ext cx="361188" cy="69681"/>
          </a:xfrm>
          <a:prstGeom prst="line">
            <a:avLst/>
          </a:prstGeom>
          <a:ln w="34925">
            <a:solidFill>
              <a:srgbClr val="4087C7"/>
            </a:solidFill>
          </a:ln>
          <a:effectLst/>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6478524" y="3712499"/>
            <a:ext cx="361188" cy="73552"/>
          </a:xfrm>
          <a:prstGeom prst="line">
            <a:avLst/>
          </a:prstGeom>
          <a:ln w="34925">
            <a:solidFill>
              <a:srgbClr val="4087C7"/>
            </a:solidFill>
          </a:ln>
          <a:effectLst/>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6839712" y="3786051"/>
            <a:ext cx="361188" cy="77755"/>
          </a:xfrm>
          <a:prstGeom prst="line">
            <a:avLst/>
          </a:prstGeom>
          <a:ln w="34925">
            <a:solidFill>
              <a:srgbClr val="4087C7"/>
            </a:solidFill>
          </a:ln>
          <a:effectLst/>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7200900" y="3863806"/>
            <a:ext cx="361188" cy="82329"/>
          </a:xfrm>
          <a:prstGeom prst="line">
            <a:avLst/>
          </a:prstGeom>
          <a:ln w="34925">
            <a:solidFill>
              <a:srgbClr val="4087C7"/>
            </a:solidFill>
          </a:ln>
          <a:effectLst/>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7562088" y="3946135"/>
            <a:ext cx="361187" cy="87319"/>
          </a:xfrm>
          <a:prstGeom prst="line">
            <a:avLst/>
          </a:prstGeom>
          <a:ln w="34925">
            <a:solidFill>
              <a:srgbClr val="4087C7"/>
            </a:solidFill>
          </a:ln>
          <a:effectLst/>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7923275" y="4033454"/>
            <a:ext cx="361189" cy="92776"/>
          </a:xfrm>
          <a:prstGeom prst="line">
            <a:avLst/>
          </a:prstGeom>
          <a:ln w="34925">
            <a:solidFill>
              <a:srgbClr val="4087C7"/>
            </a:solidFill>
          </a:ln>
          <a:effectLst/>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8284464" y="4126230"/>
            <a:ext cx="361188" cy="98761"/>
          </a:xfrm>
          <a:prstGeom prst="line">
            <a:avLst/>
          </a:prstGeom>
          <a:ln w="34925">
            <a:solidFill>
              <a:srgbClr val="4087C7"/>
            </a:solidFill>
          </a:ln>
          <a:effectLst/>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8645652" y="4224991"/>
            <a:ext cx="0" cy="0"/>
          </a:xfrm>
          <a:prstGeom prst="line">
            <a:avLst/>
          </a:prstGeom>
          <a:ln w="34925">
            <a:solidFill>
              <a:srgbClr val="4087C7"/>
            </a:solidFill>
          </a:ln>
          <a:effectLst/>
        </p:spPr>
        <p:style>
          <a:lnRef idx="2">
            <a:schemeClr val="accent1"/>
          </a:lnRef>
          <a:fillRef idx="0">
            <a:schemeClr val="accent1"/>
          </a:fillRef>
          <a:effectRef idx="1">
            <a:schemeClr val="accent1"/>
          </a:effectRef>
          <a:fontRef idx="minor">
            <a:schemeClr val="tx1"/>
          </a:fontRef>
        </p:style>
      </p:cxnSp>
      <p:sp>
        <p:nvSpPr>
          <p:cNvPr id="70" name="Oval 69"/>
          <p:cNvSpPr/>
          <p:nvPr/>
        </p:nvSpPr>
        <p:spPr>
          <a:xfrm>
            <a:off x="4427982" y="3305824"/>
            <a:ext cx="128016" cy="128016"/>
          </a:xfrm>
          <a:prstGeom prst="ellipse">
            <a:avLst/>
          </a:prstGeom>
          <a:solidFill>
            <a:srgbClr val="FFFFFF"/>
          </a:solidFill>
          <a:ln>
            <a:solidFill>
              <a:srgbClr val="4087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400550" y="3058936"/>
            <a:ext cx="822960" cy="219456"/>
          </a:xfrm>
          <a:prstGeom prst="rect">
            <a:avLst/>
          </a:prstGeom>
          <a:noFill/>
        </p:spPr>
        <p:txBody>
          <a:bodyPr wrap="square" lIns="0" rIns="0" tIns="0" bIns="0" anchor="t">
            <a:spAutoFit/>
          </a:bodyPr>
          <a:lstStyle/>
          <a:p>
            <a:pPr algn="l">
              <a:lnSpc>
                <a:spcPct val="118000"/>
              </a:lnSpc>
            </a:pPr>
            <a:r>
              <a:rPr sz="1150" b="1">
                <a:solidFill>
                  <a:srgbClr val="111827"/>
                </a:solidFill>
                <a:latin typeface="Noto Sans KR"/>
              </a:rPr>
              <a:t>41.2%</a:t>
            </a:r>
          </a:p>
        </p:txBody>
      </p:sp>
      <p:sp>
        <p:nvSpPr>
          <p:cNvPr id="72" name="Oval 71"/>
          <p:cNvSpPr/>
          <p:nvPr/>
        </p:nvSpPr>
        <p:spPr>
          <a:xfrm>
            <a:off x="8581644" y="4160983"/>
            <a:ext cx="128016" cy="128016"/>
          </a:xfrm>
          <a:prstGeom prst="ellipse">
            <a:avLst/>
          </a:prstGeom>
          <a:solidFill>
            <a:srgbClr val="408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773668" y="4106119"/>
            <a:ext cx="1920240" cy="237744"/>
          </a:xfrm>
          <a:prstGeom prst="rect">
            <a:avLst/>
          </a:prstGeom>
          <a:noFill/>
        </p:spPr>
        <p:txBody>
          <a:bodyPr wrap="square" lIns="0" rIns="0" tIns="0" bIns="0" anchor="t">
            <a:spAutoFit/>
          </a:bodyPr>
          <a:lstStyle/>
          <a:p>
            <a:pPr algn="l">
              <a:lnSpc>
                <a:spcPct val="118000"/>
              </a:lnSpc>
            </a:pPr>
            <a:r>
              <a:rPr sz="1200" b="1">
                <a:solidFill>
                  <a:srgbClr val="111827"/>
                </a:solidFill>
                <a:latin typeface="Noto Sans KR"/>
              </a:rPr>
              <a:t>19.4%</a:t>
            </a:r>
            <a:r>
              <a:rPr sz="1100" b="1">
                <a:solidFill>
                  <a:srgbClr val="4087C7"/>
                </a:solidFill>
                <a:latin typeface="Noto Sans KR"/>
              </a:rPr>
              <a:t>   마진 50%</a:t>
            </a:r>
          </a:p>
        </p:txBody>
      </p:sp>
      <p:cxnSp>
        <p:nvCxnSpPr>
          <p:cNvPr id="74" name="Connector 73"/>
          <p:cNvCxnSpPr/>
          <p:nvPr/>
        </p:nvCxnSpPr>
        <p:spPr>
          <a:xfrm>
            <a:off x="1783080" y="3415937"/>
            <a:ext cx="361188" cy="47986"/>
          </a:xfrm>
          <a:prstGeom prst="line">
            <a:avLst/>
          </a:prstGeom>
          <a:ln w="34925">
            <a:solidFill>
              <a:srgbClr val="FF7A45"/>
            </a:solidFill>
          </a:ln>
          <a:effectLst/>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2144268" y="3463923"/>
            <a:ext cx="361188" cy="49985"/>
          </a:xfrm>
          <a:prstGeom prst="line">
            <a:avLst/>
          </a:prstGeom>
          <a:ln w="34925">
            <a:solidFill>
              <a:srgbClr val="FF7A45"/>
            </a:solidFill>
          </a:ln>
          <a:effectLst/>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2505456" y="3513908"/>
            <a:ext cx="361188" cy="52113"/>
          </a:xfrm>
          <a:prstGeom prst="line">
            <a:avLst/>
          </a:prstGeom>
          <a:ln w="34925">
            <a:solidFill>
              <a:srgbClr val="FF7A45"/>
            </a:solidFill>
          </a:ln>
          <a:effectLst/>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2866644" y="3566021"/>
            <a:ext cx="361188" cy="54378"/>
          </a:xfrm>
          <a:prstGeom prst="line">
            <a:avLst/>
          </a:prstGeom>
          <a:ln w="34925">
            <a:solidFill>
              <a:srgbClr val="FF7A45"/>
            </a:solidFill>
          </a:ln>
          <a:effectLst/>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3227832" y="3620399"/>
            <a:ext cx="361188" cy="56795"/>
          </a:xfrm>
          <a:prstGeom prst="line">
            <a:avLst/>
          </a:prstGeom>
          <a:ln w="34925">
            <a:solidFill>
              <a:srgbClr val="FF7A45"/>
            </a:solidFill>
          </a:ln>
          <a:effectLst/>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3589020" y="3677194"/>
            <a:ext cx="361188" cy="59376"/>
          </a:xfrm>
          <a:prstGeom prst="line">
            <a:avLst/>
          </a:prstGeom>
          <a:ln w="34925">
            <a:solidFill>
              <a:srgbClr val="FF7A45"/>
            </a:solidFill>
          </a:ln>
          <a:effectLst/>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3950208" y="3736570"/>
            <a:ext cx="361188" cy="62139"/>
          </a:xfrm>
          <a:prstGeom prst="line">
            <a:avLst/>
          </a:prstGeom>
          <a:ln w="34925">
            <a:solidFill>
              <a:srgbClr val="FF7A45"/>
            </a:solidFill>
          </a:ln>
          <a:effectLst/>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4311396" y="3798709"/>
            <a:ext cx="361188" cy="65097"/>
          </a:xfrm>
          <a:prstGeom prst="line">
            <a:avLst/>
          </a:prstGeom>
          <a:ln w="34925">
            <a:solidFill>
              <a:srgbClr val="FF7A45"/>
            </a:solidFill>
          </a:ln>
          <a:effectLst/>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4672584" y="3863806"/>
            <a:ext cx="361188" cy="68273"/>
          </a:xfrm>
          <a:prstGeom prst="line">
            <a:avLst/>
          </a:prstGeom>
          <a:ln w="34925">
            <a:solidFill>
              <a:srgbClr val="FF7A45"/>
            </a:solidFill>
          </a:ln>
          <a:effectLst/>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5033772" y="3932079"/>
            <a:ext cx="361188" cy="71686"/>
          </a:xfrm>
          <a:prstGeom prst="line">
            <a:avLst/>
          </a:prstGeom>
          <a:ln w="34925">
            <a:solidFill>
              <a:srgbClr val="FF7A45"/>
            </a:solidFill>
          </a:ln>
          <a:effectLst/>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5394960" y="4003765"/>
            <a:ext cx="361188" cy="75363"/>
          </a:xfrm>
          <a:prstGeom prst="line">
            <a:avLst/>
          </a:prstGeom>
          <a:ln w="34925">
            <a:solidFill>
              <a:srgbClr val="FF7A45"/>
            </a:solidFill>
          </a:ln>
          <a:effectLst/>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5756148" y="4079128"/>
            <a:ext cx="361188" cy="79329"/>
          </a:xfrm>
          <a:prstGeom prst="line">
            <a:avLst/>
          </a:prstGeom>
          <a:ln w="34925">
            <a:solidFill>
              <a:srgbClr val="FF7A45"/>
            </a:solidFill>
          </a:ln>
          <a:effectLst/>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6117336" y="4158457"/>
            <a:ext cx="361188" cy="83617"/>
          </a:xfrm>
          <a:prstGeom prst="line">
            <a:avLst/>
          </a:prstGeom>
          <a:ln w="34925">
            <a:solidFill>
              <a:srgbClr val="FF7A45"/>
            </a:solidFill>
          </a:ln>
          <a:effectLst/>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6478524" y="4242074"/>
            <a:ext cx="361188" cy="88263"/>
          </a:xfrm>
          <a:prstGeom prst="line">
            <a:avLst/>
          </a:prstGeom>
          <a:ln w="34925">
            <a:solidFill>
              <a:srgbClr val="FF7A45"/>
            </a:solidFill>
          </a:ln>
          <a:effectLst/>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6839712" y="4330337"/>
            <a:ext cx="361188" cy="93306"/>
          </a:xfrm>
          <a:prstGeom prst="line">
            <a:avLst/>
          </a:prstGeom>
          <a:ln w="34925">
            <a:solidFill>
              <a:srgbClr val="FF7A45"/>
            </a:solidFill>
          </a:ln>
          <a:effectLst/>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7200900" y="4423643"/>
            <a:ext cx="361188" cy="98794"/>
          </a:xfrm>
          <a:prstGeom prst="line">
            <a:avLst/>
          </a:prstGeom>
          <a:ln w="34925">
            <a:solidFill>
              <a:srgbClr val="FF7A45"/>
            </a:solidFill>
          </a:ln>
          <a:effectLst/>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7562088" y="4522437"/>
            <a:ext cx="361187" cy="104783"/>
          </a:xfrm>
          <a:prstGeom prst="line">
            <a:avLst/>
          </a:prstGeom>
          <a:ln w="34925">
            <a:solidFill>
              <a:srgbClr val="FF7A45"/>
            </a:solidFill>
          </a:ln>
          <a:effectLst/>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7923275" y="4627220"/>
            <a:ext cx="361189" cy="111331"/>
          </a:xfrm>
          <a:prstGeom prst="line">
            <a:avLst/>
          </a:prstGeom>
          <a:ln w="34925">
            <a:solidFill>
              <a:srgbClr val="FF7A45"/>
            </a:solidFill>
          </a:ln>
          <a:effectLst/>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8284464" y="4738551"/>
            <a:ext cx="361188" cy="118514"/>
          </a:xfrm>
          <a:prstGeom prst="line">
            <a:avLst/>
          </a:prstGeom>
          <a:ln w="34925">
            <a:solidFill>
              <a:srgbClr val="FF7A45"/>
            </a:solidFill>
          </a:ln>
          <a:effectLst/>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8645652" y="4857065"/>
            <a:ext cx="0" cy="0"/>
          </a:xfrm>
          <a:prstGeom prst="line">
            <a:avLst/>
          </a:prstGeom>
          <a:ln w="34925">
            <a:solidFill>
              <a:srgbClr val="FF7A45"/>
            </a:solidFill>
          </a:ln>
          <a:effectLst/>
        </p:spPr>
        <p:style>
          <a:lnRef idx="2">
            <a:schemeClr val="accent1"/>
          </a:lnRef>
          <a:fillRef idx="0">
            <a:schemeClr val="accent1"/>
          </a:fillRef>
          <a:effectRef idx="1">
            <a:schemeClr val="accent1"/>
          </a:effectRef>
          <a:fontRef idx="minor">
            <a:schemeClr val="tx1"/>
          </a:fontRef>
        </p:style>
      </p:cxnSp>
      <p:sp>
        <p:nvSpPr>
          <p:cNvPr id="94" name="Oval 93"/>
          <p:cNvSpPr/>
          <p:nvPr/>
        </p:nvSpPr>
        <p:spPr>
          <a:xfrm>
            <a:off x="4427982" y="3766866"/>
            <a:ext cx="128016" cy="128016"/>
          </a:xfrm>
          <a:prstGeom prst="ellipse">
            <a:avLst/>
          </a:prstGeom>
          <a:solidFill>
            <a:srgbClr val="FFFFFF"/>
          </a:solidFill>
          <a:ln>
            <a:solidFill>
              <a:srgbClr val="FF7A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400550" y="3519978"/>
            <a:ext cx="822960" cy="219456"/>
          </a:xfrm>
          <a:prstGeom prst="rect">
            <a:avLst/>
          </a:prstGeom>
          <a:noFill/>
        </p:spPr>
        <p:txBody>
          <a:bodyPr wrap="square" lIns="0" rIns="0" tIns="0" bIns="0" anchor="t">
            <a:spAutoFit/>
          </a:bodyPr>
          <a:lstStyle/>
          <a:p>
            <a:pPr algn="l">
              <a:lnSpc>
                <a:spcPct val="118000"/>
              </a:lnSpc>
            </a:pPr>
            <a:r>
              <a:rPr sz="1150" b="1">
                <a:solidFill>
                  <a:srgbClr val="111827"/>
                </a:solidFill>
                <a:latin typeface="Noto Sans KR"/>
              </a:rPr>
              <a:t>29.4%</a:t>
            </a:r>
          </a:p>
        </p:txBody>
      </p:sp>
      <p:sp>
        <p:nvSpPr>
          <p:cNvPr id="96" name="Oval 95"/>
          <p:cNvSpPr/>
          <p:nvPr/>
        </p:nvSpPr>
        <p:spPr>
          <a:xfrm>
            <a:off x="8581644" y="4793057"/>
            <a:ext cx="128016" cy="128016"/>
          </a:xfrm>
          <a:prstGeom prst="ellipse">
            <a:avLst/>
          </a:prstGeom>
          <a:solidFill>
            <a:srgbClr val="FF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8773668" y="4738193"/>
            <a:ext cx="1920240" cy="237744"/>
          </a:xfrm>
          <a:prstGeom prst="rect">
            <a:avLst/>
          </a:prstGeom>
          <a:noFill/>
        </p:spPr>
        <p:txBody>
          <a:bodyPr wrap="square" lIns="0" rIns="0" tIns="0" bIns="0" anchor="t">
            <a:spAutoFit/>
          </a:bodyPr>
          <a:lstStyle/>
          <a:p>
            <a:pPr algn="l">
              <a:lnSpc>
                <a:spcPct val="118000"/>
              </a:lnSpc>
            </a:pPr>
            <a:r>
              <a:rPr sz="1200" b="1">
                <a:solidFill>
                  <a:srgbClr val="111827"/>
                </a:solidFill>
                <a:latin typeface="Noto Sans KR"/>
              </a:rPr>
              <a:t>3.2%</a:t>
            </a:r>
            <a:r>
              <a:rPr sz="1100" b="1">
                <a:solidFill>
                  <a:srgbClr val="FF7A45"/>
                </a:solidFill>
                <a:latin typeface="Noto Sans KR"/>
              </a:rPr>
              <a:t>   마진 40%</a:t>
            </a:r>
          </a:p>
        </p:txBody>
      </p:sp>
      <p:sp>
        <p:nvSpPr>
          <p:cNvPr id="98" name="TextBox 97"/>
          <p:cNvSpPr txBox="1"/>
          <p:nvPr/>
        </p:nvSpPr>
        <p:spPr>
          <a:xfrm>
            <a:off x="3943350" y="5312664"/>
            <a:ext cx="1097280" cy="201168"/>
          </a:xfrm>
          <a:prstGeom prst="rect">
            <a:avLst/>
          </a:prstGeom>
          <a:noFill/>
        </p:spPr>
        <p:txBody>
          <a:bodyPr wrap="square" lIns="0" rIns="0" tIns="0" bIns="0" anchor="t">
            <a:spAutoFit/>
          </a:bodyPr>
          <a:lstStyle/>
          <a:p>
            <a:pPr algn="ctr">
              <a:lnSpc>
                <a:spcPct val="118000"/>
              </a:lnSpc>
            </a:pPr>
            <a:r>
              <a:rPr sz="1050" b="1">
                <a:solidFill>
                  <a:srgbClr val="2F6FAD"/>
                </a:solidFill>
                <a:latin typeface="Noto Sans KR"/>
              </a:rPr>
              <a:t>평균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66928"/>
            <a:ext cx="7315200" cy="274320"/>
          </a:xfrm>
          <a:prstGeom prst="rect">
            <a:avLst/>
          </a:prstGeom>
          <a:noFill/>
        </p:spPr>
        <p:txBody>
          <a:bodyPr wrap="square" lIns="0" rIns="0" tIns="0" bIns="0" anchor="t">
            <a:spAutoFit/>
          </a:bodyPr>
          <a:lstStyle/>
          <a:p>
            <a:pPr algn="l">
              <a:lnSpc>
                <a:spcPct val="118000"/>
              </a:lnSpc>
            </a:pPr>
            <a:r>
              <a:rPr sz="1150" b="1">
                <a:solidFill>
                  <a:srgbClr val="2F6FAD"/>
                </a:solidFill>
                <a:latin typeface="Noto Sans KR"/>
              </a:rPr>
              <a:t>MVP 범위</a:t>
            </a:r>
          </a:p>
        </p:txBody>
      </p:sp>
      <p:sp>
        <p:nvSpPr>
          <p:cNvPr id="3" name="TextBox 2"/>
          <p:cNvSpPr txBox="1"/>
          <p:nvPr/>
        </p:nvSpPr>
        <p:spPr>
          <a:xfrm>
            <a:off x="822960" y="868680"/>
            <a:ext cx="10515600" cy="1097280"/>
          </a:xfrm>
          <a:prstGeom prst="rect">
            <a:avLst/>
          </a:prstGeom>
          <a:noFill/>
        </p:spPr>
        <p:txBody>
          <a:bodyPr wrap="square" lIns="0" rIns="0" tIns="0" bIns="0" anchor="t">
            <a:spAutoFit/>
          </a:bodyPr>
          <a:lstStyle/>
          <a:p>
            <a:pPr algn="l">
              <a:lnSpc>
                <a:spcPct val="115000"/>
              </a:lnSpc>
            </a:pPr>
            <a:r>
              <a:rPr sz="2700" b="1">
                <a:solidFill>
                  <a:srgbClr val="111827"/>
                </a:solidFill>
                <a:latin typeface="Noto Sans KR"/>
              </a:rPr>
              <a:t>그래서 시작은 간단하게 —</a:t>
            </a:r>
          </a:p>
          <a:p>
            <a:pPr algn="l">
              <a:lnSpc>
                <a:spcPct val="115000"/>
              </a:lnSpc>
              <a:spcBef>
                <a:spcPts val="0"/>
              </a:spcBef>
            </a:pPr>
            <a:r>
              <a:rPr sz="2700" b="1">
                <a:solidFill>
                  <a:srgbClr val="111827"/>
                </a:solidFill>
                <a:latin typeface="Noto Sans KR"/>
              </a:rPr>
              <a:t>두 전략을 검증하는 기능만 담습니다.</a:t>
            </a:r>
          </a:p>
        </p:txBody>
      </p:sp>
      <p:sp>
        <p:nvSpPr>
          <p:cNvPr id="4" name="Rectangle 3"/>
          <p:cNvSpPr/>
          <p:nvPr/>
        </p:nvSpPr>
        <p:spPr>
          <a:xfrm>
            <a:off x="10981944" y="5888736"/>
            <a:ext cx="384048" cy="41148"/>
          </a:xfrm>
          <a:prstGeom prst="rect">
            <a:avLst/>
          </a:prstGeom>
          <a:solidFill>
            <a:srgbClr val="408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0" y="6007608"/>
            <a:ext cx="8622792" cy="365760"/>
          </a:xfrm>
          <a:prstGeom prst="rect">
            <a:avLst/>
          </a:prstGeom>
          <a:noFill/>
        </p:spPr>
        <p:txBody>
          <a:bodyPr wrap="square" lIns="0" rIns="0" tIns="0" bIns="0" anchor="t">
            <a:spAutoFit/>
          </a:bodyPr>
          <a:lstStyle/>
          <a:p>
            <a:pPr algn="r">
              <a:lnSpc>
                <a:spcPct val="118000"/>
              </a:lnSpc>
            </a:pPr>
            <a:r>
              <a:rPr sz="1400" b="1">
                <a:solidFill>
                  <a:srgbClr val="2F6FAD"/>
                </a:solidFill>
                <a:latin typeface="Noto Sans KR"/>
              </a:rPr>
              <a:t>구현 2~3주 · 검증 9/28~9/30 — 상품 수만 확정되면 바로 착수합니다.</a:t>
            </a:r>
          </a:p>
        </p:txBody>
      </p:sp>
      <p:sp>
        <p:nvSpPr>
          <p:cNvPr id="6" name="TextBox 5"/>
          <p:cNvSpPr txBox="1"/>
          <p:nvPr/>
        </p:nvSpPr>
        <p:spPr>
          <a:xfrm>
            <a:off x="10058400" y="6446520"/>
            <a:ext cx="1307591" cy="182880"/>
          </a:xfrm>
          <a:prstGeom prst="rect">
            <a:avLst/>
          </a:prstGeom>
          <a:noFill/>
        </p:spPr>
        <p:txBody>
          <a:bodyPr wrap="square" lIns="0" rIns="0" tIns="0" bIns="0" anchor="t">
            <a:spAutoFit/>
          </a:bodyPr>
          <a:lstStyle/>
          <a:p>
            <a:pPr algn="r">
              <a:lnSpc>
                <a:spcPct val="118000"/>
              </a:lnSpc>
            </a:pPr>
            <a:r>
              <a:rPr sz="900" b="0">
                <a:solidFill>
                  <a:srgbClr val="9CA3AF"/>
                </a:solidFill>
                <a:latin typeface="Noto Sans KR"/>
              </a:rPr>
              <a:t>11 / 16</a:t>
            </a:r>
          </a:p>
        </p:txBody>
      </p:sp>
      <p:sp>
        <p:nvSpPr>
          <p:cNvPr id="7" name="Rounded Rectangle 6"/>
          <p:cNvSpPr/>
          <p:nvPr/>
        </p:nvSpPr>
        <p:spPr>
          <a:xfrm>
            <a:off x="822960" y="2057400"/>
            <a:ext cx="5760720" cy="3657600"/>
          </a:xfrm>
          <a:prstGeom prst="roundRect">
            <a:avLst>
              <a:gd name="adj" fmla="val 4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212848"/>
            <a:ext cx="5486400" cy="274320"/>
          </a:xfrm>
          <a:prstGeom prst="rect">
            <a:avLst/>
          </a:prstGeom>
          <a:noFill/>
        </p:spPr>
        <p:txBody>
          <a:bodyPr wrap="square" lIns="0" rIns="0" tIns="0" bIns="0" anchor="t">
            <a:spAutoFit/>
          </a:bodyPr>
          <a:lstStyle/>
          <a:p>
            <a:pPr algn="l">
              <a:lnSpc>
                <a:spcPct val="118000"/>
              </a:lnSpc>
            </a:pPr>
            <a:r>
              <a:rPr sz="1250" b="1">
                <a:solidFill>
                  <a:srgbClr val="2F6FAD"/>
                </a:solidFill>
                <a:latin typeface="Noto Sans KR"/>
              </a:rPr>
              <a:t>포함 (Must)</a:t>
            </a:r>
          </a:p>
        </p:txBody>
      </p:sp>
      <p:sp>
        <p:nvSpPr>
          <p:cNvPr id="9" name="TextBox 8"/>
          <p:cNvSpPr txBox="1"/>
          <p:nvPr/>
        </p:nvSpPr>
        <p:spPr>
          <a:xfrm>
            <a:off x="1097280" y="2606040"/>
            <a:ext cx="822960" cy="384048"/>
          </a:xfrm>
          <a:prstGeom prst="rect">
            <a:avLst/>
          </a:prstGeom>
          <a:noFill/>
        </p:spPr>
        <p:txBody>
          <a:bodyPr wrap="square" lIns="0" rIns="0" tIns="0" bIns="0" anchor="ctr">
            <a:spAutoFit/>
          </a:bodyPr>
          <a:lstStyle/>
          <a:p>
            <a:pPr algn="l">
              <a:lnSpc>
                <a:spcPct val="118000"/>
              </a:lnSpc>
            </a:pPr>
            <a:r>
              <a:rPr sz="1150" b="1">
                <a:solidFill>
                  <a:srgbClr val="2F6FAD"/>
                </a:solidFill>
                <a:latin typeface="Noto Sans KR"/>
              </a:rPr>
              <a:t>전략 1</a:t>
            </a:r>
          </a:p>
        </p:txBody>
      </p:sp>
      <p:sp>
        <p:nvSpPr>
          <p:cNvPr id="10" name="TextBox 9"/>
          <p:cNvSpPr txBox="1"/>
          <p:nvPr/>
        </p:nvSpPr>
        <p:spPr>
          <a:xfrm>
            <a:off x="1965960" y="2606040"/>
            <a:ext cx="4572000" cy="384048"/>
          </a:xfrm>
          <a:prstGeom prst="rect">
            <a:avLst/>
          </a:prstGeom>
          <a:noFill/>
        </p:spPr>
        <p:txBody>
          <a:bodyPr wrap="square" lIns="0" rIns="0" tIns="0" bIns="0" anchor="ctr">
            <a:spAutoFit/>
          </a:bodyPr>
          <a:lstStyle/>
          <a:p>
            <a:pPr algn="l">
              <a:lnSpc>
                <a:spcPct val="118000"/>
              </a:lnSpc>
            </a:pPr>
            <a:r>
              <a:rPr sz="1500" b="1">
                <a:solidFill>
                  <a:srgbClr val="111827"/>
                </a:solidFill>
                <a:latin typeface="Noto Sans KR"/>
              </a:rPr>
              <a:t>오전장·오후장 가격 확인</a:t>
            </a:r>
          </a:p>
        </p:txBody>
      </p:sp>
      <p:sp>
        <p:nvSpPr>
          <p:cNvPr id="11" name="TextBox 10"/>
          <p:cNvSpPr txBox="1"/>
          <p:nvPr/>
        </p:nvSpPr>
        <p:spPr>
          <a:xfrm>
            <a:off x="1097280" y="3108960"/>
            <a:ext cx="822960" cy="384048"/>
          </a:xfrm>
          <a:prstGeom prst="rect">
            <a:avLst/>
          </a:prstGeom>
          <a:noFill/>
        </p:spPr>
        <p:txBody>
          <a:bodyPr wrap="square" lIns="0" rIns="0" tIns="0" bIns="0" anchor="ctr">
            <a:spAutoFit/>
          </a:bodyPr>
          <a:lstStyle/>
          <a:p>
            <a:pPr algn="l">
              <a:lnSpc>
                <a:spcPct val="118000"/>
              </a:lnSpc>
            </a:pPr>
            <a:r>
              <a:rPr sz="1150" b="1">
                <a:solidFill>
                  <a:srgbClr val="C2410C"/>
                </a:solidFill>
                <a:latin typeface="Noto Sans KR"/>
              </a:rPr>
              <a:t>전략 2</a:t>
            </a:r>
          </a:p>
        </p:txBody>
      </p:sp>
      <p:sp>
        <p:nvSpPr>
          <p:cNvPr id="12" name="TextBox 11"/>
          <p:cNvSpPr txBox="1"/>
          <p:nvPr/>
        </p:nvSpPr>
        <p:spPr>
          <a:xfrm>
            <a:off x="1965960" y="3108960"/>
            <a:ext cx="4572000" cy="384048"/>
          </a:xfrm>
          <a:prstGeom prst="rect">
            <a:avLst/>
          </a:prstGeom>
          <a:noFill/>
        </p:spPr>
        <p:txBody>
          <a:bodyPr wrap="square" lIns="0" rIns="0" tIns="0" bIns="0" anchor="ctr">
            <a:spAutoFit/>
          </a:bodyPr>
          <a:lstStyle/>
          <a:p>
            <a:pPr algn="l">
              <a:lnSpc>
                <a:spcPct val="118000"/>
              </a:lnSpc>
            </a:pPr>
            <a:r>
              <a:rPr sz="1500" b="1">
                <a:solidFill>
                  <a:srgbClr val="111827"/>
                </a:solidFill>
                <a:latin typeface="Noto Sans KR"/>
              </a:rPr>
              <a:t>가격 잠금 (오전장 하루 1회)</a:t>
            </a:r>
          </a:p>
        </p:txBody>
      </p:sp>
      <p:sp>
        <p:nvSpPr>
          <p:cNvPr id="13" name="TextBox 12"/>
          <p:cNvSpPr txBox="1"/>
          <p:nvPr/>
        </p:nvSpPr>
        <p:spPr>
          <a:xfrm>
            <a:off x="1097280" y="3611880"/>
            <a:ext cx="822960" cy="384048"/>
          </a:xfrm>
          <a:prstGeom prst="rect">
            <a:avLst/>
          </a:prstGeom>
          <a:noFill/>
        </p:spPr>
        <p:txBody>
          <a:bodyPr wrap="square" lIns="0" rIns="0" tIns="0" bIns="0" anchor="ctr">
            <a:spAutoFit/>
          </a:bodyPr>
          <a:lstStyle/>
          <a:p>
            <a:pPr algn="l">
              <a:lnSpc>
                <a:spcPct val="118000"/>
              </a:lnSpc>
            </a:pPr>
            <a:r>
              <a:rPr sz="1150" b="1">
                <a:solidFill>
                  <a:srgbClr val="C2410C"/>
                </a:solidFill>
                <a:latin typeface="Noto Sans KR"/>
              </a:rPr>
              <a:t>전략 2</a:t>
            </a:r>
          </a:p>
        </p:txBody>
      </p:sp>
      <p:sp>
        <p:nvSpPr>
          <p:cNvPr id="14" name="TextBox 13"/>
          <p:cNvSpPr txBox="1"/>
          <p:nvPr/>
        </p:nvSpPr>
        <p:spPr>
          <a:xfrm>
            <a:off x="1965960" y="3611880"/>
            <a:ext cx="4572000" cy="384048"/>
          </a:xfrm>
          <a:prstGeom prst="rect">
            <a:avLst/>
          </a:prstGeom>
          <a:noFill/>
        </p:spPr>
        <p:txBody>
          <a:bodyPr wrap="square" lIns="0" rIns="0" tIns="0" bIns="0" anchor="ctr">
            <a:spAutoFit/>
          </a:bodyPr>
          <a:lstStyle/>
          <a:p>
            <a:pPr algn="l">
              <a:lnSpc>
                <a:spcPct val="118000"/>
              </a:lnSpc>
            </a:pPr>
            <a:r>
              <a:rPr sz="1500" b="1">
                <a:solidFill>
                  <a:srgbClr val="111827"/>
                </a:solidFill>
                <a:latin typeface="Noto Sans KR"/>
              </a:rPr>
              <a:t>오늘의 보상 고르기 (안정형 / 공격형)</a:t>
            </a:r>
          </a:p>
        </p:txBody>
      </p:sp>
      <p:sp>
        <p:nvSpPr>
          <p:cNvPr id="15" name="TextBox 14"/>
          <p:cNvSpPr txBox="1"/>
          <p:nvPr/>
        </p:nvSpPr>
        <p:spPr>
          <a:xfrm>
            <a:off x="1097280" y="4114800"/>
            <a:ext cx="822960" cy="384048"/>
          </a:xfrm>
          <a:prstGeom prst="rect">
            <a:avLst/>
          </a:prstGeom>
          <a:noFill/>
        </p:spPr>
        <p:txBody>
          <a:bodyPr wrap="square" lIns="0" rIns="0" tIns="0" bIns="0" anchor="ctr">
            <a:spAutoFit/>
          </a:bodyPr>
          <a:lstStyle/>
          <a:p>
            <a:pPr algn="l">
              <a:lnSpc>
                <a:spcPct val="118000"/>
              </a:lnSpc>
            </a:pPr>
            <a:r>
              <a:rPr sz="1150" b="1">
                <a:solidFill>
                  <a:srgbClr val="4B5563"/>
                </a:solidFill>
                <a:latin typeface="Noto Sans KR"/>
              </a:rPr>
              <a:t>전환</a:t>
            </a:r>
          </a:p>
        </p:txBody>
      </p:sp>
      <p:sp>
        <p:nvSpPr>
          <p:cNvPr id="16" name="TextBox 15"/>
          <p:cNvSpPr txBox="1"/>
          <p:nvPr/>
        </p:nvSpPr>
        <p:spPr>
          <a:xfrm>
            <a:off x="1965960" y="4114800"/>
            <a:ext cx="4572000" cy="384048"/>
          </a:xfrm>
          <a:prstGeom prst="rect">
            <a:avLst/>
          </a:prstGeom>
          <a:noFill/>
        </p:spPr>
        <p:txBody>
          <a:bodyPr wrap="square" lIns="0" rIns="0" tIns="0" bIns="0" anchor="ctr">
            <a:spAutoFit/>
          </a:bodyPr>
          <a:lstStyle/>
          <a:p>
            <a:pPr algn="l">
              <a:lnSpc>
                <a:spcPct val="118000"/>
              </a:lnSpc>
            </a:pPr>
            <a:r>
              <a:rPr sz="1500" b="1">
                <a:solidFill>
                  <a:srgbClr val="111827"/>
                </a:solidFill>
                <a:latin typeface="Noto Sans KR"/>
              </a:rPr>
              <a:t>자사몰 이동·구매 (원클릭 지향)</a:t>
            </a:r>
          </a:p>
        </p:txBody>
      </p:sp>
      <p:sp>
        <p:nvSpPr>
          <p:cNvPr id="17" name="TextBox 16"/>
          <p:cNvSpPr txBox="1"/>
          <p:nvPr/>
        </p:nvSpPr>
        <p:spPr>
          <a:xfrm>
            <a:off x="1097280" y="4617720"/>
            <a:ext cx="822960" cy="384048"/>
          </a:xfrm>
          <a:prstGeom prst="rect">
            <a:avLst/>
          </a:prstGeom>
          <a:noFill/>
        </p:spPr>
        <p:txBody>
          <a:bodyPr wrap="square" lIns="0" rIns="0" tIns="0" bIns="0" anchor="ctr">
            <a:spAutoFit/>
          </a:bodyPr>
          <a:lstStyle/>
          <a:p>
            <a:pPr algn="l">
              <a:lnSpc>
                <a:spcPct val="118000"/>
              </a:lnSpc>
            </a:pPr>
            <a:r>
              <a:rPr sz="1150" b="1">
                <a:solidFill>
                  <a:srgbClr val="4B5563"/>
                </a:solidFill>
                <a:latin typeface="Noto Sans KR"/>
              </a:rPr>
              <a:t>신뢰</a:t>
            </a:r>
          </a:p>
        </p:txBody>
      </p:sp>
      <p:sp>
        <p:nvSpPr>
          <p:cNvPr id="18" name="TextBox 17"/>
          <p:cNvSpPr txBox="1"/>
          <p:nvPr/>
        </p:nvSpPr>
        <p:spPr>
          <a:xfrm>
            <a:off x="1965960" y="4617720"/>
            <a:ext cx="4572000" cy="384048"/>
          </a:xfrm>
          <a:prstGeom prst="rect">
            <a:avLst/>
          </a:prstGeom>
          <a:noFill/>
        </p:spPr>
        <p:txBody>
          <a:bodyPr wrap="square" lIns="0" rIns="0" tIns="0" bIns="0" anchor="ctr">
            <a:spAutoFit/>
          </a:bodyPr>
          <a:lstStyle/>
          <a:p>
            <a:pPr algn="l">
              <a:lnSpc>
                <a:spcPct val="118000"/>
              </a:lnSpc>
            </a:pPr>
            <a:r>
              <a:rPr sz="1500" b="1">
                <a:solidFill>
                  <a:srgbClr val="111827"/>
                </a:solidFill>
                <a:latin typeface="Noto Sans KR"/>
              </a:rPr>
              <a:t>‘투자가 아닙니다’ 안내 · 가격 근거</a:t>
            </a:r>
          </a:p>
        </p:txBody>
      </p:sp>
      <p:sp>
        <p:nvSpPr>
          <p:cNvPr id="19" name="TextBox 18"/>
          <p:cNvSpPr txBox="1"/>
          <p:nvPr/>
        </p:nvSpPr>
        <p:spPr>
          <a:xfrm>
            <a:off x="1097280" y="5120640"/>
            <a:ext cx="822960" cy="384048"/>
          </a:xfrm>
          <a:prstGeom prst="rect">
            <a:avLst/>
          </a:prstGeom>
          <a:noFill/>
        </p:spPr>
        <p:txBody>
          <a:bodyPr wrap="square" lIns="0" rIns="0" tIns="0" bIns="0" anchor="ctr">
            <a:spAutoFit/>
          </a:bodyPr>
          <a:lstStyle/>
          <a:p>
            <a:pPr algn="l">
              <a:lnSpc>
                <a:spcPct val="118000"/>
              </a:lnSpc>
            </a:pPr>
            <a:r>
              <a:rPr sz="1150" b="1">
                <a:solidFill>
                  <a:srgbClr val="4B5563"/>
                </a:solidFill>
                <a:latin typeface="Noto Sans KR"/>
              </a:rPr>
              <a:t>안전</a:t>
            </a:r>
          </a:p>
        </p:txBody>
      </p:sp>
      <p:sp>
        <p:nvSpPr>
          <p:cNvPr id="20" name="TextBox 19"/>
          <p:cNvSpPr txBox="1"/>
          <p:nvPr/>
        </p:nvSpPr>
        <p:spPr>
          <a:xfrm>
            <a:off x="1965960" y="5120640"/>
            <a:ext cx="4572000" cy="384048"/>
          </a:xfrm>
          <a:prstGeom prst="rect">
            <a:avLst/>
          </a:prstGeom>
          <a:noFill/>
        </p:spPr>
        <p:txBody>
          <a:bodyPr wrap="square" lIns="0" rIns="0" tIns="0" bIns="0" anchor="ctr">
            <a:spAutoFit/>
          </a:bodyPr>
          <a:lstStyle/>
          <a:p>
            <a:pPr algn="l">
              <a:lnSpc>
                <a:spcPct val="118000"/>
              </a:lnSpc>
            </a:pPr>
            <a:r>
              <a:rPr sz="1500" b="1">
                <a:solidFill>
                  <a:srgbClr val="111827"/>
                </a:solidFill>
                <a:latin typeface="Noto Sans KR"/>
              </a:rPr>
              <a:t>38% 상한 가드레일</a:t>
            </a:r>
          </a:p>
        </p:txBody>
      </p:sp>
      <p:sp>
        <p:nvSpPr>
          <p:cNvPr id="21" name="Rounded Rectangle 20"/>
          <p:cNvSpPr/>
          <p:nvPr/>
        </p:nvSpPr>
        <p:spPr>
          <a:xfrm>
            <a:off x="6812280" y="2057400"/>
            <a:ext cx="4553712" cy="3657600"/>
          </a:xfrm>
          <a:prstGeom prst="roundRect">
            <a:avLst>
              <a:gd name="adj" fmla="val 4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6600" y="2212848"/>
            <a:ext cx="3657600" cy="274320"/>
          </a:xfrm>
          <a:prstGeom prst="rect">
            <a:avLst/>
          </a:prstGeom>
          <a:noFill/>
        </p:spPr>
        <p:txBody>
          <a:bodyPr wrap="square" lIns="0" rIns="0" tIns="0" bIns="0" anchor="t">
            <a:spAutoFit/>
          </a:bodyPr>
          <a:lstStyle/>
          <a:p>
            <a:pPr algn="l">
              <a:lnSpc>
                <a:spcPct val="118000"/>
              </a:lnSpc>
            </a:pPr>
            <a:r>
              <a:rPr sz="1250" b="1">
                <a:solidFill>
                  <a:srgbClr val="4B5563"/>
                </a:solidFill>
                <a:latin typeface="Noto Sans KR"/>
              </a:rPr>
              <a:t>이번 범위 제외 · 여력 시</a:t>
            </a:r>
          </a:p>
        </p:txBody>
      </p:sp>
      <p:sp>
        <p:nvSpPr>
          <p:cNvPr id="23" name="TextBox 22"/>
          <p:cNvSpPr txBox="1"/>
          <p:nvPr/>
        </p:nvSpPr>
        <p:spPr>
          <a:xfrm>
            <a:off x="7086600" y="2606040"/>
            <a:ext cx="4114800" cy="384048"/>
          </a:xfrm>
          <a:prstGeom prst="rect">
            <a:avLst/>
          </a:prstGeom>
          <a:noFill/>
        </p:spPr>
        <p:txBody>
          <a:bodyPr wrap="square" lIns="0" rIns="0" tIns="0" bIns="0" anchor="ctr">
            <a:spAutoFit/>
          </a:bodyPr>
          <a:lstStyle/>
          <a:p>
            <a:pPr algn="l">
              <a:lnSpc>
                <a:spcPct val="118000"/>
              </a:lnSpc>
            </a:pPr>
            <a:r>
              <a:rPr sz="1400" b="1">
                <a:solidFill>
                  <a:srgbClr val="2F6FAD"/>
                </a:solidFill>
                <a:latin typeface="Noto Sans KR"/>
              </a:rPr>
              <a:t>여력 시 · 가격 하락 이메일 알림</a:t>
            </a:r>
          </a:p>
        </p:txBody>
      </p:sp>
      <p:sp>
        <p:nvSpPr>
          <p:cNvPr id="24" name="TextBox 23"/>
          <p:cNvSpPr txBox="1"/>
          <p:nvPr/>
        </p:nvSpPr>
        <p:spPr>
          <a:xfrm>
            <a:off x="7086600" y="3108960"/>
            <a:ext cx="4114800" cy="384048"/>
          </a:xfrm>
          <a:prstGeom prst="rect">
            <a:avLst/>
          </a:prstGeom>
          <a:noFill/>
        </p:spPr>
        <p:txBody>
          <a:bodyPr wrap="square" lIns="0" rIns="0" tIns="0" bIns="0" anchor="ctr">
            <a:spAutoFit/>
          </a:bodyPr>
          <a:lstStyle/>
          <a:p>
            <a:pPr algn="l">
              <a:lnSpc>
                <a:spcPct val="118000"/>
              </a:lnSpc>
            </a:pPr>
            <a:r>
              <a:rPr sz="1400" b="0">
                <a:solidFill>
                  <a:srgbClr val="4B5563"/>
                </a:solidFill>
                <a:latin typeface="Noto Sans KR"/>
              </a:rPr>
              <a:t>도감·씰 수집 콘텐츠</a:t>
            </a:r>
          </a:p>
        </p:txBody>
      </p:sp>
      <p:sp>
        <p:nvSpPr>
          <p:cNvPr id="25" name="TextBox 24"/>
          <p:cNvSpPr txBox="1"/>
          <p:nvPr/>
        </p:nvSpPr>
        <p:spPr>
          <a:xfrm>
            <a:off x="7086600" y="3611880"/>
            <a:ext cx="4114800" cy="384048"/>
          </a:xfrm>
          <a:prstGeom prst="rect">
            <a:avLst/>
          </a:prstGeom>
          <a:noFill/>
        </p:spPr>
        <p:txBody>
          <a:bodyPr wrap="square" lIns="0" rIns="0" tIns="0" bIns="0" anchor="ctr">
            <a:spAutoFit/>
          </a:bodyPr>
          <a:lstStyle/>
          <a:p>
            <a:pPr algn="l">
              <a:lnSpc>
                <a:spcPct val="118000"/>
              </a:lnSpc>
            </a:pPr>
            <a:r>
              <a:rPr sz="1400" b="0">
                <a:solidFill>
                  <a:srgbClr val="4B5563"/>
                </a:solidFill>
                <a:latin typeface="Noto Sans KR"/>
              </a:rPr>
              <a:t>매수가 기준 보상</a:t>
            </a:r>
          </a:p>
        </p:txBody>
      </p:sp>
      <p:sp>
        <p:nvSpPr>
          <p:cNvPr id="26" name="TextBox 25"/>
          <p:cNvSpPr txBox="1"/>
          <p:nvPr/>
        </p:nvSpPr>
        <p:spPr>
          <a:xfrm>
            <a:off x="7086600" y="4114800"/>
            <a:ext cx="4114800" cy="384048"/>
          </a:xfrm>
          <a:prstGeom prst="rect">
            <a:avLst/>
          </a:prstGeom>
          <a:noFill/>
        </p:spPr>
        <p:txBody>
          <a:bodyPr wrap="square" lIns="0" rIns="0" tIns="0" bIns="0" anchor="ctr">
            <a:spAutoFit/>
          </a:bodyPr>
          <a:lstStyle/>
          <a:p>
            <a:pPr algn="l">
              <a:lnSpc>
                <a:spcPct val="118000"/>
              </a:lnSpc>
            </a:pPr>
            <a:r>
              <a:rPr sz="1400" b="0">
                <a:solidFill>
                  <a:srgbClr val="4B5563"/>
                </a:solidFill>
                <a:latin typeface="Noto Sans KR"/>
              </a:rPr>
              <a:t>막지스톡 안에서의 결제</a:t>
            </a:r>
          </a:p>
        </p:txBody>
      </p:sp>
      <p:sp>
        <p:nvSpPr>
          <p:cNvPr id="27" name="TextBox 26"/>
          <p:cNvSpPr txBox="1"/>
          <p:nvPr/>
        </p:nvSpPr>
        <p:spPr>
          <a:xfrm>
            <a:off x="7086600" y="4617720"/>
            <a:ext cx="4114800" cy="384048"/>
          </a:xfrm>
          <a:prstGeom prst="rect">
            <a:avLst/>
          </a:prstGeom>
          <a:noFill/>
        </p:spPr>
        <p:txBody>
          <a:bodyPr wrap="square" lIns="0" rIns="0" tIns="0" bIns="0" anchor="ctr">
            <a:spAutoFit/>
          </a:bodyPr>
          <a:lstStyle/>
          <a:p>
            <a:pPr algn="l">
              <a:lnSpc>
                <a:spcPct val="118000"/>
              </a:lnSpc>
            </a:pPr>
            <a:r>
              <a:rPr sz="1400" b="0">
                <a:solidFill>
                  <a:srgbClr val="4B5563"/>
                </a:solidFill>
                <a:latin typeface="Noto Sans KR"/>
              </a:rPr>
              <a:t>막지스톡 자체 로그인·회원가입</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66928"/>
            <a:ext cx="7315200" cy="274320"/>
          </a:xfrm>
          <a:prstGeom prst="rect">
            <a:avLst/>
          </a:prstGeom>
          <a:noFill/>
        </p:spPr>
        <p:txBody>
          <a:bodyPr wrap="square" lIns="0" rIns="0" tIns="0" bIns="0" anchor="t">
            <a:spAutoFit/>
          </a:bodyPr>
          <a:lstStyle/>
          <a:p>
            <a:pPr algn="l">
              <a:lnSpc>
                <a:spcPct val="118000"/>
              </a:lnSpc>
            </a:pPr>
            <a:r>
              <a:rPr sz="1150" b="1">
                <a:solidFill>
                  <a:srgbClr val="2F6FAD"/>
                </a:solidFill>
                <a:latin typeface="Noto Sans KR"/>
              </a:rPr>
              <a:t>KPI</a:t>
            </a:r>
          </a:p>
        </p:txBody>
      </p:sp>
      <p:sp>
        <p:nvSpPr>
          <p:cNvPr id="3" name="TextBox 2"/>
          <p:cNvSpPr txBox="1"/>
          <p:nvPr/>
        </p:nvSpPr>
        <p:spPr>
          <a:xfrm>
            <a:off x="822960" y="868680"/>
            <a:ext cx="10515600" cy="1097280"/>
          </a:xfrm>
          <a:prstGeom prst="rect">
            <a:avLst/>
          </a:prstGeom>
          <a:noFill/>
        </p:spPr>
        <p:txBody>
          <a:bodyPr wrap="square" lIns="0" rIns="0" tIns="0" bIns="0" anchor="t">
            <a:spAutoFit/>
          </a:bodyPr>
          <a:lstStyle/>
          <a:p>
            <a:pPr algn="l">
              <a:lnSpc>
                <a:spcPct val="115000"/>
              </a:lnSpc>
            </a:pPr>
            <a:r>
              <a:rPr sz="2700" b="1">
                <a:solidFill>
                  <a:srgbClr val="111827"/>
                </a:solidFill>
                <a:latin typeface="Noto Sans KR"/>
              </a:rPr>
              <a:t>무엇으로 성공을 판단할까요 —</a:t>
            </a:r>
          </a:p>
          <a:p>
            <a:pPr algn="l">
              <a:lnSpc>
                <a:spcPct val="115000"/>
              </a:lnSpc>
              <a:spcBef>
                <a:spcPts val="0"/>
              </a:spcBef>
            </a:pPr>
            <a:r>
              <a:rPr sz="2700" b="1">
                <a:solidFill>
                  <a:srgbClr val="111827"/>
                </a:solidFill>
                <a:latin typeface="Noto Sans KR"/>
              </a:rPr>
              <a:t>서비스 목표와 같은 순서로 측정합니다.</a:t>
            </a:r>
          </a:p>
        </p:txBody>
      </p:sp>
      <p:sp>
        <p:nvSpPr>
          <p:cNvPr id="4" name="Rectangle 3"/>
          <p:cNvSpPr/>
          <p:nvPr/>
        </p:nvSpPr>
        <p:spPr>
          <a:xfrm>
            <a:off x="10981944" y="5888736"/>
            <a:ext cx="384048" cy="41148"/>
          </a:xfrm>
          <a:prstGeom prst="rect">
            <a:avLst/>
          </a:prstGeom>
          <a:solidFill>
            <a:srgbClr val="408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0" y="6007608"/>
            <a:ext cx="8622792" cy="365760"/>
          </a:xfrm>
          <a:prstGeom prst="rect">
            <a:avLst/>
          </a:prstGeom>
          <a:noFill/>
        </p:spPr>
        <p:txBody>
          <a:bodyPr wrap="square" lIns="0" rIns="0" tIns="0" bIns="0" anchor="t">
            <a:spAutoFit/>
          </a:bodyPr>
          <a:lstStyle/>
          <a:p>
            <a:pPr algn="r">
              <a:lnSpc>
                <a:spcPct val="118000"/>
              </a:lnSpc>
            </a:pPr>
            <a:r>
              <a:rPr sz="1400" b="1">
                <a:solidFill>
                  <a:srgbClr val="2F6FAD"/>
                </a:solidFill>
                <a:latin typeface="Noto Sans KR"/>
              </a:rPr>
              <a:t>목표값은 근거 없이 만들지 않고, 베타 1주차 실측 후 확정합니다.</a:t>
            </a:r>
          </a:p>
        </p:txBody>
      </p:sp>
      <p:sp>
        <p:nvSpPr>
          <p:cNvPr id="6" name="TextBox 5"/>
          <p:cNvSpPr txBox="1"/>
          <p:nvPr/>
        </p:nvSpPr>
        <p:spPr>
          <a:xfrm>
            <a:off x="822960" y="6419088"/>
            <a:ext cx="9692640" cy="274320"/>
          </a:xfrm>
          <a:prstGeom prst="rect">
            <a:avLst/>
          </a:prstGeom>
          <a:noFill/>
        </p:spPr>
        <p:txBody>
          <a:bodyPr wrap="square" lIns="0" rIns="0" tIns="0" bIns="0" anchor="t">
            <a:spAutoFit/>
          </a:bodyPr>
          <a:lstStyle/>
          <a:p>
            <a:pPr algn="l">
              <a:lnSpc>
                <a:spcPct val="110000"/>
              </a:lnSpc>
            </a:pPr>
            <a:r>
              <a:rPr sz="800" b="0">
                <a:solidFill>
                  <a:srgbClr val="9CA3AF"/>
                </a:solidFill>
                <a:latin typeface="Noto Sans KR"/>
              </a:rPr>
              <a:t>GUARDRAIL(하나라도 초과 시 롤아웃 중단): 총혜택 상한 위반 0 · 사행성 문구 0 · 표시·결제가 불일치 0 · 가격 계산 오류율 ≤ 0.1% · 쿠폰 중복 적용 0</a:t>
            </a:r>
          </a:p>
        </p:txBody>
      </p:sp>
      <p:sp>
        <p:nvSpPr>
          <p:cNvPr id="7" name="TextBox 6"/>
          <p:cNvSpPr txBox="1"/>
          <p:nvPr/>
        </p:nvSpPr>
        <p:spPr>
          <a:xfrm>
            <a:off x="10058400" y="6446520"/>
            <a:ext cx="1307591" cy="182880"/>
          </a:xfrm>
          <a:prstGeom prst="rect">
            <a:avLst/>
          </a:prstGeom>
          <a:noFill/>
        </p:spPr>
        <p:txBody>
          <a:bodyPr wrap="square" lIns="0" rIns="0" tIns="0" bIns="0" anchor="t">
            <a:spAutoFit/>
          </a:bodyPr>
          <a:lstStyle/>
          <a:p>
            <a:pPr algn="r">
              <a:lnSpc>
                <a:spcPct val="118000"/>
              </a:lnSpc>
            </a:pPr>
            <a:r>
              <a:rPr sz="900" b="0">
                <a:solidFill>
                  <a:srgbClr val="9CA3AF"/>
                </a:solidFill>
                <a:latin typeface="Noto Sans KR"/>
              </a:rPr>
              <a:t>12 / 16</a:t>
            </a:r>
          </a:p>
        </p:txBody>
      </p:sp>
      <p:sp>
        <p:nvSpPr>
          <p:cNvPr id="8" name="Rounded Rectangle 7"/>
          <p:cNvSpPr/>
          <p:nvPr/>
        </p:nvSpPr>
        <p:spPr>
          <a:xfrm>
            <a:off x="822960" y="2057400"/>
            <a:ext cx="10543032" cy="1143000"/>
          </a:xfrm>
          <a:prstGeom prst="roundRect">
            <a:avLst>
              <a:gd name="adj" fmla="val 12800"/>
            </a:avLst>
          </a:prstGeom>
          <a:solidFill>
            <a:srgbClr val="408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157984"/>
            <a:ext cx="2743200" cy="274320"/>
          </a:xfrm>
          <a:prstGeom prst="rect">
            <a:avLst/>
          </a:prstGeom>
          <a:noFill/>
        </p:spPr>
        <p:txBody>
          <a:bodyPr wrap="square" lIns="0" rIns="0" tIns="0" bIns="0" anchor="t">
            <a:spAutoFit/>
          </a:bodyPr>
          <a:lstStyle/>
          <a:p>
            <a:pPr algn="l">
              <a:lnSpc>
                <a:spcPct val="118000"/>
              </a:lnSpc>
            </a:pPr>
            <a:r>
              <a:rPr sz="1150" b="1">
                <a:solidFill>
                  <a:srgbClr val="DCEAF7"/>
                </a:solidFill>
                <a:latin typeface="Noto Sans KR"/>
              </a:rPr>
              <a:t>북극성 KPI</a:t>
            </a:r>
          </a:p>
        </p:txBody>
      </p:sp>
      <p:sp>
        <p:nvSpPr>
          <p:cNvPr id="10" name="TextBox 9"/>
          <p:cNvSpPr txBox="1"/>
          <p:nvPr/>
        </p:nvSpPr>
        <p:spPr>
          <a:xfrm>
            <a:off x="1097280" y="2450592"/>
            <a:ext cx="10058400" cy="548640"/>
          </a:xfrm>
          <a:prstGeom prst="rect">
            <a:avLst/>
          </a:prstGeom>
          <a:noFill/>
        </p:spPr>
        <p:txBody>
          <a:bodyPr wrap="square" lIns="0" rIns="0" tIns="0" bIns="0" anchor="t">
            <a:spAutoFit/>
          </a:bodyPr>
          <a:lstStyle/>
          <a:p>
            <a:pPr algn="l">
              <a:lnSpc>
                <a:spcPct val="118000"/>
              </a:lnSpc>
            </a:pPr>
            <a:r>
              <a:rPr sz="2500" b="1">
                <a:solidFill>
                  <a:srgbClr val="FFFFFF"/>
                </a:solidFill>
                <a:latin typeface="Noto Sans KR"/>
              </a:rPr>
              <a:t>STOCK → 자사몰 전환율</a:t>
            </a:r>
            <a:r>
              <a:rPr sz="1300" b="0">
                <a:solidFill>
                  <a:srgbClr val="DCEAF7"/>
                </a:solidFill>
                <a:latin typeface="Noto Sans KR"/>
              </a:rPr>
              <a:t>      현재 미측정 · 베타 1주차에 기준선 확보</a:t>
            </a:r>
          </a:p>
        </p:txBody>
      </p:sp>
      <p:sp>
        <p:nvSpPr>
          <p:cNvPr id="11" name="Rounded Rectangle 10"/>
          <p:cNvSpPr/>
          <p:nvPr/>
        </p:nvSpPr>
        <p:spPr>
          <a:xfrm>
            <a:off x="822960" y="3401568"/>
            <a:ext cx="10543032" cy="658368"/>
          </a:xfrm>
          <a:prstGeom prst="roundRect">
            <a:avLst>
              <a:gd name="adj" fmla="val 22222"/>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05840" y="3538728"/>
            <a:ext cx="1325880" cy="384048"/>
          </a:xfrm>
          <a:prstGeom prst="roundRect">
            <a:avLst>
              <a:gd name="adj" fmla="val 42857"/>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538728"/>
            <a:ext cx="1325880" cy="384048"/>
          </a:xfrm>
          <a:prstGeom prst="rect">
            <a:avLst/>
          </a:prstGeom>
          <a:noFill/>
        </p:spPr>
        <p:txBody>
          <a:bodyPr wrap="square" lIns="0" rIns="0" tIns="0" bIns="0" anchor="ctr">
            <a:spAutoFit/>
          </a:bodyPr>
          <a:lstStyle/>
          <a:p>
            <a:pPr algn="ctr">
              <a:lnSpc>
                <a:spcPct val="118000"/>
              </a:lnSpc>
            </a:pPr>
            <a:r>
              <a:rPr sz="1150" b="1">
                <a:solidFill>
                  <a:srgbClr val="2F6FAD"/>
                </a:solidFill>
                <a:latin typeface="Noto Sans KR"/>
              </a:rPr>
              <a:t>1순위 유입</a:t>
            </a:r>
          </a:p>
        </p:txBody>
      </p:sp>
      <p:sp>
        <p:nvSpPr>
          <p:cNvPr id="14" name="TextBox 13"/>
          <p:cNvSpPr txBox="1"/>
          <p:nvPr/>
        </p:nvSpPr>
        <p:spPr>
          <a:xfrm>
            <a:off x="2606040" y="3401568"/>
            <a:ext cx="6309360" cy="658368"/>
          </a:xfrm>
          <a:prstGeom prst="rect">
            <a:avLst/>
          </a:prstGeom>
          <a:noFill/>
        </p:spPr>
        <p:txBody>
          <a:bodyPr wrap="square" lIns="0" rIns="0" tIns="0" bIns="0" anchor="ctr">
            <a:spAutoFit/>
          </a:bodyPr>
          <a:lstStyle/>
          <a:p>
            <a:pPr algn="l">
              <a:lnSpc>
                <a:spcPct val="118000"/>
              </a:lnSpc>
            </a:pPr>
            <a:r>
              <a:rPr sz="1450" b="0">
                <a:solidFill>
                  <a:srgbClr val="111827"/>
                </a:solidFill>
                <a:latin typeface="Noto Sans KR"/>
              </a:rPr>
              <a:t>방문자 수 · 신규 가입 · 자사몰 구매 이동률</a:t>
            </a:r>
          </a:p>
        </p:txBody>
      </p:sp>
      <p:sp>
        <p:nvSpPr>
          <p:cNvPr id="15" name="TextBox 14"/>
          <p:cNvSpPr txBox="1"/>
          <p:nvPr/>
        </p:nvSpPr>
        <p:spPr>
          <a:xfrm>
            <a:off x="8686800" y="3401568"/>
            <a:ext cx="2468880" cy="658368"/>
          </a:xfrm>
          <a:prstGeom prst="rect">
            <a:avLst/>
          </a:prstGeom>
          <a:noFill/>
        </p:spPr>
        <p:txBody>
          <a:bodyPr wrap="square" lIns="0" rIns="0" tIns="0" bIns="0" anchor="ctr">
            <a:spAutoFit/>
          </a:bodyPr>
          <a:lstStyle/>
          <a:p>
            <a:pPr algn="r">
              <a:lnSpc>
                <a:spcPct val="118000"/>
              </a:lnSpc>
            </a:pPr>
            <a:r>
              <a:rPr sz="1250" b="1">
                <a:solidFill>
                  <a:srgbClr val="4B5563"/>
                </a:solidFill>
                <a:latin typeface="Noto Sans KR"/>
              </a:rPr>
              <a:t>신규가입 5월 40건</a:t>
            </a:r>
          </a:p>
        </p:txBody>
      </p:sp>
      <p:sp>
        <p:nvSpPr>
          <p:cNvPr id="16" name="Rounded Rectangle 15"/>
          <p:cNvSpPr/>
          <p:nvPr/>
        </p:nvSpPr>
        <p:spPr>
          <a:xfrm>
            <a:off x="822960" y="4187952"/>
            <a:ext cx="10543032" cy="658368"/>
          </a:xfrm>
          <a:prstGeom prst="roundRect">
            <a:avLst>
              <a:gd name="adj" fmla="val 22222"/>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05840" y="4325112"/>
            <a:ext cx="1325880" cy="384048"/>
          </a:xfrm>
          <a:prstGeom prst="roundRect">
            <a:avLst>
              <a:gd name="adj" fmla="val 42857"/>
            </a:avLst>
          </a:prstGeom>
          <a:solidFill>
            <a:srgbClr val="FFF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4325112"/>
            <a:ext cx="1325880" cy="384048"/>
          </a:xfrm>
          <a:prstGeom prst="rect">
            <a:avLst/>
          </a:prstGeom>
          <a:noFill/>
        </p:spPr>
        <p:txBody>
          <a:bodyPr wrap="square" lIns="0" rIns="0" tIns="0" bIns="0" anchor="ctr">
            <a:spAutoFit/>
          </a:bodyPr>
          <a:lstStyle/>
          <a:p>
            <a:pPr algn="ctr">
              <a:lnSpc>
                <a:spcPct val="118000"/>
              </a:lnSpc>
            </a:pPr>
            <a:r>
              <a:rPr sz="1150" b="1">
                <a:solidFill>
                  <a:srgbClr val="7A5B00"/>
                </a:solidFill>
                <a:latin typeface="Noto Sans KR"/>
              </a:rPr>
              <a:t>2순위 체류</a:t>
            </a:r>
          </a:p>
        </p:txBody>
      </p:sp>
      <p:sp>
        <p:nvSpPr>
          <p:cNvPr id="19" name="TextBox 18"/>
          <p:cNvSpPr txBox="1"/>
          <p:nvPr/>
        </p:nvSpPr>
        <p:spPr>
          <a:xfrm>
            <a:off x="2606040" y="4187952"/>
            <a:ext cx="6309360" cy="658368"/>
          </a:xfrm>
          <a:prstGeom prst="rect">
            <a:avLst/>
          </a:prstGeom>
          <a:noFill/>
        </p:spPr>
        <p:txBody>
          <a:bodyPr wrap="square" lIns="0" rIns="0" tIns="0" bIns="0" anchor="ctr">
            <a:spAutoFit/>
          </a:bodyPr>
          <a:lstStyle/>
          <a:p>
            <a:pPr algn="l">
              <a:lnSpc>
                <a:spcPct val="118000"/>
              </a:lnSpc>
            </a:pPr>
            <a:r>
              <a:rPr sz="1450" b="0">
                <a:solidFill>
                  <a:srgbClr val="111827"/>
                </a:solidFill>
                <a:latin typeface="Noto Sans KR"/>
              </a:rPr>
              <a:t>익일 재방문율 · 체류시간 · 가격 잠금 사용률</a:t>
            </a:r>
          </a:p>
        </p:txBody>
      </p:sp>
      <p:sp>
        <p:nvSpPr>
          <p:cNvPr id="20" name="TextBox 19"/>
          <p:cNvSpPr txBox="1"/>
          <p:nvPr/>
        </p:nvSpPr>
        <p:spPr>
          <a:xfrm>
            <a:off x="8686800" y="4187952"/>
            <a:ext cx="2468880" cy="658368"/>
          </a:xfrm>
          <a:prstGeom prst="rect">
            <a:avLst/>
          </a:prstGeom>
          <a:noFill/>
        </p:spPr>
        <p:txBody>
          <a:bodyPr wrap="square" lIns="0" rIns="0" tIns="0" bIns="0" anchor="ctr">
            <a:spAutoFit/>
          </a:bodyPr>
          <a:lstStyle/>
          <a:p>
            <a:pPr algn="r">
              <a:lnSpc>
                <a:spcPct val="118000"/>
              </a:lnSpc>
            </a:pPr>
            <a:r>
              <a:rPr sz="1250" b="1">
                <a:solidFill>
                  <a:srgbClr val="4B5563"/>
                </a:solidFill>
                <a:latin typeface="Noto Sans KR"/>
              </a:rPr>
              <a:t>미측정</a:t>
            </a:r>
          </a:p>
        </p:txBody>
      </p:sp>
      <p:sp>
        <p:nvSpPr>
          <p:cNvPr id="21" name="Rounded Rectangle 20"/>
          <p:cNvSpPr/>
          <p:nvPr/>
        </p:nvSpPr>
        <p:spPr>
          <a:xfrm>
            <a:off x="822960" y="4974336"/>
            <a:ext cx="10543032" cy="658368"/>
          </a:xfrm>
          <a:prstGeom prst="roundRect">
            <a:avLst>
              <a:gd name="adj" fmla="val 22222"/>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05840" y="5111496"/>
            <a:ext cx="1325880" cy="384048"/>
          </a:xfrm>
          <a:prstGeom prst="roundRect">
            <a:avLst>
              <a:gd name="adj" fmla="val 42857"/>
            </a:avLst>
          </a:prstGeom>
          <a:solidFill>
            <a:srgbClr val="FF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 y="5111496"/>
            <a:ext cx="1325880" cy="384048"/>
          </a:xfrm>
          <a:prstGeom prst="rect">
            <a:avLst/>
          </a:prstGeom>
          <a:noFill/>
        </p:spPr>
        <p:txBody>
          <a:bodyPr wrap="square" lIns="0" rIns="0" tIns="0" bIns="0" anchor="ctr">
            <a:spAutoFit/>
          </a:bodyPr>
          <a:lstStyle/>
          <a:p>
            <a:pPr algn="ctr">
              <a:lnSpc>
                <a:spcPct val="118000"/>
              </a:lnSpc>
            </a:pPr>
            <a:r>
              <a:rPr sz="1150" b="1">
                <a:solidFill>
                  <a:srgbClr val="B6451B"/>
                </a:solidFill>
                <a:latin typeface="Noto Sans KR"/>
              </a:rPr>
              <a:t>2순위 전환</a:t>
            </a:r>
          </a:p>
        </p:txBody>
      </p:sp>
      <p:sp>
        <p:nvSpPr>
          <p:cNvPr id="24" name="TextBox 23"/>
          <p:cNvSpPr txBox="1"/>
          <p:nvPr/>
        </p:nvSpPr>
        <p:spPr>
          <a:xfrm>
            <a:off x="2606040" y="4974336"/>
            <a:ext cx="6309360" cy="658368"/>
          </a:xfrm>
          <a:prstGeom prst="rect">
            <a:avLst/>
          </a:prstGeom>
          <a:noFill/>
        </p:spPr>
        <p:txBody>
          <a:bodyPr wrap="square" lIns="0" rIns="0" tIns="0" bIns="0" anchor="ctr">
            <a:spAutoFit/>
          </a:bodyPr>
          <a:lstStyle/>
          <a:p>
            <a:pPr algn="l">
              <a:lnSpc>
                <a:spcPct val="118000"/>
              </a:lnSpc>
            </a:pPr>
            <a:r>
              <a:rPr sz="1450" b="0">
                <a:solidFill>
                  <a:srgbClr val="111827"/>
                </a:solidFill>
                <a:latin typeface="Noto Sans KR"/>
              </a:rPr>
              <a:t>STOCK→자사몰 전환율 · 쿠폰 사용률 · 결제 완결률</a:t>
            </a:r>
          </a:p>
        </p:txBody>
      </p:sp>
      <p:sp>
        <p:nvSpPr>
          <p:cNvPr id="25" name="TextBox 24"/>
          <p:cNvSpPr txBox="1"/>
          <p:nvPr/>
        </p:nvSpPr>
        <p:spPr>
          <a:xfrm>
            <a:off x="8686800" y="4974336"/>
            <a:ext cx="2468880" cy="658368"/>
          </a:xfrm>
          <a:prstGeom prst="rect">
            <a:avLst/>
          </a:prstGeom>
          <a:noFill/>
        </p:spPr>
        <p:txBody>
          <a:bodyPr wrap="square" lIns="0" rIns="0" tIns="0" bIns="0" anchor="ctr">
            <a:spAutoFit/>
          </a:bodyPr>
          <a:lstStyle/>
          <a:p>
            <a:pPr algn="r">
              <a:lnSpc>
                <a:spcPct val="118000"/>
              </a:lnSpc>
            </a:pPr>
            <a:r>
              <a:rPr sz="1250" b="1">
                <a:solidFill>
                  <a:srgbClr val="4B5563"/>
                </a:solidFill>
                <a:latin typeface="Noto Sans KR"/>
              </a:rPr>
              <a:t>결제 완결률 73.5%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66928"/>
            <a:ext cx="7315200" cy="274320"/>
          </a:xfrm>
          <a:prstGeom prst="rect">
            <a:avLst/>
          </a:prstGeom>
          <a:noFill/>
        </p:spPr>
        <p:txBody>
          <a:bodyPr wrap="square" lIns="0" rIns="0" tIns="0" bIns="0" anchor="t">
            <a:spAutoFit/>
          </a:bodyPr>
          <a:lstStyle/>
          <a:p>
            <a:pPr algn="l">
              <a:lnSpc>
                <a:spcPct val="118000"/>
              </a:lnSpc>
            </a:pPr>
            <a:r>
              <a:rPr sz="1150" b="1">
                <a:solidFill>
                  <a:srgbClr val="2F6FAD"/>
                </a:solidFill>
                <a:latin typeface="Noto Sans KR"/>
              </a:rPr>
              <a:t>매출 시나리오</a:t>
            </a:r>
          </a:p>
        </p:txBody>
      </p:sp>
      <p:sp>
        <p:nvSpPr>
          <p:cNvPr id="3" name="TextBox 2"/>
          <p:cNvSpPr txBox="1"/>
          <p:nvPr/>
        </p:nvSpPr>
        <p:spPr>
          <a:xfrm>
            <a:off x="822960" y="868680"/>
            <a:ext cx="10515600" cy="1097280"/>
          </a:xfrm>
          <a:prstGeom prst="rect">
            <a:avLst/>
          </a:prstGeom>
          <a:noFill/>
        </p:spPr>
        <p:txBody>
          <a:bodyPr wrap="square" lIns="0" rIns="0" tIns="0" bIns="0" anchor="t">
            <a:spAutoFit/>
          </a:bodyPr>
          <a:lstStyle/>
          <a:p>
            <a:pPr algn="l">
              <a:lnSpc>
                <a:spcPct val="115000"/>
              </a:lnSpc>
            </a:pPr>
            <a:r>
              <a:rPr sz="2700" b="1">
                <a:solidFill>
                  <a:srgbClr val="111827"/>
                </a:solidFill>
                <a:latin typeface="Noto Sans KR"/>
              </a:rPr>
              <a:t>지표가 달성되면 매출은 이렇게 그려집니다 —</a:t>
            </a:r>
          </a:p>
          <a:p>
            <a:pPr algn="l">
              <a:lnSpc>
                <a:spcPct val="115000"/>
              </a:lnSpc>
              <a:spcBef>
                <a:spcPts val="0"/>
              </a:spcBef>
            </a:pPr>
            <a:r>
              <a:rPr sz="2700" b="1">
                <a:solidFill>
                  <a:srgbClr val="111827"/>
                </a:solidFill>
                <a:latin typeface="Noto Sans KR"/>
              </a:rPr>
              <a:t>점유율만 넓힌 5개년 시나리오.</a:t>
            </a:r>
          </a:p>
        </p:txBody>
      </p:sp>
      <p:sp>
        <p:nvSpPr>
          <p:cNvPr id="4" name="Rectangle 3"/>
          <p:cNvSpPr/>
          <p:nvPr/>
        </p:nvSpPr>
        <p:spPr>
          <a:xfrm>
            <a:off x="10981944" y="5888736"/>
            <a:ext cx="384048" cy="41148"/>
          </a:xfrm>
          <a:prstGeom prst="rect">
            <a:avLst/>
          </a:prstGeom>
          <a:solidFill>
            <a:srgbClr val="408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0" y="6007608"/>
            <a:ext cx="8622792" cy="365760"/>
          </a:xfrm>
          <a:prstGeom prst="rect">
            <a:avLst/>
          </a:prstGeom>
          <a:noFill/>
        </p:spPr>
        <p:txBody>
          <a:bodyPr wrap="square" lIns="0" rIns="0" tIns="0" bIns="0" anchor="t">
            <a:spAutoFit/>
          </a:bodyPr>
          <a:lstStyle/>
          <a:p>
            <a:pPr algn="r">
              <a:lnSpc>
                <a:spcPct val="118000"/>
              </a:lnSpc>
            </a:pPr>
            <a:r>
              <a:rPr sz="1400" b="1">
                <a:solidFill>
                  <a:srgbClr val="2F6FAD"/>
                </a:solidFill>
                <a:latin typeface="Noto Sans KR"/>
              </a:rPr>
              <a:t>시장이 커진다는 가정 없이, 점유율만으로 Base 18.8억을 그립니다.</a:t>
            </a:r>
          </a:p>
        </p:txBody>
      </p:sp>
      <p:sp>
        <p:nvSpPr>
          <p:cNvPr id="6" name="TextBox 5"/>
          <p:cNvSpPr txBox="1"/>
          <p:nvPr/>
        </p:nvSpPr>
        <p:spPr>
          <a:xfrm>
            <a:off x="822960" y="6419088"/>
            <a:ext cx="9692640" cy="274320"/>
          </a:xfrm>
          <a:prstGeom prst="rect">
            <a:avLst/>
          </a:prstGeom>
          <a:noFill/>
        </p:spPr>
        <p:txBody>
          <a:bodyPr wrap="square" lIns="0" rIns="0" tIns="0" bIns="0" anchor="t">
            <a:spAutoFit/>
          </a:bodyPr>
          <a:lstStyle/>
          <a:p>
            <a:pPr algn="l">
              <a:lnSpc>
                <a:spcPct val="110000"/>
              </a:lnSpc>
            </a:pPr>
            <a:r>
              <a:rPr sz="800" b="0">
                <a:solidFill>
                  <a:srgbClr val="9CA3AF"/>
                </a:solidFill>
                <a:latin typeface="Noto Sans KR"/>
              </a:rPr>
              <a:t>TAM 13.6조원(국내 베이커리 2025) · SAM 2,100~2,650억(전문점×온라인×2030) · 목표 점유율 0.5~3% · 시장 성장률 미반영 · 망넛이네(2018 약 5.7억)·널담(2019 약 9.9억) 초기 실적은 벤치마크로만 참고, 확정 전망 아님</a:t>
            </a:r>
          </a:p>
        </p:txBody>
      </p:sp>
      <p:sp>
        <p:nvSpPr>
          <p:cNvPr id="7" name="TextBox 6"/>
          <p:cNvSpPr txBox="1"/>
          <p:nvPr/>
        </p:nvSpPr>
        <p:spPr>
          <a:xfrm>
            <a:off x="10058400" y="6446520"/>
            <a:ext cx="1307591" cy="182880"/>
          </a:xfrm>
          <a:prstGeom prst="rect">
            <a:avLst/>
          </a:prstGeom>
          <a:noFill/>
        </p:spPr>
        <p:txBody>
          <a:bodyPr wrap="square" lIns="0" rIns="0" tIns="0" bIns="0" anchor="t">
            <a:spAutoFit/>
          </a:bodyPr>
          <a:lstStyle/>
          <a:p>
            <a:pPr algn="r">
              <a:lnSpc>
                <a:spcPct val="118000"/>
              </a:lnSpc>
            </a:pPr>
            <a:r>
              <a:rPr sz="900" b="0">
                <a:solidFill>
                  <a:srgbClr val="9CA3AF"/>
                </a:solidFill>
                <a:latin typeface="Noto Sans KR"/>
              </a:rPr>
              <a:t>13 / 16</a:t>
            </a:r>
          </a:p>
        </p:txBody>
      </p:sp>
      <p:sp>
        <p:nvSpPr>
          <p:cNvPr id="8" name="Rounded Rectangle 7"/>
          <p:cNvSpPr/>
          <p:nvPr/>
        </p:nvSpPr>
        <p:spPr>
          <a:xfrm>
            <a:off x="822960" y="1965960"/>
            <a:ext cx="10543032" cy="3767328"/>
          </a:xfrm>
          <a:prstGeom prst="roundRect">
            <a:avLst>
              <a:gd name="adj" fmla="val 3883"/>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103120"/>
            <a:ext cx="1828800" cy="228600"/>
          </a:xfrm>
          <a:prstGeom prst="rect">
            <a:avLst/>
          </a:prstGeom>
          <a:noFill/>
        </p:spPr>
        <p:txBody>
          <a:bodyPr wrap="square" lIns="0" rIns="0" tIns="0" bIns="0" anchor="t">
            <a:spAutoFit/>
          </a:bodyPr>
          <a:lstStyle/>
          <a:p>
            <a:pPr algn="l">
              <a:lnSpc>
                <a:spcPct val="118000"/>
              </a:lnSpc>
            </a:pPr>
            <a:r>
              <a:rPr sz="1100" b="0">
                <a:solidFill>
                  <a:srgbClr val="6E9CC9"/>
                </a:solidFill>
                <a:latin typeface="Noto Sans KR"/>
              </a:rPr>
              <a:t>■ 1년차</a:t>
            </a:r>
          </a:p>
        </p:txBody>
      </p:sp>
      <p:sp>
        <p:nvSpPr>
          <p:cNvPr id="10" name="TextBox 9"/>
          <p:cNvSpPr txBox="1"/>
          <p:nvPr/>
        </p:nvSpPr>
        <p:spPr>
          <a:xfrm>
            <a:off x="2011680" y="2103120"/>
            <a:ext cx="1828800" cy="228600"/>
          </a:xfrm>
          <a:prstGeom prst="rect">
            <a:avLst/>
          </a:prstGeom>
          <a:noFill/>
        </p:spPr>
        <p:txBody>
          <a:bodyPr wrap="square" lIns="0" rIns="0" tIns="0" bIns="0" anchor="t">
            <a:spAutoFit/>
          </a:bodyPr>
          <a:lstStyle/>
          <a:p>
            <a:pPr algn="l">
              <a:lnSpc>
                <a:spcPct val="118000"/>
              </a:lnSpc>
            </a:pPr>
            <a:r>
              <a:rPr sz="1100" b="0">
                <a:solidFill>
                  <a:srgbClr val="4087C7"/>
                </a:solidFill>
                <a:latin typeface="Noto Sans KR"/>
              </a:rPr>
              <a:t>■ 5년차</a:t>
            </a:r>
          </a:p>
        </p:txBody>
      </p:sp>
      <p:sp>
        <p:nvSpPr>
          <p:cNvPr id="11" name="TextBox 10"/>
          <p:cNvSpPr txBox="1"/>
          <p:nvPr/>
        </p:nvSpPr>
        <p:spPr>
          <a:xfrm>
            <a:off x="5486400" y="2084831"/>
            <a:ext cx="5605272" cy="274320"/>
          </a:xfrm>
          <a:prstGeom prst="rect">
            <a:avLst/>
          </a:prstGeom>
          <a:noFill/>
        </p:spPr>
        <p:txBody>
          <a:bodyPr wrap="square" lIns="0" rIns="0" tIns="0" bIns="0" anchor="t">
            <a:spAutoFit/>
          </a:bodyPr>
          <a:lstStyle/>
          <a:p>
            <a:pPr algn="r">
              <a:lnSpc>
                <a:spcPct val="118000"/>
              </a:lnSpc>
            </a:pPr>
            <a:r>
              <a:rPr sz="1250" b="1">
                <a:solidFill>
                  <a:srgbClr val="4B5563"/>
                </a:solidFill>
                <a:latin typeface="Noto Sans KR"/>
              </a:rPr>
              <a:t>매출 = 유입 × 구매 전환율 × 객단가 </a:t>
            </a:r>
            <a:r>
              <a:rPr sz="1050" b="1">
                <a:solidFill>
                  <a:srgbClr val="9CA3AF"/>
                </a:solidFill>
                <a:latin typeface="Noto Sans KR"/>
              </a:rPr>
              <a:t>(5월 2.32만원)</a:t>
            </a:r>
          </a:p>
        </p:txBody>
      </p:sp>
      <p:sp>
        <p:nvSpPr>
          <p:cNvPr id="12" name="Rounded Rectangle 11"/>
          <p:cNvSpPr/>
          <p:nvPr/>
        </p:nvSpPr>
        <p:spPr>
          <a:xfrm>
            <a:off x="1783080" y="5042916"/>
            <a:ext cx="1005840" cy="77724"/>
          </a:xfrm>
          <a:prstGeom prst="roundRect">
            <a:avLst>
              <a:gd name="adj" fmla="val 50000"/>
            </a:avLst>
          </a:prstGeom>
          <a:solidFill>
            <a:srgbClr val="BFD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00200" y="4677155"/>
            <a:ext cx="1371600" cy="320040"/>
          </a:xfrm>
          <a:prstGeom prst="rect">
            <a:avLst/>
          </a:prstGeom>
          <a:noFill/>
        </p:spPr>
        <p:txBody>
          <a:bodyPr wrap="square" lIns="0" rIns="0" tIns="0" bIns="0" anchor="t">
            <a:spAutoFit/>
          </a:bodyPr>
          <a:lstStyle/>
          <a:p>
            <a:pPr algn="ctr">
              <a:lnSpc>
                <a:spcPct val="118000"/>
              </a:lnSpc>
            </a:pPr>
            <a:r>
              <a:rPr sz="1500" b="1">
                <a:solidFill>
                  <a:srgbClr val="111827"/>
                </a:solidFill>
                <a:latin typeface="Noto Sans KR"/>
              </a:rPr>
              <a:t>1.2억</a:t>
            </a:r>
          </a:p>
        </p:txBody>
      </p:sp>
      <p:sp>
        <p:nvSpPr>
          <p:cNvPr id="14" name="Rounded Rectangle 13"/>
          <p:cNvSpPr/>
          <p:nvPr/>
        </p:nvSpPr>
        <p:spPr>
          <a:xfrm>
            <a:off x="2971800" y="4939284"/>
            <a:ext cx="1005840" cy="181356"/>
          </a:xfrm>
          <a:prstGeom prst="roundRect">
            <a:avLst>
              <a:gd name="adj" fmla="val 25210"/>
            </a:avLst>
          </a:prstGeom>
          <a:solidFill>
            <a:srgbClr val="408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88920" y="4573523"/>
            <a:ext cx="1371600" cy="320040"/>
          </a:xfrm>
          <a:prstGeom prst="rect">
            <a:avLst/>
          </a:prstGeom>
          <a:noFill/>
        </p:spPr>
        <p:txBody>
          <a:bodyPr wrap="square" lIns="0" rIns="0" tIns="0" bIns="0" anchor="t">
            <a:spAutoFit/>
          </a:bodyPr>
          <a:lstStyle/>
          <a:p>
            <a:pPr algn="ctr">
              <a:lnSpc>
                <a:spcPct val="118000"/>
              </a:lnSpc>
            </a:pPr>
            <a:r>
              <a:rPr sz="1500" b="1">
                <a:solidFill>
                  <a:srgbClr val="111827"/>
                </a:solidFill>
                <a:latin typeface="Noto Sans KR"/>
              </a:rPr>
              <a:t>2.8억</a:t>
            </a:r>
          </a:p>
        </p:txBody>
      </p:sp>
      <p:sp>
        <p:nvSpPr>
          <p:cNvPr id="16" name="TextBox 15"/>
          <p:cNvSpPr txBox="1"/>
          <p:nvPr/>
        </p:nvSpPr>
        <p:spPr>
          <a:xfrm>
            <a:off x="1600200" y="5230368"/>
            <a:ext cx="2651760" cy="256032"/>
          </a:xfrm>
          <a:prstGeom prst="rect">
            <a:avLst/>
          </a:prstGeom>
          <a:noFill/>
        </p:spPr>
        <p:txBody>
          <a:bodyPr wrap="square" lIns="0" rIns="0" tIns="0" bIns="0" anchor="t">
            <a:spAutoFit/>
          </a:bodyPr>
          <a:lstStyle/>
          <a:p>
            <a:pPr algn="ctr">
              <a:lnSpc>
                <a:spcPct val="118000"/>
              </a:lnSpc>
            </a:pPr>
            <a:r>
              <a:rPr sz="1250" b="1">
                <a:solidFill>
                  <a:srgbClr val="111827"/>
                </a:solidFill>
                <a:latin typeface="Noto Sans KR"/>
              </a:rPr>
              <a:t>Worst</a:t>
            </a:r>
          </a:p>
        </p:txBody>
      </p:sp>
      <p:cxnSp>
        <p:nvCxnSpPr>
          <p:cNvPr id="17" name="Connector 16"/>
          <p:cNvCxnSpPr/>
          <p:nvPr/>
        </p:nvCxnSpPr>
        <p:spPr>
          <a:xfrm>
            <a:off x="1508760" y="5120640"/>
            <a:ext cx="2743200" cy="0"/>
          </a:xfrm>
          <a:prstGeom prst="line">
            <a:avLst/>
          </a:prstGeom>
          <a:ln w="15875">
            <a:solidFill>
              <a:srgbClr val="E5E7EB"/>
            </a:solidFill>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074920" y="4751451"/>
            <a:ext cx="1005840" cy="369188"/>
          </a:xfrm>
          <a:prstGeom prst="roundRect">
            <a:avLst>
              <a:gd name="adj" fmla="val 12383"/>
            </a:avLst>
          </a:prstGeom>
          <a:solidFill>
            <a:srgbClr val="BFD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92040" y="4385691"/>
            <a:ext cx="1371600" cy="320040"/>
          </a:xfrm>
          <a:prstGeom prst="rect">
            <a:avLst/>
          </a:prstGeom>
          <a:noFill/>
        </p:spPr>
        <p:txBody>
          <a:bodyPr wrap="square" lIns="0" rIns="0" tIns="0" bIns="0" anchor="t">
            <a:spAutoFit/>
          </a:bodyPr>
          <a:lstStyle/>
          <a:p>
            <a:pPr algn="ctr">
              <a:lnSpc>
                <a:spcPct val="118000"/>
              </a:lnSpc>
            </a:pPr>
            <a:r>
              <a:rPr sz="1500" b="1">
                <a:solidFill>
                  <a:srgbClr val="111827"/>
                </a:solidFill>
                <a:latin typeface="Noto Sans KR"/>
              </a:rPr>
              <a:t>5.7억</a:t>
            </a:r>
          </a:p>
        </p:txBody>
      </p:sp>
      <p:sp>
        <p:nvSpPr>
          <p:cNvPr id="20" name="Rounded Rectangle 19"/>
          <p:cNvSpPr/>
          <p:nvPr/>
        </p:nvSpPr>
        <p:spPr>
          <a:xfrm>
            <a:off x="6263640" y="3902963"/>
            <a:ext cx="1005840" cy="1217676"/>
          </a:xfrm>
          <a:prstGeom prst="roundRect">
            <a:avLst>
              <a:gd name="adj" fmla="val 4545"/>
            </a:avLst>
          </a:prstGeom>
          <a:solidFill>
            <a:srgbClr val="408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80759" y="3537203"/>
            <a:ext cx="1371600" cy="320040"/>
          </a:xfrm>
          <a:prstGeom prst="rect">
            <a:avLst/>
          </a:prstGeom>
          <a:noFill/>
        </p:spPr>
        <p:txBody>
          <a:bodyPr wrap="square" lIns="0" rIns="0" tIns="0" bIns="0" anchor="t">
            <a:spAutoFit/>
          </a:bodyPr>
          <a:lstStyle/>
          <a:p>
            <a:pPr algn="ctr">
              <a:lnSpc>
                <a:spcPct val="118000"/>
              </a:lnSpc>
            </a:pPr>
            <a:r>
              <a:rPr sz="1500" b="1">
                <a:solidFill>
                  <a:srgbClr val="2F6FAD"/>
                </a:solidFill>
                <a:latin typeface="Noto Sans KR"/>
              </a:rPr>
              <a:t>18.8억</a:t>
            </a:r>
          </a:p>
        </p:txBody>
      </p:sp>
      <p:sp>
        <p:nvSpPr>
          <p:cNvPr id="22" name="TextBox 21"/>
          <p:cNvSpPr txBox="1"/>
          <p:nvPr/>
        </p:nvSpPr>
        <p:spPr>
          <a:xfrm>
            <a:off x="4892040" y="5230368"/>
            <a:ext cx="2651760" cy="256032"/>
          </a:xfrm>
          <a:prstGeom prst="rect">
            <a:avLst/>
          </a:prstGeom>
          <a:noFill/>
        </p:spPr>
        <p:txBody>
          <a:bodyPr wrap="square" lIns="0" rIns="0" tIns="0" bIns="0" anchor="t">
            <a:spAutoFit/>
          </a:bodyPr>
          <a:lstStyle/>
          <a:p>
            <a:pPr algn="ctr">
              <a:lnSpc>
                <a:spcPct val="118000"/>
              </a:lnSpc>
            </a:pPr>
            <a:r>
              <a:rPr sz="1250" b="1">
                <a:solidFill>
                  <a:srgbClr val="111827"/>
                </a:solidFill>
                <a:latin typeface="Noto Sans KR"/>
              </a:rPr>
              <a:t>Base</a:t>
            </a:r>
          </a:p>
        </p:txBody>
      </p:sp>
      <p:cxnSp>
        <p:nvCxnSpPr>
          <p:cNvPr id="23" name="Connector 22"/>
          <p:cNvCxnSpPr/>
          <p:nvPr/>
        </p:nvCxnSpPr>
        <p:spPr>
          <a:xfrm>
            <a:off x="4800600" y="5120640"/>
            <a:ext cx="2743200" cy="0"/>
          </a:xfrm>
          <a:prstGeom prst="line">
            <a:avLst/>
          </a:prstGeom>
          <a:ln w="15875">
            <a:solidFill>
              <a:srgbClr val="E5E7EB"/>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366760" y="4479417"/>
            <a:ext cx="1005840" cy="641223"/>
          </a:xfrm>
          <a:prstGeom prst="roundRect">
            <a:avLst>
              <a:gd name="adj" fmla="val 7130"/>
            </a:avLst>
          </a:prstGeom>
          <a:solidFill>
            <a:srgbClr val="BFD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83880" y="4113656"/>
            <a:ext cx="1371600" cy="320040"/>
          </a:xfrm>
          <a:prstGeom prst="rect">
            <a:avLst/>
          </a:prstGeom>
          <a:noFill/>
        </p:spPr>
        <p:txBody>
          <a:bodyPr wrap="square" lIns="0" rIns="0" tIns="0" bIns="0" anchor="t">
            <a:spAutoFit/>
          </a:bodyPr>
          <a:lstStyle/>
          <a:p>
            <a:pPr algn="ctr">
              <a:lnSpc>
                <a:spcPct val="118000"/>
              </a:lnSpc>
            </a:pPr>
            <a:r>
              <a:rPr sz="1500" b="1">
                <a:solidFill>
                  <a:srgbClr val="111827"/>
                </a:solidFill>
                <a:latin typeface="Noto Sans KR"/>
              </a:rPr>
              <a:t>9.9억</a:t>
            </a:r>
          </a:p>
        </p:txBody>
      </p:sp>
      <p:sp>
        <p:nvSpPr>
          <p:cNvPr id="26" name="Rounded Rectangle 25"/>
          <p:cNvSpPr/>
          <p:nvPr/>
        </p:nvSpPr>
        <p:spPr>
          <a:xfrm>
            <a:off x="9555480" y="2834259"/>
            <a:ext cx="1005840" cy="2286380"/>
          </a:xfrm>
          <a:prstGeom prst="roundRect">
            <a:avLst>
              <a:gd name="adj" fmla="val 4545"/>
            </a:avLst>
          </a:prstGeom>
          <a:solidFill>
            <a:srgbClr val="408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72600" y="2468499"/>
            <a:ext cx="1371600" cy="320040"/>
          </a:xfrm>
          <a:prstGeom prst="rect">
            <a:avLst/>
          </a:prstGeom>
          <a:noFill/>
        </p:spPr>
        <p:txBody>
          <a:bodyPr wrap="square" lIns="0" rIns="0" tIns="0" bIns="0" anchor="t">
            <a:spAutoFit/>
          </a:bodyPr>
          <a:lstStyle/>
          <a:p>
            <a:pPr algn="ctr">
              <a:lnSpc>
                <a:spcPct val="118000"/>
              </a:lnSpc>
            </a:pPr>
            <a:r>
              <a:rPr sz="1500" b="1">
                <a:solidFill>
                  <a:srgbClr val="111827"/>
                </a:solidFill>
                <a:latin typeface="Noto Sans KR"/>
              </a:rPr>
              <a:t>35.3억</a:t>
            </a:r>
          </a:p>
        </p:txBody>
      </p:sp>
      <p:sp>
        <p:nvSpPr>
          <p:cNvPr id="28" name="TextBox 27"/>
          <p:cNvSpPr txBox="1"/>
          <p:nvPr/>
        </p:nvSpPr>
        <p:spPr>
          <a:xfrm>
            <a:off x="8183880" y="5230368"/>
            <a:ext cx="2651760" cy="256032"/>
          </a:xfrm>
          <a:prstGeom prst="rect">
            <a:avLst/>
          </a:prstGeom>
          <a:noFill/>
        </p:spPr>
        <p:txBody>
          <a:bodyPr wrap="square" lIns="0" rIns="0" tIns="0" bIns="0" anchor="t">
            <a:spAutoFit/>
          </a:bodyPr>
          <a:lstStyle/>
          <a:p>
            <a:pPr algn="ctr">
              <a:lnSpc>
                <a:spcPct val="118000"/>
              </a:lnSpc>
            </a:pPr>
            <a:r>
              <a:rPr sz="1250" b="1">
                <a:solidFill>
                  <a:srgbClr val="111827"/>
                </a:solidFill>
                <a:latin typeface="Noto Sans KR"/>
              </a:rPr>
              <a:t>Best</a:t>
            </a:r>
          </a:p>
        </p:txBody>
      </p:sp>
      <p:cxnSp>
        <p:nvCxnSpPr>
          <p:cNvPr id="29" name="Connector 28"/>
          <p:cNvCxnSpPr/>
          <p:nvPr/>
        </p:nvCxnSpPr>
        <p:spPr>
          <a:xfrm>
            <a:off x="8092440" y="5120640"/>
            <a:ext cx="2743200" cy="0"/>
          </a:xfrm>
          <a:prstGeom prst="line">
            <a:avLst/>
          </a:prstGeom>
          <a:ln w="15875">
            <a:solidFill>
              <a:srgbClr val="E5E7EB"/>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66928"/>
            <a:ext cx="7315200" cy="274320"/>
          </a:xfrm>
          <a:prstGeom prst="rect">
            <a:avLst/>
          </a:prstGeom>
          <a:noFill/>
        </p:spPr>
        <p:txBody>
          <a:bodyPr wrap="square" lIns="0" rIns="0" tIns="0" bIns="0" anchor="t">
            <a:spAutoFit/>
          </a:bodyPr>
          <a:lstStyle/>
          <a:p>
            <a:pPr algn="l">
              <a:lnSpc>
                <a:spcPct val="118000"/>
              </a:lnSpc>
            </a:pPr>
            <a:r>
              <a:rPr sz="1150" b="1">
                <a:solidFill>
                  <a:srgbClr val="2F6FAD"/>
                </a:solidFill>
                <a:latin typeface="Noto Sans KR"/>
              </a:rPr>
              <a:t>핵심 리스크</a:t>
            </a:r>
          </a:p>
        </p:txBody>
      </p:sp>
      <p:sp>
        <p:nvSpPr>
          <p:cNvPr id="3" name="TextBox 2"/>
          <p:cNvSpPr txBox="1"/>
          <p:nvPr/>
        </p:nvSpPr>
        <p:spPr>
          <a:xfrm>
            <a:off x="822960" y="868680"/>
            <a:ext cx="10515600" cy="1097280"/>
          </a:xfrm>
          <a:prstGeom prst="rect">
            <a:avLst/>
          </a:prstGeom>
          <a:noFill/>
        </p:spPr>
        <p:txBody>
          <a:bodyPr wrap="square" lIns="0" rIns="0" tIns="0" bIns="0" anchor="t">
            <a:spAutoFit/>
          </a:bodyPr>
          <a:lstStyle/>
          <a:p>
            <a:pPr algn="l">
              <a:lnSpc>
                <a:spcPct val="115000"/>
              </a:lnSpc>
            </a:pPr>
            <a:r>
              <a:rPr sz="2700" b="1">
                <a:solidFill>
                  <a:srgbClr val="111827"/>
                </a:solidFill>
                <a:latin typeface="Noto Sans KR"/>
              </a:rPr>
              <a:t>이 그림에는 구조적 제약 하나와,</a:t>
            </a:r>
          </a:p>
          <a:p>
            <a:pPr algn="l">
              <a:lnSpc>
                <a:spcPct val="115000"/>
              </a:lnSpc>
              <a:spcBef>
                <a:spcPts val="0"/>
              </a:spcBef>
            </a:pPr>
            <a:r>
              <a:rPr sz="2700" b="1">
                <a:solidFill>
                  <a:srgbClr val="111827"/>
                </a:solidFill>
                <a:latin typeface="Noto Sans KR"/>
              </a:rPr>
              <a:t>관리 가능한 리스크 다섯 가지가 있습니다.</a:t>
            </a:r>
          </a:p>
        </p:txBody>
      </p:sp>
      <p:sp>
        <p:nvSpPr>
          <p:cNvPr id="4" name="Rectangle 3"/>
          <p:cNvSpPr/>
          <p:nvPr/>
        </p:nvSpPr>
        <p:spPr>
          <a:xfrm>
            <a:off x="10981944" y="5888736"/>
            <a:ext cx="384048" cy="41148"/>
          </a:xfrm>
          <a:prstGeom prst="rect">
            <a:avLst/>
          </a:prstGeom>
          <a:solidFill>
            <a:srgbClr val="408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0" y="6007608"/>
            <a:ext cx="8622792" cy="365760"/>
          </a:xfrm>
          <a:prstGeom prst="rect">
            <a:avLst/>
          </a:prstGeom>
          <a:noFill/>
        </p:spPr>
        <p:txBody>
          <a:bodyPr wrap="square" lIns="0" rIns="0" tIns="0" bIns="0" anchor="t">
            <a:spAutoFit/>
          </a:bodyPr>
          <a:lstStyle/>
          <a:p>
            <a:pPr algn="r">
              <a:lnSpc>
                <a:spcPct val="118000"/>
              </a:lnSpc>
            </a:pPr>
            <a:r>
              <a:rPr sz="1400" b="1">
                <a:solidFill>
                  <a:srgbClr val="2F6FAD"/>
                </a:solidFill>
                <a:latin typeface="Noto Sans KR"/>
              </a:rPr>
              <a:t>HIGH 3건은 출시 전에 해소합니다.</a:t>
            </a:r>
          </a:p>
        </p:txBody>
      </p:sp>
      <p:sp>
        <p:nvSpPr>
          <p:cNvPr id="6" name="TextBox 5"/>
          <p:cNvSpPr txBox="1"/>
          <p:nvPr/>
        </p:nvSpPr>
        <p:spPr>
          <a:xfrm>
            <a:off x="822960" y="6419088"/>
            <a:ext cx="9692640" cy="274320"/>
          </a:xfrm>
          <a:prstGeom prst="rect">
            <a:avLst/>
          </a:prstGeom>
          <a:noFill/>
        </p:spPr>
        <p:txBody>
          <a:bodyPr wrap="square" lIns="0" rIns="0" tIns="0" bIns="0" anchor="t">
            <a:spAutoFit/>
          </a:bodyPr>
          <a:lstStyle/>
          <a:p>
            <a:pPr algn="l">
              <a:lnSpc>
                <a:spcPct val="110000"/>
              </a:lnSpc>
            </a:pPr>
            <a:r>
              <a:rPr sz="800" b="0">
                <a:solidFill>
                  <a:srgbClr val="9CA3AF"/>
                </a:solidFill>
                <a:latin typeface="Noto Sans KR"/>
              </a:rPr>
              <a:t>대응 원칙: 총혜택 상한 38% 고정 · 표시가 = 결제가 일치 검증 · 할인 표시 법무 검토 · 3구간 모델 기준 백테스트 재실행</a:t>
            </a:r>
          </a:p>
        </p:txBody>
      </p:sp>
      <p:sp>
        <p:nvSpPr>
          <p:cNvPr id="7" name="TextBox 6"/>
          <p:cNvSpPr txBox="1"/>
          <p:nvPr/>
        </p:nvSpPr>
        <p:spPr>
          <a:xfrm>
            <a:off x="10058400" y="6446520"/>
            <a:ext cx="1307591" cy="182880"/>
          </a:xfrm>
          <a:prstGeom prst="rect">
            <a:avLst/>
          </a:prstGeom>
          <a:noFill/>
        </p:spPr>
        <p:txBody>
          <a:bodyPr wrap="square" lIns="0" rIns="0" tIns="0" bIns="0" anchor="t">
            <a:spAutoFit/>
          </a:bodyPr>
          <a:lstStyle/>
          <a:p>
            <a:pPr algn="r">
              <a:lnSpc>
                <a:spcPct val="118000"/>
              </a:lnSpc>
            </a:pPr>
            <a:r>
              <a:rPr sz="900" b="0">
                <a:solidFill>
                  <a:srgbClr val="9CA3AF"/>
                </a:solidFill>
                <a:latin typeface="Noto Sans KR"/>
              </a:rPr>
              <a:t>14 / 16</a:t>
            </a:r>
          </a:p>
        </p:txBody>
      </p:sp>
      <p:sp>
        <p:nvSpPr>
          <p:cNvPr id="8" name="Rounded Rectangle 7"/>
          <p:cNvSpPr/>
          <p:nvPr/>
        </p:nvSpPr>
        <p:spPr>
          <a:xfrm>
            <a:off x="822960" y="2103120"/>
            <a:ext cx="5148072" cy="1005840"/>
          </a:xfrm>
          <a:prstGeom prst="roundRect">
            <a:avLst>
              <a:gd name="adj" fmla="val 14545"/>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103120"/>
            <a:ext cx="502920" cy="1005840"/>
          </a:xfrm>
          <a:prstGeom prst="rect">
            <a:avLst/>
          </a:prstGeom>
          <a:noFill/>
        </p:spPr>
        <p:txBody>
          <a:bodyPr wrap="square" lIns="0" rIns="0" tIns="0" bIns="0" anchor="ctr">
            <a:spAutoFit/>
          </a:bodyPr>
          <a:lstStyle/>
          <a:p>
            <a:pPr algn="l">
              <a:lnSpc>
                <a:spcPct val="118000"/>
              </a:lnSpc>
            </a:pPr>
            <a:r>
              <a:rPr sz="1400" b="1">
                <a:solidFill>
                  <a:srgbClr val="9CA3AF"/>
                </a:solidFill>
                <a:latin typeface="Noto Sans KR"/>
              </a:rPr>
              <a:t>01</a:t>
            </a:r>
          </a:p>
        </p:txBody>
      </p:sp>
      <p:sp>
        <p:nvSpPr>
          <p:cNvPr id="10" name="TextBox 9"/>
          <p:cNvSpPr txBox="1"/>
          <p:nvPr/>
        </p:nvSpPr>
        <p:spPr>
          <a:xfrm>
            <a:off x="1554480" y="2267712"/>
            <a:ext cx="3108960" cy="365760"/>
          </a:xfrm>
          <a:prstGeom prst="rect">
            <a:avLst/>
          </a:prstGeom>
          <a:noFill/>
        </p:spPr>
        <p:txBody>
          <a:bodyPr wrap="square" lIns="0" rIns="0" tIns="0" bIns="0" anchor="ctr">
            <a:spAutoFit/>
          </a:bodyPr>
          <a:lstStyle/>
          <a:p>
            <a:pPr algn="l">
              <a:lnSpc>
                <a:spcPct val="118000"/>
              </a:lnSpc>
            </a:pPr>
            <a:r>
              <a:rPr sz="1550" b="1">
                <a:solidFill>
                  <a:srgbClr val="111827"/>
                </a:solidFill>
                <a:latin typeface="Noto Sans KR"/>
              </a:rPr>
              <a:t>STOCK ↔ 자사몰 분리</a:t>
            </a:r>
          </a:p>
        </p:txBody>
      </p:sp>
      <p:sp>
        <p:nvSpPr>
          <p:cNvPr id="11" name="TextBox 10"/>
          <p:cNvSpPr txBox="1"/>
          <p:nvPr/>
        </p:nvSpPr>
        <p:spPr>
          <a:xfrm>
            <a:off x="1554480" y="2670048"/>
            <a:ext cx="4206240" cy="274320"/>
          </a:xfrm>
          <a:prstGeom prst="rect">
            <a:avLst/>
          </a:prstGeom>
          <a:noFill/>
        </p:spPr>
        <p:txBody>
          <a:bodyPr wrap="square" lIns="0" rIns="0" tIns="0" bIns="0" anchor="t">
            <a:spAutoFit/>
          </a:bodyPr>
          <a:lstStyle/>
          <a:p>
            <a:pPr algn="l">
              <a:lnSpc>
                <a:spcPct val="118000"/>
              </a:lnSpc>
            </a:pPr>
            <a:r>
              <a:rPr sz="1100" b="0">
                <a:solidFill>
                  <a:srgbClr val="4B5563"/>
                </a:solidFill>
                <a:latin typeface="Noto Sans KR"/>
              </a:rPr>
              <a:t>RFP 요구 구조 — 원클릭으로 최소화만 가능</a:t>
            </a:r>
          </a:p>
        </p:txBody>
      </p:sp>
      <p:sp>
        <p:nvSpPr>
          <p:cNvPr id="12" name="Rounded Rectangle 11"/>
          <p:cNvSpPr/>
          <p:nvPr/>
        </p:nvSpPr>
        <p:spPr>
          <a:xfrm>
            <a:off x="4983480" y="2286000"/>
            <a:ext cx="822960" cy="292608"/>
          </a:xfrm>
          <a:prstGeom prst="roundRect">
            <a:avLst>
              <a:gd name="adj" fmla="val 50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83480" y="2286000"/>
            <a:ext cx="822960" cy="292608"/>
          </a:xfrm>
          <a:prstGeom prst="rect">
            <a:avLst/>
          </a:prstGeom>
          <a:noFill/>
        </p:spPr>
        <p:txBody>
          <a:bodyPr wrap="square" lIns="0" rIns="0" tIns="0" bIns="0" anchor="ctr">
            <a:spAutoFit/>
          </a:bodyPr>
          <a:lstStyle/>
          <a:p>
            <a:pPr algn="ctr">
              <a:lnSpc>
                <a:spcPct val="118000"/>
              </a:lnSpc>
            </a:pPr>
            <a:r>
              <a:rPr sz="1050" b="1">
                <a:solidFill>
                  <a:srgbClr val="FFFFFF"/>
                </a:solidFill>
                <a:latin typeface="Noto Sans KR"/>
              </a:rPr>
              <a:t>구조적</a:t>
            </a:r>
          </a:p>
        </p:txBody>
      </p:sp>
      <p:sp>
        <p:nvSpPr>
          <p:cNvPr id="14" name="Rounded Rectangle 13"/>
          <p:cNvSpPr/>
          <p:nvPr/>
        </p:nvSpPr>
        <p:spPr>
          <a:xfrm>
            <a:off x="822960" y="3291839"/>
            <a:ext cx="5148072" cy="1005840"/>
          </a:xfrm>
          <a:prstGeom prst="roundRect">
            <a:avLst>
              <a:gd name="adj" fmla="val 14545"/>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3291839"/>
            <a:ext cx="502920" cy="1005840"/>
          </a:xfrm>
          <a:prstGeom prst="rect">
            <a:avLst/>
          </a:prstGeom>
          <a:noFill/>
        </p:spPr>
        <p:txBody>
          <a:bodyPr wrap="square" lIns="0" rIns="0" tIns="0" bIns="0" anchor="ctr">
            <a:spAutoFit/>
          </a:bodyPr>
          <a:lstStyle/>
          <a:p>
            <a:pPr algn="l">
              <a:lnSpc>
                <a:spcPct val="118000"/>
              </a:lnSpc>
            </a:pPr>
            <a:r>
              <a:rPr sz="1400" b="1">
                <a:solidFill>
                  <a:srgbClr val="9CA3AF"/>
                </a:solidFill>
                <a:latin typeface="Noto Sans KR"/>
              </a:rPr>
              <a:t>02</a:t>
            </a:r>
          </a:p>
        </p:txBody>
      </p:sp>
      <p:sp>
        <p:nvSpPr>
          <p:cNvPr id="16" name="TextBox 15"/>
          <p:cNvSpPr txBox="1"/>
          <p:nvPr/>
        </p:nvSpPr>
        <p:spPr>
          <a:xfrm>
            <a:off x="1554480" y="3456432"/>
            <a:ext cx="3108960" cy="365760"/>
          </a:xfrm>
          <a:prstGeom prst="rect">
            <a:avLst/>
          </a:prstGeom>
          <a:noFill/>
        </p:spPr>
        <p:txBody>
          <a:bodyPr wrap="square" lIns="0" rIns="0" tIns="0" bIns="0" anchor="ctr">
            <a:spAutoFit/>
          </a:bodyPr>
          <a:lstStyle/>
          <a:p>
            <a:pPr algn="l">
              <a:lnSpc>
                <a:spcPct val="118000"/>
              </a:lnSpc>
            </a:pPr>
            <a:r>
              <a:rPr sz="1550" b="1">
                <a:solidFill>
                  <a:srgbClr val="111827"/>
                </a:solidFill>
                <a:latin typeface="Noto Sans KR"/>
              </a:rPr>
              <a:t>검색 키워드 적합성</a:t>
            </a:r>
          </a:p>
        </p:txBody>
      </p:sp>
      <p:sp>
        <p:nvSpPr>
          <p:cNvPr id="17" name="TextBox 16"/>
          <p:cNvSpPr txBox="1"/>
          <p:nvPr/>
        </p:nvSpPr>
        <p:spPr>
          <a:xfrm>
            <a:off x="1554480" y="3858768"/>
            <a:ext cx="4206240" cy="274320"/>
          </a:xfrm>
          <a:prstGeom prst="rect">
            <a:avLst/>
          </a:prstGeom>
          <a:noFill/>
        </p:spPr>
        <p:txBody>
          <a:bodyPr wrap="square" lIns="0" rIns="0" tIns="0" bIns="0" anchor="t">
            <a:spAutoFit/>
          </a:bodyPr>
          <a:lstStyle/>
          <a:p>
            <a:pPr algn="l">
              <a:lnSpc>
                <a:spcPct val="118000"/>
              </a:lnSpc>
            </a:pPr>
            <a:r>
              <a:rPr sz="1100" b="0">
                <a:solidFill>
                  <a:srgbClr val="4B5563"/>
                </a:solidFill>
                <a:latin typeface="Noto Sans KR"/>
              </a:rPr>
              <a:t>백테스트는 모닝빵 1종 중심 — 나머지 검증 필요</a:t>
            </a:r>
          </a:p>
        </p:txBody>
      </p:sp>
      <p:sp>
        <p:nvSpPr>
          <p:cNvPr id="18" name="Rounded Rectangle 17"/>
          <p:cNvSpPr/>
          <p:nvPr/>
        </p:nvSpPr>
        <p:spPr>
          <a:xfrm>
            <a:off x="4983480" y="3474720"/>
            <a:ext cx="822960" cy="292608"/>
          </a:xfrm>
          <a:prstGeom prst="roundRect">
            <a:avLst>
              <a:gd name="adj" fmla="val 50000"/>
            </a:avLst>
          </a:prstGeom>
          <a:solidFill>
            <a:srgbClr val="FF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83480" y="3474720"/>
            <a:ext cx="822960" cy="292608"/>
          </a:xfrm>
          <a:prstGeom prst="rect">
            <a:avLst/>
          </a:prstGeom>
          <a:noFill/>
        </p:spPr>
        <p:txBody>
          <a:bodyPr wrap="square" lIns="0" rIns="0" tIns="0" bIns="0" anchor="ctr">
            <a:spAutoFit/>
          </a:bodyPr>
          <a:lstStyle/>
          <a:p>
            <a:pPr algn="ctr">
              <a:lnSpc>
                <a:spcPct val="118000"/>
              </a:lnSpc>
            </a:pPr>
            <a:r>
              <a:rPr sz="1050" b="1">
                <a:solidFill>
                  <a:srgbClr val="FFFFFF"/>
                </a:solidFill>
                <a:latin typeface="Noto Sans KR"/>
              </a:rPr>
              <a:t>HIGH</a:t>
            </a:r>
          </a:p>
        </p:txBody>
      </p:sp>
      <p:sp>
        <p:nvSpPr>
          <p:cNvPr id="20" name="Rounded Rectangle 19"/>
          <p:cNvSpPr/>
          <p:nvPr/>
        </p:nvSpPr>
        <p:spPr>
          <a:xfrm>
            <a:off x="822960" y="4480560"/>
            <a:ext cx="5148072" cy="1005840"/>
          </a:xfrm>
          <a:prstGeom prst="roundRect">
            <a:avLst>
              <a:gd name="adj" fmla="val 14545"/>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480560"/>
            <a:ext cx="502920" cy="1005840"/>
          </a:xfrm>
          <a:prstGeom prst="rect">
            <a:avLst/>
          </a:prstGeom>
          <a:noFill/>
        </p:spPr>
        <p:txBody>
          <a:bodyPr wrap="square" lIns="0" rIns="0" tIns="0" bIns="0" anchor="ctr">
            <a:spAutoFit/>
          </a:bodyPr>
          <a:lstStyle/>
          <a:p>
            <a:pPr algn="l">
              <a:lnSpc>
                <a:spcPct val="118000"/>
              </a:lnSpc>
            </a:pPr>
            <a:r>
              <a:rPr sz="1400" b="1">
                <a:solidFill>
                  <a:srgbClr val="9CA3AF"/>
                </a:solidFill>
                <a:latin typeface="Noto Sans KR"/>
              </a:rPr>
              <a:t>03</a:t>
            </a:r>
          </a:p>
        </p:txBody>
      </p:sp>
      <p:sp>
        <p:nvSpPr>
          <p:cNvPr id="22" name="TextBox 21"/>
          <p:cNvSpPr txBox="1"/>
          <p:nvPr/>
        </p:nvSpPr>
        <p:spPr>
          <a:xfrm>
            <a:off x="1554480" y="4645152"/>
            <a:ext cx="3108960" cy="365760"/>
          </a:xfrm>
          <a:prstGeom prst="rect">
            <a:avLst/>
          </a:prstGeom>
          <a:noFill/>
        </p:spPr>
        <p:txBody>
          <a:bodyPr wrap="square" lIns="0" rIns="0" tIns="0" bIns="0" anchor="ctr">
            <a:spAutoFit/>
          </a:bodyPr>
          <a:lstStyle/>
          <a:p>
            <a:pPr algn="l">
              <a:lnSpc>
                <a:spcPct val="118000"/>
              </a:lnSpc>
            </a:pPr>
            <a:r>
              <a:rPr sz="1550" b="1">
                <a:solidFill>
                  <a:srgbClr val="111827"/>
                </a:solidFill>
                <a:latin typeface="Noto Sans KR"/>
              </a:rPr>
              <a:t>표시·결제가 불일치</a:t>
            </a:r>
          </a:p>
        </p:txBody>
      </p:sp>
      <p:sp>
        <p:nvSpPr>
          <p:cNvPr id="23" name="TextBox 22"/>
          <p:cNvSpPr txBox="1"/>
          <p:nvPr/>
        </p:nvSpPr>
        <p:spPr>
          <a:xfrm>
            <a:off x="1554480" y="5047488"/>
            <a:ext cx="4206240" cy="274320"/>
          </a:xfrm>
          <a:prstGeom prst="rect">
            <a:avLst/>
          </a:prstGeom>
          <a:noFill/>
        </p:spPr>
        <p:txBody>
          <a:bodyPr wrap="square" lIns="0" rIns="0" tIns="0" bIns="0" anchor="t">
            <a:spAutoFit/>
          </a:bodyPr>
          <a:lstStyle/>
          <a:p>
            <a:pPr algn="l">
              <a:lnSpc>
                <a:spcPct val="118000"/>
              </a:lnSpc>
            </a:pPr>
            <a:r>
              <a:rPr sz="1100" b="0">
                <a:solidFill>
                  <a:srgbClr val="4B5563"/>
                </a:solidFill>
                <a:latin typeface="Noto Sans KR"/>
              </a:rPr>
              <a:t>다르면 신뢰·전환이 훼손됨</a:t>
            </a:r>
          </a:p>
        </p:txBody>
      </p:sp>
      <p:sp>
        <p:nvSpPr>
          <p:cNvPr id="24" name="Rounded Rectangle 23"/>
          <p:cNvSpPr/>
          <p:nvPr/>
        </p:nvSpPr>
        <p:spPr>
          <a:xfrm>
            <a:off x="4983480" y="4663440"/>
            <a:ext cx="822960" cy="292608"/>
          </a:xfrm>
          <a:prstGeom prst="roundRect">
            <a:avLst>
              <a:gd name="adj" fmla="val 50000"/>
            </a:avLst>
          </a:prstGeom>
          <a:solidFill>
            <a:srgbClr val="FF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983480" y="4663440"/>
            <a:ext cx="822960" cy="292608"/>
          </a:xfrm>
          <a:prstGeom prst="rect">
            <a:avLst/>
          </a:prstGeom>
          <a:noFill/>
        </p:spPr>
        <p:txBody>
          <a:bodyPr wrap="square" lIns="0" rIns="0" tIns="0" bIns="0" anchor="ctr">
            <a:spAutoFit/>
          </a:bodyPr>
          <a:lstStyle/>
          <a:p>
            <a:pPr algn="ctr">
              <a:lnSpc>
                <a:spcPct val="118000"/>
              </a:lnSpc>
            </a:pPr>
            <a:r>
              <a:rPr sz="1050" b="1">
                <a:solidFill>
                  <a:srgbClr val="FFFFFF"/>
                </a:solidFill>
                <a:latin typeface="Noto Sans KR"/>
              </a:rPr>
              <a:t>HIGH</a:t>
            </a:r>
          </a:p>
        </p:txBody>
      </p:sp>
      <p:sp>
        <p:nvSpPr>
          <p:cNvPr id="26" name="Rounded Rectangle 25"/>
          <p:cNvSpPr/>
          <p:nvPr/>
        </p:nvSpPr>
        <p:spPr>
          <a:xfrm>
            <a:off x="6217920" y="2103120"/>
            <a:ext cx="5148072" cy="1005840"/>
          </a:xfrm>
          <a:prstGeom prst="roundRect">
            <a:avLst>
              <a:gd name="adj" fmla="val 14545"/>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2103120"/>
            <a:ext cx="502920" cy="1005840"/>
          </a:xfrm>
          <a:prstGeom prst="rect">
            <a:avLst/>
          </a:prstGeom>
          <a:noFill/>
        </p:spPr>
        <p:txBody>
          <a:bodyPr wrap="square" lIns="0" rIns="0" tIns="0" bIns="0" anchor="ctr">
            <a:spAutoFit/>
          </a:bodyPr>
          <a:lstStyle/>
          <a:p>
            <a:pPr algn="l">
              <a:lnSpc>
                <a:spcPct val="118000"/>
              </a:lnSpc>
            </a:pPr>
            <a:r>
              <a:rPr sz="1400" b="1">
                <a:solidFill>
                  <a:srgbClr val="9CA3AF"/>
                </a:solidFill>
                <a:latin typeface="Noto Sans KR"/>
              </a:rPr>
              <a:t>04</a:t>
            </a:r>
          </a:p>
        </p:txBody>
      </p:sp>
      <p:sp>
        <p:nvSpPr>
          <p:cNvPr id="28" name="TextBox 27"/>
          <p:cNvSpPr txBox="1"/>
          <p:nvPr/>
        </p:nvSpPr>
        <p:spPr>
          <a:xfrm>
            <a:off x="6949440" y="2267712"/>
            <a:ext cx="3108960" cy="365760"/>
          </a:xfrm>
          <a:prstGeom prst="rect">
            <a:avLst/>
          </a:prstGeom>
          <a:noFill/>
        </p:spPr>
        <p:txBody>
          <a:bodyPr wrap="square" lIns="0" rIns="0" tIns="0" bIns="0" anchor="ctr">
            <a:spAutoFit/>
          </a:bodyPr>
          <a:lstStyle/>
          <a:p>
            <a:pPr algn="l">
              <a:lnSpc>
                <a:spcPct val="118000"/>
              </a:lnSpc>
            </a:pPr>
            <a:r>
              <a:rPr sz="1550" b="1">
                <a:solidFill>
                  <a:srgbClr val="111827"/>
                </a:solidFill>
                <a:latin typeface="Noto Sans KR"/>
              </a:rPr>
              <a:t>법적 위험</a:t>
            </a:r>
          </a:p>
        </p:txBody>
      </p:sp>
      <p:sp>
        <p:nvSpPr>
          <p:cNvPr id="29" name="TextBox 28"/>
          <p:cNvSpPr txBox="1"/>
          <p:nvPr/>
        </p:nvSpPr>
        <p:spPr>
          <a:xfrm>
            <a:off x="6949440" y="2670048"/>
            <a:ext cx="4206240" cy="274320"/>
          </a:xfrm>
          <a:prstGeom prst="rect">
            <a:avLst/>
          </a:prstGeom>
          <a:noFill/>
        </p:spPr>
        <p:txBody>
          <a:bodyPr wrap="square" lIns="0" rIns="0" tIns="0" bIns="0" anchor="t">
            <a:spAutoFit/>
          </a:bodyPr>
          <a:lstStyle/>
          <a:p>
            <a:pPr algn="l">
              <a:lnSpc>
                <a:spcPct val="118000"/>
              </a:lnSpc>
            </a:pPr>
            <a:r>
              <a:rPr sz="1100" b="0">
                <a:solidFill>
                  <a:srgbClr val="4B5563"/>
                </a:solidFill>
                <a:latin typeface="Noto Sans KR"/>
              </a:rPr>
              <a:t>할인 표시가 실제와 다르면 표시광고법 소지</a:t>
            </a:r>
          </a:p>
        </p:txBody>
      </p:sp>
      <p:sp>
        <p:nvSpPr>
          <p:cNvPr id="30" name="Rounded Rectangle 29"/>
          <p:cNvSpPr/>
          <p:nvPr/>
        </p:nvSpPr>
        <p:spPr>
          <a:xfrm>
            <a:off x="10378440" y="2286000"/>
            <a:ext cx="822960" cy="292608"/>
          </a:xfrm>
          <a:prstGeom prst="roundRect">
            <a:avLst>
              <a:gd name="adj" fmla="val 50000"/>
            </a:avLst>
          </a:prstGeom>
          <a:solidFill>
            <a:srgbClr val="FF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378440" y="2286000"/>
            <a:ext cx="822960" cy="292608"/>
          </a:xfrm>
          <a:prstGeom prst="rect">
            <a:avLst/>
          </a:prstGeom>
          <a:noFill/>
        </p:spPr>
        <p:txBody>
          <a:bodyPr wrap="square" lIns="0" rIns="0" tIns="0" bIns="0" anchor="ctr">
            <a:spAutoFit/>
          </a:bodyPr>
          <a:lstStyle/>
          <a:p>
            <a:pPr algn="ctr">
              <a:lnSpc>
                <a:spcPct val="118000"/>
              </a:lnSpc>
            </a:pPr>
            <a:r>
              <a:rPr sz="1050" b="1">
                <a:solidFill>
                  <a:srgbClr val="FFFFFF"/>
                </a:solidFill>
                <a:latin typeface="Noto Sans KR"/>
              </a:rPr>
              <a:t>HIGH</a:t>
            </a:r>
          </a:p>
        </p:txBody>
      </p:sp>
      <p:sp>
        <p:nvSpPr>
          <p:cNvPr id="32" name="Rounded Rectangle 31"/>
          <p:cNvSpPr/>
          <p:nvPr/>
        </p:nvSpPr>
        <p:spPr>
          <a:xfrm>
            <a:off x="6217920" y="3291839"/>
            <a:ext cx="5148072" cy="1005840"/>
          </a:xfrm>
          <a:prstGeom prst="roundRect">
            <a:avLst>
              <a:gd name="adj" fmla="val 14545"/>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3291839"/>
            <a:ext cx="502920" cy="1005840"/>
          </a:xfrm>
          <a:prstGeom prst="rect">
            <a:avLst/>
          </a:prstGeom>
          <a:noFill/>
        </p:spPr>
        <p:txBody>
          <a:bodyPr wrap="square" lIns="0" rIns="0" tIns="0" bIns="0" anchor="ctr">
            <a:spAutoFit/>
          </a:bodyPr>
          <a:lstStyle/>
          <a:p>
            <a:pPr algn="l">
              <a:lnSpc>
                <a:spcPct val="118000"/>
              </a:lnSpc>
            </a:pPr>
            <a:r>
              <a:rPr sz="1400" b="1">
                <a:solidFill>
                  <a:srgbClr val="9CA3AF"/>
                </a:solidFill>
                <a:latin typeface="Noto Sans KR"/>
              </a:rPr>
              <a:t>05</a:t>
            </a:r>
          </a:p>
        </p:txBody>
      </p:sp>
      <p:sp>
        <p:nvSpPr>
          <p:cNvPr id="34" name="TextBox 33"/>
          <p:cNvSpPr txBox="1"/>
          <p:nvPr/>
        </p:nvSpPr>
        <p:spPr>
          <a:xfrm>
            <a:off x="6949440" y="3456432"/>
            <a:ext cx="3108960" cy="365760"/>
          </a:xfrm>
          <a:prstGeom prst="rect">
            <a:avLst/>
          </a:prstGeom>
          <a:noFill/>
        </p:spPr>
        <p:txBody>
          <a:bodyPr wrap="square" lIns="0" rIns="0" tIns="0" bIns="0" anchor="ctr">
            <a:spAutoFit/>
          </a:bodyPr>
          <a:lstStyle/>
          <a:p>
            <a:pPr algn="l">
              <a:lnSpc>
                <a:spcPct val="118000"/>
              </a:lnSpc>
            </a:pPr>
            <a:r>
              <a:rPr sz="1550" b="1">
                <a:solidFill>
                  <a:srgbClr val="111827"/>
                </a:solidFill>
                <a:latin typeface="Noto Sans KR"/>
              </a:rPr>
              <a:t>가격모델 전환 재검증</a:t>
            </a:r>
          </a:p>
        </p:txBody>
      </p:sp>
      <p:sp>
        <p:nvSpPr>
          <p:cNvPr id="35" name="TextBox 34"/>
          <p:cNvSpPr txBox="1"/>
          <p:nvPr/>
        </p:nvSpPr>
        <p:spPr>
          <a:xfrm>
            <a:off x="6949440" y="3858768"/>
            <a:ext cx="4206240" cy="274320"/>
          </a:xfrm>
          <a:prstGeom prst="rect">
            <a:avLst/>
          </a:prstGeom>
          <a:noFill/>
        </p:spPr>
        <p:txBody>
          <a:bodyPr wrap="square" lIns="0" rIns="0" tIns="0" bIns="0" anchor="t">
            <a:spAutoFit/>
          </a:bodyPr>
          <a:lstStyle/>
          <a:p>
            <a:pPr algn="l">
              <a:lnSpc>
                <a:spcPct val="118000"/>
              </a:lnSpc>
            </a:pPr>
            <a:r>
              <a:rPr sz="1100" b="0">
                <a:solidFill>
                  <a:srgbClr val="4B5563"/>
                </a:solidFill>
                <a:latin typeface="Noto Sans KR"/>
              </a:rPr>
              <a:t>3구간 모델로 바뀌어 백테스트 재실행</a:t>
            </a:r>
          </a:p>
        </p:txBody>
      </p:sp>
      <p:sp>
        <p:nvSpPr>
          <p:cNvPr id="36" name="Rounded Rectangle 35"/>
          <p:cNvSpPr/>
          <p:nvPr/>
        </p:nvSpPr>
        <p:spPr>
          <a:xfrm>
            <a:off x="10378440" y="3474720"/>
            <a:ext cx="822960" cy="292608"/>
          </a:xfrm>
          <a:prstGeom prst="roundRect">
            <a:avLst>
              <a:gd name="adj" fmla="val 50000"/>
            </a:avLst>
          </a:prstGeom>
          <a:solidFill>
            <a:srgbClr val="F5B3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378440" y="3474720"/>
            <a:ext cx="822960" cy="292608"/>
          </a:xfrm>
          <a:prstGeom prst="rect">
            <a:avLst/>
          </a:prstGeom>
          <a:noFill/>
        </p:spPr>
        <p:txBody>
          <a:bodyPr wrap="square" lIns="0" rIns="0" tIns="0" bIns="0" anchor="ctr">
            <a:spAutoFit/>
          </a:bodyPr>
          <a:lstStyle/>
          <a:p>
            <a:pPr algn="ctr">
              <a:lnSpc>
                <a:spcPct val="118000"/>
              </a:lnSpc>
            </a:pPr>
            <a:r>
              <a:rPr sz="1050" b="1">
                <a:solidFill>
                  <a:srgbClr val="4A3600"/>
                </a:solidFill>
                <a:latin typeface="Noto Sans KR"/>
              </a:rPr>
              <a:t>관리중</a:t>
            </a:r>
          </a:p>
        </p:txBody>
      </p:sp>
      <p:sp>
        <p:nvSpPr>
          <p:cNvPr id="38" name="Rounded Rectangle 37"/>
          <p:cNvSpPr/>
          <p:nvPr/>
        </p:nvSpPr>
        <p:spPr>
          <a:xfrm>
            <a:off x="6217920" y="4480560"/>
            <a:ext cx="5148072" cy="1005840"/>
          </a:xfrm>
          <a:prstGeom prst="roundRect">
            <a:avLst>
              <a:gd name="adj" fmla="val 14545"/>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0" y="4480560"/>
            <a:ext cx="502920" cy="1005840"/>
          </a:xfrm>
          <a:prstGeom prst="rect">
            <a:avLst/>
          </a:prstGeom>
          <a:noFill/>
        </p:spPr>
        <p:txBody>
          <a:bodyPr wrap="square" lIns="0" rIns="0" tIns="0" bIns="0" anchor="ctr">
            <a:spAutoFit/>
          </a:bodyPr>
          <a:lstStyle/>
          <a:p>
            <a:pPr algn="l">
              <a:lnSpc>
                <a:spcPct val="118000"/>
              </a:lnSpc>
            </a:pPr>
            <a:r>
              <a:rPr sz="1400" b="1">
                <a:solidFill>
                  <a:srgbClr val="9CA3AF"/>
                </a:solidFill>
                <a:latin typeface="Noto Sans KR"/>
              </a:rPr>
              <a:t>06</a:t>
            </a:r>
          </a:p>
        </p:txBody>
      </p:sp>
      <p:sp>
        <p:nvSpPr>
          <p:cNvPr id="40" name="TextBox 39"/>
          <p:cNvSpPr txBox="1"/>
          <p:nvPr/>
        </p:nvSpPr>
        <p:spPr>
          <a:xfrm>
            <a:off x="6949440" y="4645152"/>
            <a:ext cx="3108960" cy="365760"/>
          </a:xfrm>
          <a:prstGeom prst="rect">
            <a:avLst/>
          </a:prstGeom>
          <a:noFill/>
        </p:spPr>
        <p:txBody>
          <a:bodyPr wrap="square" lIns="0" rIns="0" tIns="0" bIns="0" anchor="ctr">
            <a:spAutoFit/>
          </a:bodyPr>
          <a:lstStyle/>
          <a:p>
            <a:pPr algn="l">
              <a:lnSpc>
                <a:spcPct val="118000"/>
              </a:lnSpc>
            </a:pPr>
            <a:r>
              <a:rPr sz="1550" b="1">
                <a:solidFill>
                  <a:srgbClr val="111827"/>
                </a:solidFill>
                <a:latin typeface="Noto Sans KR"/>
              </a:rPr>
              <a:t>쿠폰 중복 적용</a:t>
            </a:r>
          </a:p>
        </p:txBody>
      </p:sp>
      <p:sp>
        <p:nvSpPr>
          <p:cNvPr id="41" name="TextBox 40"/>
          <p:cNvSpPr txBox="1"/>
          <p:nvPr/>
        </p:nvSpPr>
        <p:spPr>
          <a:xfrm>
            <a:off x="6949440" y="5047488"/>
            <a:ext cx="4206240" cy="274320"/>
          </a:xfrm>
          <a:prstGeom prst="rect">
            <a:avLst/>
          </a:prstGeom>
          <a:noFill/>
        </p:spPr>
        <p:txBody>
          <a:bodyPr wrap="square" lIns="0" rIns="0" tIns="0" bIns="0" anchor="t">
            <a:spAutoFit/>
          </a:bodyPr>
          <a:lstStyle/>
          <a:p>
            <a:pPr algn="l">
              <a:lnSpc>
                <a:spcPct val="118000"/>
              </a:lnSpc>
            </a:pPr>
            <a:r>
              <a:rPr sz="1100" b="0">
                <a:solidFill>
                  <a:srgbClr val="4B5563"/>
                </a:solidFill>
                <a:latin typeface="Noto Sans KR"/>
              </a:rPr>
              <a:t>동시 적용 시 총혜택 상한 초과 가능</a:t>
            </a:r>
          </a:p>
        </p:txBody>
      </p:sp>
      <p:sp>
        <p:nvSpPr>
          <p:cNvPr id="42" name="Rounded Rectangle 41"/>
          <p:cNvSpPr/>
          <p:nvPr/>
        </p:nvSpPr>
        <p:spPr>
          <a:xfrm>
            <a:off x="10378440" y="4663440"/>
            <a:ext cx="822960" cy="292608"/>
          </a:xfrm>
          <a:prstGeom prst="roundRect">
            <a:avLst>
              <a:gd name="adj" fmla="val 50000"/>
            </a:avLst>
          </a:prstGeom>
          <a:solidFill>
            <a:srgbClr val="F5B3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378440" y="4663440"/>
            <a:ext cx="822960" cy="292608"/>
          </a:xfrm>
          <a:prstGeom prst="rect">
            <a:avLst/>
          </a:prstGeom>
          <a:noFill/>
        </p:spPr>
        <p:txBody>
          <a:bodyPr wrap="square" lIns="0" rIns="0" tIns="0" bIns="0" anchor="ctr">
            <a:spAutoFit/>
          </a:bodyPr>
          <a:lstStyle/>
          <a:p>
            <a:pPr algn="ctr">
              <a:lnSpc>
                <a:spcPct val="118000"/>
              </a:lnSpc>
            </a:pPr>
            <a:r>
              <a:rPr sz="1050" b="1">
                <a:solidFill>
                  <a:srgbClr val="4A3600"/>
                </a:solidFill>
                <a:latin typeface="Noto Sans KR"/>
              </a:rPr>
              <a:t>관리중</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66928"/>
            <a:ext cx="7315200" cy="274320"/>
          </a:xfrm>
          <a:prstGeom prst="rect">
            <a:avLst/>
          </a:prstGeom>
          <a:noFill/>
        </p:spPr>
        <p:txBody>
          <a:bodyPr wrap="square" lIns="0" rIns="0" tIns="0" bIns="0" anchor="t">
            <a:spAutoFit/>
          </a:bodyPr>
          <a:lstStyle/>
          <a:p>
            <a:pPr algn="l">
              <a:lnSpc>
                <a:spcPct val="118000"/>
              </a:lnSpc>
            </a:pPr>
            <a:r>
              <a:rPr sz="1150" b="1">
                <a:solidFill>
                  <a:srgbClr val="2F6FAD"/>
                </a:solidFill>
                <a:latin typeface="Noto Sans KR"/>
              </a:rPr>
              <a:t>요청 사항과 로드맵</a:t>
            </a:r>
          </a:p>
        </p:txBody>
      </p:sp>
      <p:sp>
        <p:nvSpPr>
          <p:cNvPr id="3" name="TextBox 2"/>
          <p:cNvSpPr txBox="1"/>
          <p:nvPr/>
        </p:nvSpPr>
        <p:spPr>
          <a:xfrm>
            <a:off x="822960" y="868680"/>
            <a:ext cx="10515600" cy="1097280"/>
          </a:xfrm>
          <a:prstGeom prst="rect">
            <a:avLst/>
          </a:prstGeom>
          <a:noFill/>
        </p:spPr>
        <p:txBody>
          <a:bodyPr wrap="square" lIns="0" rIns="0" tIns="0" bIns="0" anchor="t">
            <a:spAutoFit/>
          </a:bodyPr>
          <a:lstStyle/>
          <a:p>
            <a:pPr algn="l">
              <a:lnSpc>
                <a:spcPct val="115000"/>
              </a:lnSpc>
            </a:pPr>
            <a:r>
              <a:rPr sz="2700" b="1">
                <a:solidFill>
                  <a:srgbClr val="111827"/>
                </a:solidFill>
                <a:latin typeface="Noto Sans KR"/>
              </a:rPr>
              <a:t>그래서 세 가지를 요청드립니다 —</a:t>
            </a:r>
          </a:p>
          <a:p>
            <a:pPr algn="l">
              <a:lnSpc>
                <a:spcPct val="115000"/>
              </a:lnSpc>
              <a:spcBef>
                <a:spcPts val="0"/>
              </a:spcBef>
            </a:pPr>
            <a:r>
              <a:rPr sz="2700" b="1">
                <a:solidFill>
                  <a:srgbClr val="111827"/>
                </a:solidFill>
                <a:latin typeface="Noto Sans KR"/>
              </a:rPr>
              <a:t>정해지면 바로 3단계로 시작합니다.</a:t>
            </a:r>
          </a:p>
        </p:txBody>
      </p:sp>
      <p:sp>
        <p:nvSpPr>
          <p:cNvPr id="4" name="Rectangle 3"/>
          <p:cNvSpPr/>
          <p:nvPr/>
        </p:nvSpPr>
        <p:spPr>
          <a:xfrm>
            <a:off x="10981944" y="5888736"/>
            <a:ext cx="384048" cy="41148"/>
          </a:xfrm>
          <a:prstGeom prst="rect">
            <a:avLst/>
          </a:prstGeom>
          <a:solidFill>
            <a:srgbClr val="408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0" y="6007608"/>
            <a:ext cx="8622792" cy="365760"/>
          </a:xfrm>
          <a:prstGeom prst="rect">
            <a:avLst/>
          </a:prstGeom>
          <a:noFill/>
        </p:spPr>
        <p:txBody>
          <a:bodyPr wrap="square" lIns="0" rIns="0" tIns="0" bIns="0" anchor="t">
            <a:spAutoFit/>
          </a:bodyPr>
          <a:lstStyle/>
          <a:p>
            <a:pPr algn="r">
              <a:lnSpc>
                <a:spcPct val="118000"/>
              </a:lnSpc>
            </a:pPr>
            <a:r>
              <a:rPr sz="1400" b="1">
                <a:solidFill>
                  <a:srgbClr val="2F6FAD"/>
                </a:solidFill>
                <a:latin typeface="Noto Sans KR"/>
              </a:rPr>
              <a:t>세 가지가 정해지면 바로 구현·검증 단계로 들어갑니다.</a:t>
            </a:r>
          </a:p>
        </p:txBody>
      </p:sp>
      <p:sp>
        <p:nvSpPr>
          <p:cNvPr id="6" name="TextBox 5"/>
          <p:cNvSpPr txBox="1"/>
          <p:nvPr/>
        </p:nvSpPr>
        <p:spPr>
          <a:xfrm>
            <a:off x="822960" y="6419088"/>
            <a:ext cx="9692640" cy="274320"/>
          </a:xfrm>
          <a:prstGeom prst="rect">
            <a:avLst/>
          </a:prstGeom>
          <a:noFill/>
        </p:spPr>
        <p:txBody>
          <a:bodyPr wrap="square" lIns="0" rIns="0" tIns="0" bIns="0" anchor="t">
            <a:spAutoFit/>
          </a:bodyPr>
          <a:lstStyle/>
          <a:p>
            <a:pPr algn="l">
              <a:lnSpc>
                <a:spcPct val="110000"/>
              </a:lnSpc>
            </a:pPr>
            <a:r>
              <a:rPr sz="800" b="0">
                <a:solidFill>
                  <a:srgbClr val="9CA3AF"/>
                </a:solidFill>
                <a:latin typeface="Noto Sans KR"/>
              </a:rPr>
              <a:t>향후 확장(설계 단계, 이번 구현 범위 아님): Bakery ETF · FX Bakery · Bread Index · 연속 방문 스트릭 보상</a:t>
            </a:r>
          </a:p>
        </p:txBody>
      </p:sp>
      <p:sp>
        <p:nvSpPr>
          <p:cNvPr id="7" name="TextBox 6"/>
          <p:cNvSpPr txBox="1"/>
          <p:nvPr/>
        </p:nvSpPr>
        <p:spPr>
          <a:xfrm>
            <a:off x="10058400" y="6446520"/>
            <a:ext cx="1307591" cy="182880"/>
          </a:xfrm>
          <a:prstGeom prst="rect">
            <a:avLst/>
          </a:prstGeom>
          <a:noFill/>
        </p:spPr>
        <p:txBody>
          <a:bodyPr wrap="square" lIns="0" rIns="0" tIns="0" bIns="0" anchor="t">
            <a:spAutoFit/>
          </a:bodyPr>
          <a:lstStyle/>
          <a:p>
            <a:pPr algn="r">
              <a:lnSpc>
                <a:spcPct val="118000"/>
              </a:lnSpc>
            </a:pPr>
            <a:r>
              <a:rPr sz="900" b="0">
                <a:solidFill>
                  <a:srgbClr val="9CA3AF"/>
                </a:solidFill>
                <a:latin typeface="Noto Sans KR"/>
              </a:rPr>
              <a:t>15 / 16</a:t>
            </a:r>
          </a:p>
        </p:txBody>
      </p:sp>
      <p:sp>
        <p:nvSpPr>
          <p:cNvPr id="8" name="Rounded Rectangle 7"/>
          <p:cNvSpPr/>
          <p:nvPr/>
        </p:nvSpPr>
        <p:spPr>
          <a:xfrm>
            <a:off x="822960" y="2057400"/>
            <a:ext cx="10543032" cy="1600200"/>
          </a:xfrm>
          <a:prstGeom prst="roundRect">
            <a:avLst>
              <a:gd name="adj" fmla="val 9142"/>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1188720" y="2377440"/>
            <a:ext cx="9875520" cy="0"/>
          </a:xfrm>
          <a:prstGeom prst="line">
            <a:avLst/>
          </a:prstGeom>
          <a:ln w="31750">
            <a:solidFill>
              <a:srgbClr val="E5E7EB"/>
            </a:solidFill>
          </a:ln>
          <a:effectLst/>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188720" y="2249424"/>
            <a:ext cx="256032" cy="256032"/>
          </a:xfrm>
          <a:prstGeom prst="ellipse">
            <a:avLst/>
          </a:prstGeom>
          <a:solidFill>
            <a:srgbClr val="408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20" y="2651760"/>
            <a:ext cx="3291840" cy="320040"/>
          </a:xfrm>
          <a:prstGeom prst="rect">
            <a:avLst/>
          </a:prstGeom>
          <a:noFill/>
        </p:spPr>
        <p:txBody>
          <a:bodyPr wrap="square" lIns="0" rIns="0" tIns="0" bIns="0" anchor="t">
            <a:spAutoFit/>
          </a:bodyPr>
          <a:lstStyle/>
          <a:p>
            <a:pPr algn="l">
              <a:lnSpc>
                <a:spcPct val="118000"/>
              </a:lnSpc>
            </a:pPr>
            <a:r>
              <a:rPr sz="1050" b="1">
                <a:solidFill>
                  <a:srgbClr val="9CA3AF"/>
                </a:solidFill>
                <a:latin typeface="Noto Sans KR"/>
              </a:rPr>
              <a:t>PHASE 1  </a:t>
            </a:r>
            <a:r>
              <a:rPr sz="1600" b="1">
                <a:solidFill>
                  <a:srgbClr val="111827"/>
                </a:solidFill>
                <a:latin typeface="Noto Sans KR"/>
              </a:rPr>
              <a:t>MVP</a:t>
            </a:r>
          </a:p>
        </p:txBody>
      </p:sp>
      <p:sp>
        <p:nvSpPr>
          <p:cNvPr id="12" name="TextBox 11"/>
          <p:cNvSpPr txBox="1"/>
          <p:nvPr/>
        </p:nvSpPr>
        <p:spPr>
          <a:xfrm>
            <a:off x="1188720" y="3054096"/>
            <a:ext cx="3291840" cy="274320"/>
          </a:xfrm>
          <a:prstGeom prst="rect">
            <a:avLst/>
          </a:prstGeom>
          <a:noFill/>
        </p:spPr>
        <p:txBody>
          <a:bodyPr wrap="square" lIns="0" rIns="0" tIns="0" bIns="0" anchor="t">
            <a:spAutoFit/>
          </a:bodyPr>
          <a:lstStyle/>
          <a:p>
            <a:pPr algn="l">
              <a:lnSpc>
                <a:spcPct val="118000"/>
              </a:lnSpc>
            </a:pPr>
            <a:r>
              <a:rPr sz="1150" b="0">
                <a:solidFill>
                  <a:srgbClr val="4B5563"/>
                </a:solidFill>
                <a:latin typeface="Noto Sans KR"/>
              </a:rPr>
              <a:t>시세 · 비교 · 구매 이동</a:t>
            </a:r>
          </a:p>
        </p:txBody>
      </p:sp>
      <p:sp>
        <p:nvSpPr>
          <p:cNvPr id="13" name="Oval 12"/>
          <p:cNvSpPr/>
          <p:nvPr/>
        </p:nvSpPr>
        <p:spPr>
          <a:xfrm>
            <a:off x="4709160" y="2249424"/>
            <a:ext cx="256032" cy="256032"/>
          </a:xfrm>
          <a:prstGeom prst="ellipse">
            <a:avLst/>
          </a:prstGeom>
          <a:solidFill>
            <a:srgbClr val="F5B3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09160" y="2651760"/>
            <a:ext cx="3291840" cy="320040"/>
          </a:xfrm>
          <a:prstGeom prst="rect">
            <a:avLst/>
          </a:prstGeom>
          <a:noFill/>
        </p:spPr>
        <p:txBody>
          <a:bodyPr wrap="square" lIns="0" rIns="0" tIns="0" bIns="0" anchor="t">
            <a:spAutoFit/>
          </a:bodyPr>
          <a:lstStyle/>
          <a:p>
            <a:pPr algn="l">
              <a:lnSpc>
                <a:spcPct val="118000"/>
              </a:lnSpc>
            </a:pPr>
            <a:r>
              <a:rPr sz="1050" b="1">
                <a:solidFill>
                  <a:srgbClr val="9CA3AF"/>
                </a:solidFill>
                <a:latin typeface="Noto Sans KR"/>
              </a:rPr>
              <a:t>PHASE 2  </a:t>
            </a:r>
            <a:r>
              <a:rPr sz="1600" b="1">
                <a:solidFill>
                  <a:srgbClr val="111827"/>
                </a:solidFill>
                <a:latin typeface="Noto Sans KR"/>
              </a:rPr>
              <a:t>참여</a:t>
            </a:r>
          </a:p>
        </p:txBody>
      </p:sp>
      <p:sp>
        <p:nvSpPr>
          <p:cNvPr id="15" name="TextBox 14"/>
          <p:cNvSpPr txBox="1"/>
          <p:nvPr/>
        </p:nvSpPr>
        <p:spPr>
          <a:xfrm>
            <a:off x="4709160" y="3054096"/>
            <a:ext cx="3291840" cy="274320"/>
          </a:xfrm>
          <a:prstGeom prst="rect">
            <a:avLst/>
          </a:prstGeom>
          <a:noFill/>
        </p:spPr>
        <p:txBody>
          <a:bodyPr wrap="square" lIns="0" rIns="0" tIns="0" bIns="0" anchor="t">
            <a:spAutoFit/>
          </a:bodyPr>
          <a:lstStyle/>
          <a:p>
            <a:pPr algn="l">
              <a:lnSpc>
                <a:spcPct val="118000"/>
              </a:lnSpc>
            </a:pPr>
            <a:r>
              <a:rPr sz="1150" b="0">
                <a:solidFill>
                  <a:srgbClr val="4B5563"/>
                </a:solidFill>
                <a:latin typeface="Noto Sans KR"/>
              </a:rPr>
              <a:t>가격 잠금 · 보상 고르기 · 알림</a:t>
            </a:r>
          </a:p>
        </p:txBody>
      </p:sp>
      <p:sp>
        <p:nvSpPr>
          <p:cNvPr id="16" name="Oval 15"/>
          <p:cNvSpPr/>
          <p:nvPr/>
        </p:nvSpPr>
        <p:spPr>
          <a:xfrm>
            <a:off x="8229600" y="2249424"/>
            <a:ext cx="256032" cy="256032"/>
          </a:xfrm>
          <a:prstGeom prst="ellipse">
            <a:avLst/>
          </a:prstGeom>
          <a:solidFill>
            <a:srgbClr val="FF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0" y="2651760"/>
            <a:ext cx="3291840" cy="320040"/>
          </a:xfrm>
          <a:prstGeom prst="rect">
            <a:avLst/>
          </a:prstGeom>
          <a:noFill/>
        </p:spPr>
        <p:txBody>
          <a:bodyPr wrap="square" lIns="0" rIns="0" tIns="0" bIns="0" anchor="t">
            <a:spAutoFit/>
          </a:bodyPr>
          <a:lstStyle/>
          <a:p>
            <a:pPr algn="l">
              <a:lnSpc>
                <a:spcPct val="118000"/>
              </a:lnSpc>
            </a:pPr>
            <a:r>
              <a:rPr sz="1050" b="1">
                <a:solidFill>
                  <a:srgbClr val="9CA3AF"/>
                </a:solidFill>
                <a:latin typeface="Noto Sans KR"/>
              </a:rPr>
              <a:t>PHASE 3  </a:t>
            </a:r>
            <a:r>
              <a:rPr sz="1600" b="1">
                <a:solidFill>
                  <a:srgbClr val="111827"/>
                </a:solidFill>
                <a:latin typeface="Noto Sans KR"/>
              </a:rPr>
              <a:t>연동</a:t>
            </a:r>
          </a:p>
        </p:txBody>
      </p:sp>
      <p:sp>
        <p:nvSpPr>
          <p:cNvPr id="18" name="TextBox 17"/>
          <p:cNvSpPr txBox="1"/>
          <p:nvPr/>
        </p:nvSpPr>
        <p:spPr>
          <a:xfrm>
            <a:off x="8229600" y="3054096"/>
            <a:ext cx="3291840" cy="274320"/>
          </a:xfrm>
          <a:prstGeom prst="rect">
            <a:avLst/>
          </a:prstGeom>
          <a:noFill/>
        </p:spPr>
        <p:txBody>
          <a:bodyPr wrap="square" lIns="0" rIns="0" tIns="0" bIns="0" anchor="t">
            <a:spAutoFit/>
          </a:bodyPr>
          <a:lstStyle/>
          <a:p>
            <a:pPr algn="l">
              <a:lnSpc>
                <a:spcPct val="118000"/>
              </a:lnSpc>
            </a:pPr>
            <a:r>
              <a:rPr sz="1150" b="0">
                <a:solidFill>
                  <a:srgbClr val="4B5563"/>
                </a:solidFill>
                <a:latin typeface="Noto Sans KR"/>
              </a:rPr>
              <a:t>자사몰 실연동 · 쿠폰 · 구매 데이터</a:t>
            </a:r>
          </a:p>
        </p:txBody>
      </p:sp>
      <p:sp>
        <p:nvSpPr>
          <p:cNvPr id="19" name="Rounded Rectangle 18"/>
          <p:cNvSpPr/>
          <p:nvPr/>
        </p:nvSpPr>
        <p:spPr>
          <a:xfrm>
            <a:off x="822960" y="3886200"/>
            <a:ext cx="10543032" cy="512064"/>
          </a:xfrm>
          <a:prstGeom prst="roundRect">
            <a:avLst>
              <a:gd name="adj" fmla="val 28571"/>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3886200"/>
            <a:ext cx="640080" cy="512064"/>
          </a:xfrm>
          <a:prstGeom prst="rect">
            <a:avLst/>
          </a:prstGeom>
          <a:noFill/>
        </p:spPr>
        <p:txBody>
          <a:bodyPr wrap="square" lIns="0" rIns="0" tIns="0" bIns="0" anchor="ctr">
            <a:spAutoFit/>
          </a:bodyPr>
          <a:lstStyle/>
          <a:p>
            <a:pPr algn="l">
              <a:lnSpc>
                <a:spcPct val="118000"/>
              </a:lnSpc>
            </a:pPr>
            <a:r>
              <a:rPr sz="1900" b="1">
                <a:solidFill>
                  <a:srgbClr val="4087C7"/>
                </a:solidFill>
                <a:latin typeface="Noto Sans KR"/>
              </a:rPr>
              <a:t>01</a:t>
            </a:r>
          </a:p>
        </p:txBody>
      </p:sp>
      <p:sp>
        <p:nvSpPr>
          <p:cNvPr id="21" name="TextBox 20"/>
          <p:cNvSpPr txBox="1"/>
          <p:nvPr/>
        </p:nvSpPr>
        <p:spPr>
          <a:xfrm>
            <a:off x="1828800" y="3886200"/>
            <a:ext cx="3474720" cy="512064"/>
          </a:xfrm>
          <a:prstGeom prst="rect">
            <a:avLst/>
          </a:prstGeom>
          <a:noFill/>
        </p:spPr>
        <p:txBody>
          <a:bodyPr wrap="square" lIns="0" rIns="0" tIns="0" bIns="0" anchor="ctr">
            <a:spAutoFit/>
          </a:bodyPr>
          <a:lstStyle/>
          <a:p>
            <a:pPr algn="l">
              <a:lnSpc>
                <a:spcPct val="118000"/>
              </a:lnSpc>
            </a:pPr>
            <a:r>
              <a:rPr sz="1550" b="1">
                <a:solidFill>
                  <a:srgbClr val="111827"/>
                </a:solidFill>
                <a:latin typeface="Noto Sans KR"/>
              </a:rPr>
              <a:t>MVP 상품 수 확정</a:t>
            </a:r>
          </a:p>
        </p:txBody>
      </p:sp>
      <p:sp>
        <p:nvSpPr>
          <p:cNvPr id="22" name="TextBox 21"/>
          <p:cNvSpPr txBox="1"/>
          <p:nvPr/>
        </p:nvSpPr>
        <p:spPr>
          <a:xfrm>
            <a:off x="5394960" y="3886200"/>
            <a:ext cx="5760720" cy="512064"/>
          </a:xfrm>
          <a:prstGeom prst="rect">
            <a:avLst/>
          </a:prstGeom>
          <a:noFill/>
        </p:spPr>
        <p:txBody>
          <a:bodyPr wrap="square" lIns="0" rIns="0" tIns="0" bIns="0" anchor="ctr">
            <a:spAutoFit/>
          </a:bodyPr>
          <a:lstStyle/>
          <a:p>
            <a:pPr algn="l">
              <a:lnSpc>
                <a:spcPct val="118000"/>
              </a:lnSpc>
            </a:pPr>
            <a:r>
              <a:rPr sz="1200" b="0">
                <a:solidFill>
                  <a:srgbClr val="4B5563"/>
                </a:solidFill>
                <a:latin typeface="Noto Sans KR"/>
              </a:rPr>
              <a:t>대표 6종 기준으로 준비 중 · 최종 승인 필요</a:t>
            </a:r>
          </a:p>
        </p:txBody>
      </p:sp>
      <p:sp>
        <p:nvSpPr>
          <p:cNvPr id="23" name="Rounded Rectangle 22"/>
          <p:cNvSpPr/>
          <p:nvPr/>
        </p:nvSpPr>
        <p:spPr>
          <a:xfrm>
            <a:off x="822960" y="4489704"/>
            <a:ext cx="10543032" cy="512064"/>
          </a:xfrm>
          <a:prstGeom prst="roundRect">
            <a:avLst>
              <a:gd name="adj" fmla="val 28571"/>
            </a:avLst>
          </a:prstGeom>
          <a:solidFill>
            <a:srgbClr val="FFF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 y="4489704"/>
            <a:ext cx="640080" cy="512064"/>
          </a:xfrm>
          <a:prstGeom prst="rect">
            <a:avLst/>
          </a:prstGeom>
          <a:noFill/>
        </p:spPr>
        <p:txBody>
          <a:bodyPr wrap="square" lIns="0" rIns="0" tIns="0" bIns="0" anchor="ctr">
            <a:spAutoFit/>
          </a:bodyPr>
          <a:lstStyle/>
          <a:p>
            <a:pPr algn="l">
              <a:lnSpc>
                <a:spcPct val="118000"/>
              </a:lnSpc>
            </a:pPr>
            <a:r>
              <a:rPr sz="1900" b="1">
                <a:solidFill>
                  <a:srgbClr val="C98F00"/>
                </a:solidFill>
                <a:latin typeface="Noto Sans KR"/>
              </a:rPr>
              <a:t>02</a:t>
            </a:r>
          </a:p>
        </p:txBody>
      </p:sp>
      <p:sp>
        <p:nvSpPr>
          <p:cNvPr id="25" name="TextBox 24"/>
          <p:cNvSpPr txBox="1"/>
          <p:nvPr/>
        </p:nvSpPr>
        <p:spPr>
          <a:xfrm>
            <a:off x="1828800" y="4489704"/>
            <a:ext cx="3474720" cy="512064"/>
          </a:xfrm>
          <a:prstGeom prst="rect">
            <a:avLst/>
          </a:prstGeom>
          <a:noFill/>
        </p:spPr>
        <p:txBody>
          <a:bodyPr wrap="square" lIns="0" rIns="0" tIns="0" bIns="0" anchor="ctr">
            <a:spAutoFit/>
          </a:bodyPr>
          <a:lstStyle/>
          <a:p>
            <a:pPr algn="l">
              <a:lnSpc>
                <a:spcPct val="118000"/>
              </a:lnSpc>
            </a:pPr>
            <a:r>
              <a:rPr sz="1550" b="1">
                <a:solidFill>
                  <a:srgbClr val="111827"/>
                </a:solidFill>
                <a:latin typeface="Noto Sans KR"/>
              </a:rPr>
              <a:t>실제 원가·마진율 공유</a:t>
            </a:r>
          </a:p>
        </p:txBody>
      </p:sp>
      <p:sp>
        <p:nvSpPr>
          <p:cNvPr id="26" name="TextBox 25"/>
          <p:cNvSpPr txBox="1"/>
          <p:nvPr/>
        </p:nvSpPr>
        <p:spPr>
          <a:xfrm>
            <a:off x="5394960" y="4489704"/>
            <a:ext cx="5760720" cy="512064"/>
          </a:xfrm>
          <a:prstGeom prst="rect">
            <a:avLst/>
          </a:prstGeom>
          <a:noFill/>
        </p:spPr>
        <p:txBody>
          <a:bodyPr wrap="square" lIns="0" rIns="0" tIns="0" bIns="0" anchor="ctr">
            <a:spAutoFit/>
          </a:bodyPr>
          <a:lstStyle/>
          <a:p>
            <a:pPr algn="l">
              <a:lnSpc>
                <a:spcPct val="118000"/>
              </a:lnSpc>
            </a:pPr>
            <a:r>
              <a:rPr sz="1200" b="0">
                <a:solidFill>
                  <a:srgbClr val="4B5563"/>
                </a:solidFill>
                <a:latin typeface="Noto Sans KR"/>
              </a:rPr>
              <a:t>지금은 40/50/60% 가정 · 실제 수치로 정밀 검증</a:t>
            </a:r>
          </a:p>
        </p:txBody>
      </p:sp>
      <p:sp>
        <p:nvSpPr>
          <p:cNvPr id="27" name="Rounded Rectangle 26"/>
          <p:cNvSpPr/>
          <p:nvPr/>
        </p:nvSpPr>
        <p:spPr>
          <a:xfrm>
            <a:off x="822960" y="5093208"/>
            <a:ext cx="10543032" cy="512064"/>
          </a:xfrm>
          <a:prstGeom prst="roundRect">
            <a:avLst>
              <a:gd name="adj" fmla="val 28571"/>
            </a:avLst>
          </a:prstGeom>
          <a:solidFill>
            <a:srgbClr val="FF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7280" y="5093208"/>
            <a:ext cx="640080" cy="512064"/>
          </a:xfrm>
          <a:prstGeom prst="rect">
            <a:avLst/>
          </a:prstGeom>
          <a:noFill/>
        </p:spPr>
        <p:txBody>
          <a:bodyPr wrap="square" lIns="0" rIns="0" tIns="0" bIns="0" anchor="ctr">
            <a:spAutoFit/>
          </a:bodyPr>
          <a:lstStyle/>
          <a:p>
            <a:pPr algn="l">
              <a:lnSpc>
                <a:spcPct val="118000"/>
              </a:lnSpc>
            </a:pPr>
            <a:r>
              <a:rPr sz="1900" b="1">
                <a:solidFill>
                  <a:srgbClr val="FF7A45"/>
                </a:solidFill>
                <a:latin typeface="Noto Sans KR"/>
              </a:rPr>
              <a:t>03</a:t>
            </a:r>
          </a:p>
        </p:txBody>
      </p:sp>
      <p:sp>
        <p:nvSpPr>
          <p:cNvPr id="29" name="TextBox 28"/>
          <p:cNvSpPr txBox="1"/>
          <p:nvPr/>
        </p:nvSpPr>
        <p:spPr>
          <a:xfrm>
            <a:off x="1828800" y="5093208"/>
            <a:ext cx="3474720" cy="512064"/>
          </a:xfrm>
          <a:prstGeom prst="rect">
            <a:avLst/>
          </a:prstGeom>
          <a:noFill/>
        </p:spPr>
        <p:txBody>
          <a:bodyPr wrap="square" lIns="0" rIns="0" tIns="0" bIns="0" anchor="ctr">
            <a:spAutoFit/>
          </a:bodyPr>
          <a:lstStyle/>
          <a:p>
            <a:pPr algn="l">
              <a:lnSpc>
                <a:spcPct val="118000"/>
              </a:lnSpc>
            </a:pPr>
            <a:r>
              <a:rPr sz="1550" b="1">
                <a:solidFill>
                  <a:srgbClr val="111827"/>
                </a:solidFill>
                <a:latin typeface="Noto Sans KR"/>
              </a:rPr>
              <a:t>할인 표시 법무 검토</a:t>
            </a:r>
          </a:p>
        </p:txBody>
      </p:sp>
      <p:sp>
        <p:nvSpPr>
          <p:cNvPr id="30" name="TextBox 29"/>
          <p:cNvSpPr txBox="1"/>
          <p:nvPr/>
        </p:nvSpPr>
        <p:spPr>
          <a:xfrm>
            <a:off x="5394960" y="5093208"/>
            <a:ext cx="5760720" cy="512064"/>
          </a:xfrm>
          <a:prstGeom prst="rect">
            <a:avLst/>
          </a:prstGeom>
          <a:noFill/>
        </p:spPr>
        <p:txBody>
          <a:bodyPr wrap="square" lIns="0" rIns="0" tIns="0" bIns="0" anchor="ctr">
            <a:spAutoFit/>
          </a:bodyPr>
          <a:lstStyle/>
          <a:p>
            <a:pPr algn="l">
              <a:lnSpc>
                <a:spcPct val="118000"/>
              </a:lnSpc>
            </a:pPr>
            <a:r>
              <a:rPr sz="1200" b="0">
                <a:solidFill>
                  <a:srgbClr val="4B5563"/>
                </a:solidFill>
                <a:latin typeface="Noto Sans KR"/>
              </a:rPr>
              <a:t>기준가격·할인율·적용기간 표시가 표시광고법에 맞는지</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6858000"/>
          </a:xfrm>
          <a:prstGeom prst="rect">
            <a:avLst/>
          </a:prstGeom>
          <a:solidFill>
            <a:srgbClr val="408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3657600" cy="274320"/>
          </a:xfrm>
          <a:prstGeom prst="rect">
            <a:avLst/>
          </a:prstGeom>
          <a:noFill/>
        </p:spPr>
        <p:txBody>
          <a:bodyPr wrap="square" lIns="0" rIns="0" tIns="0" bIns="0" anchor="t">
            <a:spAutoFit/>
          </a:bodyPr>
          <a:lstStyle/>
          <a:p>
            <a:pPr algn="l">
              <a:lnSpc>
                <a:spcPct val="118000"/>
              </a:lnSpc>
            </a:pPr>
            <a:r>
              <a:rPr sz="1300" b="1">
                <a:solidFill>
                  <a:srgbClr val="4087C7"/>
                </a:solidFill>
                <a:latin typeface="Noto Sans KR"/>
              </a:rPr>
              <a:t>●  </a:t>
            </a:r>
            <a:r>
              <a:rPr sz="1300" b="1">
                <a:solidFill>
                  <a:srgbClr val="111827"/>
                </a:solidFill>
                <a:latin typeface="Noto Sans KR"/>
              </a:rPr>
              <a:t>MAKJI</a:t>
            </a:r>
          </a:p>
        </p:txBody>
      </p:sp>
      <p:sp>
        <p:nvSpPr>
          <p:cNvPr id="4" name="TextBox 3"/>
          <p:cNvSpPr txBox="1"/>
          <p:nvPr/>
        </p:nvSpPr>
        <p:spPr>
          <a:xfrm>
            <a:off x="6858000" y="502920"/>
            <a:ext cx="4507992" cy="274320"/>
          </a:xfrm>
          <a:prstGeom prst="rect">
            <a:avLst/>
          </a:prstGeom>
          <a:noFill/>
        </p:spPr>
        <p:txBody>
          <a:bodyPr wrap="square" lIns="0" rIns="0" tIns="0" bIns="0" anchor="t">
            <a:spAutoFit/>
          </a:bodyPr>
          <a:lstStyle/>
          <a:p>
            <a:pPr algn="r">
              <a:lnSpc>
                <a:spcPct val="118000"/>
              </a:lnSpc>
            </a:pPr>
            <a:r>
              <a:rPr sz="1050" b="1">
                <a:solidFill>
                  <a:srgbClr val="9CA3AF"/>
                </a:solidFill>
                <a:latin typeface="Noto Sans KR"/>
              </a:rPr>
              <a:t>Q&amp;A</a:t>
            </a:r>
          </a:p>
        </p:txBody>
      </p:sp>
      <p:sp>
        <p:nvSpPr>
          <p:cNvPr id="5" name="TextBox 4"/>
          <p:cNvSpPr txBox="1"/>
          <p:nvPr/>
        </p:nvSpPr>
        <p:spPr>
          <a:xfrm>
            <a:off x="822960" y="2468880"/>
            <a:ext cx="10515600" cy="2011680"/>
          </a:xfrm>
          <a:prstGeom prst="rect">
            <a:avLst/>
          </a:prstGeom>
          <a:noFill/>
        </p:spPr>
        <p:txBody>
          <a:bodyPr wrap="square" lIns="0" rIns="0" tIns="0" bIns="0" anchor="t">
            <a:spAutoFit/>
          </a:bodyPr>
          <a:lstStyle/>
          <a:p>
            <a:pPr algn="l">
              <a:lnSpc>
                <a:spcPct val="115000"/>
              </a:lnSpc>
            </a:pPr>
            <a:r>
              <a:rPr sz="4400" b="1">
                <a:solidFill>
                  <a:srgbClr val="111827"/>
                </a:solidFill>
                <a:latin typeface="Noto Sans KR"/>
              </a:rPr>
              <a:t>가격이 움직인다는 사실 자체가,</a:t>
            </a:r>
          </a:p>
          <a:p>
            <a:pPr algn="l">
              <a:lnSpc>
                <a:spcPct val="115000"/>
              </a:lnSpc>
              <a:spcBef>
                <a:spcPts val="0"/>
              </a:spcBef>
            </a:pPr>
            <a:r>
              <a:rPr sz="4400" b="1">
                <a:solidFill>
                  <a:srgbClr val="4087C7"/>
                </a:solidFill>
                <a:latin typeface="Noto Sans KR"/>
              </a:rPr>
              <a:t>다시 찾는 이유</a:t>
            </a:r>
            <a:r>
              <a:rPr sz="4400" b="1">
                <a:solidFill>
                  <a:srgbClr val="111827"/>
                </a:solidFill>
                <a:latin typeface="Noto Sans KR"/>
              </a:rPr>
              <a:t>가 됩니다.</a:t>
            </a:r>
          </a:p>
        </p:txBody>
      </p:sp>
      <p:sp>
        <p:nvSpPr>
          <p:cNvPr id="6" name="TextBox 5"/>
          <p:cNvSpPr txBox="1"/>
          <p:nvPr/>
        </p:nvSpPr>
        <p:spPr>
          <a:xfrm>
            <a:off x="822960" y="4754880"/>
            <a:ext cx="7315200" cy="365760"/>
          </a:xfrm>
          <a:prstGeom prst="rect">
            <a:avLst/>
          </a:prstGeom>
          <a:noFill/>
        </p:spPr>
        <p:txBody>
          <a:bodyPr wrap="square" lIns="0" rIns="0" tIns="0" bIns="0" anchor="t">
            <a:spAutoFit/>
          </a:bodyPr>
          <a:lstStyle/>
          <a:p>
            <a:pPr algn="l">
              <a:lnSpc>
                <a:spcPct val="118000"/>
              </a:lnSpc>
            </a:pPr>
            <a:r>
              <a:rPr sz="1600" b="0">
                <a:solidFill>
                  <a:srgbClr val="4B5563"/>
                </a:solidFill>
                <a:latin typeface="Noto Sans KR"/>
              </a:rPr>
              <a:t>질문과 의견을 듣겠습니다.</a:t>
            </a:r>
          </a:p>
        </p:txBody>
      </p:sp>
      <p:sp>
        <p:nvSpPr>
          <p:cNvPr id="7" name="TextBox 6"/>
          <p:cNvSpPr txBox="1"/>
          <p:nvPr/>
        </p:nvSpPr>
        <p:spPr>
          <a:xfrm>
            <a:off x="822960" y="6172200"/>
            <a:ext cx="5486400" cy="274320"/>
          </a:xfrm>
          <a:prstGeom prst="rect">
            <a:avLst/>
          </a:prstGeom>
          <a:noFill/>
        </p:spPr>
        <p:txBody>
          <a:bodyPr wrap="square" lIns="0" rIns="0" tIns="0" bIns="0" anchor="t">
            <a:spAutoFit/>
          </a:bodyPr>
          <a:lstStyle/>
          <a:p>
            <a:pPr algn="l">
              <a:lnSpc>
                <a:spcPct val="118000"/>
              </a:lnSpc>
            </a:pPr>
            <a:r>
              <a:rPr sz="1100" b="0">
                <a:solidFill>
                  <a:srgbClr val="4B5563"/>
                </a:solidFill>
                <a:latin typeface="Noto Sans KR"/>
              </a:rPr>
              <a:t>빵값연구소  |  MAKJI STOCK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