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 오늘 말씀드릴 것은 세 가지입니다. 시장에 기회가 있고, 우리는 그 기회를 ‘가격’으로 잡으려 하며, 그 방식이 마진을 지킨다는 것입니다. 마지막에 세 가지 요청을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온라인 베이커리 시장은 4년 만에 2배 가까이 커졌고, 유사 업체도 온라인에서 빠르게 성장하고 있습니다.</a:t>
            </a:r>
          </a:p>
          <a:p>
            <a:r>
              <a:t>[근거] 2021년 3,200억에서 2025년 6,250억으로, 연평균 18%입니다. 신세계푸드의 온라인 베이커리 매출은 2023년 255억에서 2025년 850억으로 3.3배가 됐고, 저당·고단백 브랜드 널담은 2025년 매출이 전년 대비 104% 늘었습니다.</a:t>
            </a:r>
          </a:p>
          <a:p>
            <a:r>
              <a:t>[연결] 이 성장 시장에서 막지도 B2B 공급을 넘어 자사몰(B2C)로 성장축을 넓히고 있습니다. 그런데 자사몰을 열어 보니 문제가 보였습니다.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그런데 막지 자사몰은 아침에 둘러보고 저녁에 삽니다. 방문과 구매의 시점이 어긋납니다.</a:t>
            </a:r>
          </a:p>
          <a:p>
            <a:r>
              <a:t>[근거] 5월 데이터에서 로그인은 오전 8~10시에 25.6%가 몰렸지만 그 시간 결제금액은 8.0%뿐이고, 저녁 20~24시에는 로그인 20.0%에 결제금액 28.4%입니다. 막지는 저당·무설탕·글루텐프리 웰니스 베이커리로 B2B에서 제품력을 검증했지만, 자사몰에서는 관심이 생긴 순간 구매로 이어지지 못하고 있습니다.</a:t>
            </a:r>
          </a:p>
          <a:p>
            <a:r>
              <a:t>[연결] 이것이 풀어야 할 문제입니다. 그래서 목표를 이렇게 세웠습니다.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그래서 목표는 두 단계입니다. 먼저 방문을 늘리고, 방문한 고객을 한 걸음에 구매까지 잇습니다.</a:t>
            </a:r>
          </a:p>
          <a:p>
            <a:r>
              <a:t>[근거] 첫째 자사몰 유입이 최우선입니다. 광고를 켠 날에만 팔리는 구조가 아니라 고객이 스스로 찾아오게 합니다. 둘째 체류시간과 전환율입니다. 가격을 확인하고 비교하다가 구매까지 가게 합니다.</a:t>
            </a:r>
          </a:p>
          <a:p>
            <a:r>
              <a:t>[연결] 그러면 무엇이 매일 오게 하고, 살 때까지 붙잡아 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그 답이 막지스톡입니다. 가격이 방문의 이유가 되고, 고르는 혜택이 구매까지 붙잡습니다.</a:t>
            </a:r>
          </a:p>
          <a:p>
            <a:r>
              <a:t>[근거] 전략 하나, 가격 자체를 콘텐츠로 — 빵값이 하루 두 번 바뀌어 ‘오늘은 얼마일까?’가 방문 이유가 됩니다. 전략 둘, 고객이 직접 고르는 혜택 — 잠금이나 예측 중 원하는 방식으로 혜택을 받아 주도성을 느낍니다. 경쟁 6곳 중 가격 변동 자체를 콘텐츠로 쓰는 곳은 아직 없습니다.</a:t>
            </a:r>
          </a:p>
          <a:p>
            <a:r>
              <a:t>[연결] 이것이 하루 안에서 어떻게 돌아가는지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아침에 본 가격을 잠그면 저녁 결제까지 이어집니다.</a:t>
            </a:r>
          </a:p>
          <a:p>
            <a:r>
              <a:t>[근거] 6시 오전장에서 시세를 보고 빵 하나를 잠급니다. 16시 오후장에서 잠금이 정산되고 자사몰에서 결제합니다. 다음 날 6시에는 예측 결과를 보러 다시 옵니다. 6시와 16시는 5월에 확인한 로그인 피크(8~10시)와 결제 피크(20~24시) 직전입니다. 기능은 세 가지 — 오늘의 시세, 가격 잠금, 오늘의 보상 고르기이고, 잠금 때문에 손해 보는 경우는 없습니다.</a:t>
            </a:r>
          </a:p>
          <a:p>
            <a:r>
              <a:t>[연결] 그런데 고객마다 구매 의사가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고객 상황에 따라 길은 세 가지이고, 모두 자사몰 결제로 이어집니다.</a:t>
            </a:r>
          </a:p>
          <a:p>
            <a:r>
              <a:t>[근거] 바로 살 수 있으면 즉시 구매, 가격은 좋은데 결제는 나중이면 오전가를 잠근 뒤 구매, 더 싸지길 기다리면 예측에 참여하고 쿠폰으로 최적가에 구매합니다. 잠금은 가격 상승 위험을 없애고, 예측은 내일 다시 오게 만듭니다.</a:t>
            </a:r>
          </a:p>
          <a:p>
            <a:r>
              <a:t>[연결] 이 모든 길이 통하려면 먼저 가격을 믿을 수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가격을 믿을 수 있어야 하므로, 가격은 공개된 산식으로만 움직입니다.</a:t>
            </a:r>
          </a:p>
          <a:p>
            <a:r>
              <a:t>[근거] 신호는 두 개입니다. 검색지수(수요)는 최대 15% 할인을 더하고, 환율(원가)은 내리면 하락률의 14배를 전부 돌려주고 오르면 7배, 절반만 반영합니다. 합계는 0~38%로 고정되어 정가를 넘지 않습니다. 모닝롤은 정가 4,500원이 평균 할인에서 3,830원, 최대 할인에서 2,790원입니다. 나머지 5종도 같은 산식입니다.</a:t>
            </a:r>
          </a:p>
          <a:p>
            <a:r>
              <a:t>[연결] 그렇다면 실제로 얼마나 할인될까요? 91일을 돌려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실제로 91일을 돌려 보니 평균 할인은 15%, 세션의 84%가 20% 미만이었습니다.</a:t>
            </a:r>
          </a:p>
          <a:p>
            <a:r>
              <a:t>[근거] 하루 두 번, 182개 세션입니다. 오전장 평균 15.8%, 오후장 14.2%이고, 25% 이상 큰 할인은 7번, 3.8%뿐입니다.</a:t>
            </a:r>
          </a:p>
          <a:p>
            <a:r>
              <a:t>[연결] 그렇다면 마진은 버틸까요?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마진은 버팁니다. 깊은 할인은 드물고 상한 38%에서 멈추기 때문입니다.</a:t>
            </a:r>
          </a:p>
          <a:p>
            <a:r>
              <a:t>[근거] 정가 마진을 40%로 가정해도 가장 깊은 세션의 마진은 3.2%로 흑자이고, 평균 할인 15%에서는 마진율이 29~53%로 유지됩니다. 손익분기 판매량은 마진 50%면 +43%, 60%면 +33%, 40%면 +60%입니다. 실제 원가 자료가 없어 40/50/60% 가정이라는 점을 말씀드립니다.</a:t>
            </a:r>
          </a:p>
          <a:p>
            <a:r>
              <a:t>[연결] 이 구조가 통하는지, 꼭 필요한 기능만으로 먼저 검증하겠습니다.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첫 버전은 두 전략을 검증하는 기능만 담습니다.</a:t>
            </a:r>
          </a:p>
          <a:p>
            <a:r>
              <a:t>[근거] 시세 확인, 가격 잠금, 보상 고르기, 자사몰 전환, ‘투자가 아닙니다’ 안내, 38% 상한 가드레일이 필수이고, 가격 하락 이메일 알림은 여력이 되면 넣습니다. 도감·씰, 매수가 기준 보상, 막지스톡 안의 결제는 이번에 하지 않습니다. 구현은 2~3주, 검증은 9월 28~30일이고 상품 수(대표 6종 기준)만 확정되면 됩니다.</a:t>
            </a:r>
          </a:p>
          <a:p>
            <a:r>
              <a:t>[연결] 검증한다면 무엇으로 판단할까요?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서비스 목표와 같은 순서로 측정합니다.</a:t>
            </a:r>
          </a:p>
          <a:p>
            <a:r>
              <a:t>[근거] 북극성은 STOCK에서 잠금·보상을 고른 세션이 자사몰 구매까지 가는 전환율이고, 아직 미측정이라 베타 첫 주에 기준선을 잡습니다. 유입은 방문자·신규 가입(5월 40건), 체류는 재방문율·체류시간, 전환은 쿠폰 사용률·결제 완결률(5월 73.5%)입니다. 목표값은 근거 없이 정하지 않고 베타 실측 후 확정하며, 가드레일은 하나라도 넘으면 즉시 중단합니다.</a:t>
            </a:r>
          </a:p>
          <a:p>
            <a:r>
              <a:t>[연결] 이 지표가 달성되면 매출은 어떻게 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지표가 달성되면 Base 시나리오로 5년 뒤 매출은 18.8억입니다.</a:t>
            </a:r>
          </a:p>
          <a:p>
            <a:r>
              <a:t>[근거] 매출은 유입 × 전환율 × 객단가(5월 2.32만 원)입니다. TAM 13.6조, SAM 2,100~2,650억에서 시장 성장은 넣지 않고 점유율만 0.5%에서 3%로 넓혔습니다. Worst는 2.8억, Best는 35.3억이고, 망넛이네·널담의 초기 실적은 확정 전망이 아닌 성공 벤치마크입니다.</a:t>
            </a:r>
          </a:p>
          <a:p>
            <a:r>
              <a:t>[연결] 이 그림에는 리스크가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리스크는 구조적 제약 하나와 관리 가능한 다섯 가지입니다.</a:t>
            </a:r>
          </a:p>
          <a:p>
            <a:r>
              <a:t>[근거] 막지스톡과 자사몰 결제가 분리된 것은 RFP가 정한 구조라 원클릭·자동 인식으로 줄이기만 합니다. HIGH는 키워드 적합성, 표시가·결제가 불일치, 법적 위험 세 가지이고, 나머지 둘(가격모델 재검증, 쿠폰 중복)은 관리 중입니다. 대응은 상한 38%, 표시가=결제가 검증, 법무 검토, 백테스트 재실행입니다.</a:t>
            </a:r>
          </a:p>
          <a:p>
            <a:r>
              <a:t>[연결] 그래서 대표님께 세 가지를 요청드립니다.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[핵심] 그래서 세 가지를 요청드립니다. MVP 상품 수 확정, 실제 원가·마진율 공유, 할인 표시 법무 검토입니다.</a:t>
            </a:r>
          </a:p>
          <a:p>
            <a:r>
              <a:t>[근거] 지금은 마진율을 40/50/60%로 가정했고, 실제 수치를 주시면 마진 방어를 정밀 검증하겠습니다. 로드맵은 MVP, 참여 기능, 자사몰 실연동의 3단계입니다. 향후 확장(Bakery ETF·FX Bakery·Bread Index)은 설계 단계입니다.</a:t>
            </a:r>
          </a:p>
          <a:p>
            <a:r>
              <a:t>[연결] 질문을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[Q&amp;A] 예상 질문은 발표 스토리라인 문서의 ‘예상 질문과 답변’을 참고하세요.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BUSINESS PROPOSAL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>
                <a:solidFill>
                  <a:srgbClr val="111827"/>
                </a:solidFill>
                <a:latin typeface="Noto Sans KR"/>
              </a:rPr>
              <a:t>MAKJI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1">
                <a:solidFill>
                  <a:srgbClr val="4087C7"/>
                </a:solidFill>
                <a:latin typeface="Noto Sans KR"/>
              </a:rPr>
              <a:t>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웰니스 베이커리 막지의 B2C 확장 —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>
                <a:solidFill>
                  <a:srgbClr val="4B5563"/>
                </a:solidFill>
                <a:latin typeface="Noto Sans KR"/>
              </a:rPr>
              <a:t>매일 두 번 움직이는 빵값으로 자사몰의 방문과 구매를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기업 대표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6172200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시장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온라인 베이커리 시장은 4년 만에 2배 가까이 커졌고,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유사 업체도 온라인에서 빠르게 성장하고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이 성장 시장에서 막지도 B2B를 넘어 자사몰(B2C)로 성장축을 넓힙니다.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출처: aT 온라인 베이커리 시장 규모(매일경제 2026.03.23) · 널담 2025 매출 약 330억, 2026 목표 800억(플래텀·메트로서울 2026.01) · 2024는 역산 추정, 2023은 내부 시장분석 · 널담 매출에는 오프라인 유통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257800" cy="3611880"/>
          </a:xfrm>
          <a:prstGeom prst="roundRect">
            <a:avLst>
              <a:gd name="adj" fmla="val 405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2103120"/>
            <a:ext cx="5010912" cy="3611880"/>
          </a:xfrm>
          <a:prstGeom prst="roundRect">
            <a:avLst>
              <a:gd name="adj" fmla="val 405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B5563"/>
                </a:solidFill>
                <a:latin typeface="Noto Sans KR"/>
              </a:rPr>
              <a:t>국내 온라인 베이커리 시장 (억원)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00945"/>
            <a:ext cx="1051560" cy="1019694"/>
          </a:xfrm>
          <a:prstGeom prst="roundRect">
            <a:avLst>
              <a:gd name="adj" fmla="val 4483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71761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399905"/>
            <a:ext cx="1051560" cy="1720734"/>
          </a:xfrm>
          <a:prstGeom prst="roundRect">
            <a:avLst>
              <a:gd name="adj" fmla="val 4347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070721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5,400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212079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129049"/>
            <a:ext cx="1051560" cy="1991590"/>
          </a:xfrm>
          <a:prstGeom prst="roundRect">
            <a:avLst>
              <a:gd name="adj" fmla="val 4347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799865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6,250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12079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5120640"/>
            <a:ext cx="4617719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97280" y="26517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65176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517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2021 →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67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B5563"/>
                </a:solidFill>
                <a:latin typeface="Noto Sans KR"/>
              </a:rPr>
              <a:t>널담 연 매출 (억원)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751707"/>
            <a:ext cx="777240" cy="368932"/>
          </a:xfrm>
          <a:prstGeom prst="roundRect">
            <a:avLst>
              <a:gd name="adj" fmla="val 1239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422523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145.6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79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4710151"/>
            <a:ext cx="777240" cy="410488"/>
          </a:xfrm>
          <a:prstGeom prst="roundRect">
            <a:avLst>
              <a:gd name="adj" fmla="val 11137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4967" y="4380967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≈162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5212079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544982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역산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4284459"/>
            <a:ext cx="777240" cy="836180"/>
          </a:xfrm>
          <a:prstGeom prst="roundRect">
            <a:avLst>
              <a:gd name="adj" fmla="val 588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6255" y="395527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≈330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5" y="5212079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41864" y="3093536"/>
            <a:ext cx="777240" cy="2027103"/>
          </a:xfrm>
          <a:prstGeom prst="roundRect">
            <a:avLst>
              <a:gd name="adj" fmla="val 5882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67544" y="276435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44" y="5212079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7544" y="544982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목표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0" y="5120640"/>
            <a:ext cx="4809744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29400" y="2651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265176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+104%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6517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2025 전년 대비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현상 · 자사몰 5월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그런데 막지 자사몰은 아침에 둘러보고 저녁에 삽니다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방문과 구매의 시점이 어긋납니다.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방문이 구매로 이어지지 못하는 것이 자사몰의 핵심 문제입니다.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출처: 막지 자사몰 5월 시간별 분석 (로그인 90회 · 결제금액 기준, 단일상품 막지 ZERO 카스테라)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3657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막지 자사몰 5월 · 시간대별 로그인 vs 결제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128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로그인 비중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505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FF7A45"/>
                </a:solidFill>
                <a:latin typeface="Noto Sans KR"/>
              </a:rPr>
              <a:t>■ 결제금액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377184"/>
            <a:ext cx="1143000" cy="1560576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2993136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25.6%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450080"/>
            <a:ext cx="1143000" cy="487680"/>
          </a:xfrm>
          <a:prstGeom prst="roundRect">
            <a:avLst>
              <a:gd name="adj" fmla="val 9375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4066032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79" y="50292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오전 8~10시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79" y="5303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아침에 둘러보고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718560"/>
            <a:ext cx="1143000" cy="1219200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34512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20.0%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06496"/>
            <a:ext cx="1143000" cy="1731264"/>
          </a:xfrm>
          <a:prstGeom prst="roundRect">
            <a:avLst>
              <a:gd name="adj" fmla="val 4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82244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28.4%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저녁 20~24시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03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저녁에 삽니다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937760"/>
            <a:ext cx="999439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목표는 두 단계 — 먼저 방문을 늘리고,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방문한 고객을 한 걸음에 구매까지 잇습니다.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매일 오게 하고, 살 때까지 붙잡을 방법이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2240280"/>
          </a:xfrm>
          <a:prstGeom prst="roundRect">
            <a:avLst>
              <a:gd name="adj" fmla="val 653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2103120"/>
            <a:ext cx="5166360" cy="2240280"/>
          </a:xfrm>
          <a:prstGeom prst="roundRect">
            <a:avLst>
              <a:gd name="adj" fmla="val 6530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957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111827"/>
                </a:solidFill>
                <a:latin typeface="Noto Sans KR"/>
              </a:rPr>
              <a:t>자사몰 유입 증가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260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광고를 켠 날에만 팔리는 구조에서 벗어나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4B5563"/>
                </a:solidFill>
                <a:latin typeface="Noto Sans KR"/>
              </a:rPr>
              <a:t>고객이 스스로 찾아오게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860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23957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111827"/>
                </a:solidFill>
                <a:latin typeface="Noto Sans KR"/>
              </a:rPr>
              <a:t>체류시간 ↑ · 전환율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9260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가격을 확인·비교하며 머무르고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4B5563"/>
                </a:solidFill>
                <a:latin typeface="Noto Sans KR"/>
              </a:rPr>
              <a:t>탐색한 뒤 자사몰 구매까지 이어지게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5608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유입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3749039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체류 · 가격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탐색 · 지금 살까?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737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961120" y="4983480"/>
            <a:ext cx="182880" cy="182880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48920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세부 전략과 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 답이 ‘막지스톡’ — 가격이 방문 이유가 되고,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고르는 혜택이 구매까지 붙잡습니다.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두 전략이 방문(유입)과 구매(전환)를 동시에 겨냥합니다.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20574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가격 자체를 콘텐츠로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매일 두 번 바뀌는 빵값이 ‘오늘은 얼마일까?’라는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방문 이유가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2860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고객이 직접 고르는 혜택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78892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잠금 또는 보상 고르기 — 내가 원하는 방식으로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혜택을 받고, 주도성을 느낍니다.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40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51960"/>
            <a:ext cx="10543032" cy="1481328"/>
          </a:xfrm>
          <a:prstGeom prst="roundRect">
            <a:avLst>
              <a:gd name="adj" fmla="val 9876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1054303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Noto Sans KR"/>
              </a:rPr>
              <a:t>MAKJI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Noto Sans KR"/>
              </a:rPr>
              <a:t>빵값을 주식시장처럼 — 하루 두 번 열리는 시세를 보고, 내 방식대로 혜택을 골라 자사몰에서 삽니다.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76672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DCEAF7"/>
                </a:solidFill>
                <a:latin typeface="Noto Sans KR"/>
              </a:rPr>
              <a:t>경쟁 6곳 중 가격 변동 자체를 콘텐츠로 쓰는 곳은 아직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아침에 본 가격을 잠그면,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저녁 결제까지 이어집니다.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아침 관심과 저녁 결제 사이의 간극을 ‘잠금’이 메웁니다.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543032" cy="1691640"/>
          </a:xfrm>
          <a:prstGeom prst="roundRect">
            <a:avLst>
              <a:gd name="adj" fmla="val 8648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645920" y="2542032"/>
            <a:ext cx="8915400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17904" y="2414016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06:00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오전장 개장 · 시세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3749040" y="2414016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오전장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가격 잠금 (하루 1회)</a:t>
            </a:r>
          </a:p>
        </p:txBody>
      </p:sp>
      <p:sp>
        <p:nvSpPr>
          <p:cNvPr id="15" name="Oval 14"/>
          <p:cNvSpPr/>
          <p:nvPr/>
        </p:nvSpPr>
        <p:spPr>
          <a:xfrm>
            <a:off x="5980176" y="2414016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16:00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오후장 개장 · 잠금 정산</a:t>
            </a:r>
          </a:p>
        </p:txBody>
      </p:sp>
      <p:sp>
        <p:nvSpPr>
          <p:cNvPr id="18" name="Oval 17"/>
          <p:cNvSpPr/>
          <p:nvPr/>
        </p:nvSpPr>
        <p:spPr>
          <a:xfrm>
            <a:off x="8211312" y="2414016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막지 자사몰에서 결제</a:t>
            </a:r>
          </a:p>
        </p:txBody>
      </p:sp>
      <p:sp>
        <p:nvSpPr>
          <p:cNvPr id="21" name="Oval 20"/>
          <p:cNvSpPr/>
          <p:nvPr/>
        </p:nvSpPr>
        <p:spPr>
          <a:xfrm>
            <a:off x="10442448" y="2414016"/>
            <a:ext cx="256032" cy="256032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4624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익일 06:00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3090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예측 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4114800"/>
            <a:ext cx="457200" cy="54864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297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시세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54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6종의 가격과 할인율을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하루 두 번 공개합니다.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4114800"/>
            <a:ext cx="457200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가격 잠금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754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오전가를 하루 1개 잠그면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오후에 올라도 그 가격입니다.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4114800"/>
            <a:ext cx="457200" cy="54864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297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보상 고르기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754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안정형은 즉시 확정 쿠폰,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공격형은 내일 예측에 도전합니다.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사용자 여정 — 구매 의사별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고객 상황에 따라 길은 세 가지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모두 자사몰 결제로 이어집니다.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잠금과 예측은 구매를 미루는 장치가 아니라 유리한 구매를 보장합니다.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마켓 방문  </a:t>
            </a:r>
            <a:r>
              <a:rPr sz="1250" b="1">
                <a:solidFill>
                  <a:srgbClr val="2F6FAD"/>
                </a:solidFill>
                <a:latin typeface="Noto Sans KR"/>
              </a:rPr>
              <a:t>오늘의 가격 확인   4,500원 → 3,200원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624328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E6FAF3"/>
          </a:solidFill>
          <a:ln w="15875">
            <a:solidFill>
              <a:srgbClr val="20C9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24328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87F5B"/>
                </a:solidFill>
                <a:latin typeface="Noto Sans KR"/>
              </a:rPr>
              <a:t>즉시 구매형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7F5B"/>
                </a:solidFill>
                <a:latin typeface="Noto Sans KR"/>
              </a:rPr>
              <a:t>이 가격 완벽해!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146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오늘 가격으로 즉시 구매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670048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67004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오늘가로 즉시 결제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66160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675887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FFF1E0"/>
          </a:solidFill>
          <a:ln w="15875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75887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470D"/>
                </a:solidFill>
                <a:latin typeface="Noto Sans KR"/>
              </a:rPr>
              <a:t>가격 확보형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B8470D"/>
                </a:solidFill>
                <a:latin typeface="Noto Sans KR"/>
              </a:rPr>
              <a:t>가격은 좋은데 결제는 이따가!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6616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오전가 잠금 후 이따가 구매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56616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3721608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72160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잠근 가격으로 안심 결제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17720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727448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E6F3FF"/>
          </a:solidFill>
          <a:ln w="15875">
            <a:solidFill>
              <a:srgbClr val="339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727448"/>
            <a:ext cx="3200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64AB"/>
                </a:solidFill>
                <a:latin typeface="Noto Sans KR"/>
              </a:rPr>
              <a:t>관망·기대형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864AB"/>
                </a:solidFill>
                <a:latin typeface="Noto Sans KR"/>
              </a:rPr>
              <a:t>오후장에 더 싸지면 살래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6177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내일 가격 예측 참여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617720"/>
            <a:ext cx="457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4773168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477316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쿠폰 적용해 최적가 결제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가격 결정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이 모든 것이 통하려면 가격을 믿을 수 있어야 합니다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가격은 공개된 산식으로만 움직입니다.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산식은 공개하고 상한은 38% — 그렇다면 실제 할인은 얼마나 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84831"/>
            <a:ext cx="4347210" cy="548640"/>
          </a:xfrm>
          <a:prstGeom prst="roundRect">
            <a:avLst>
              <a:gd name="adj" fmla="val 2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407289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오전장  06:00 ~ 15:59</a:t>
            </a:r>
            <a:r>
              <a:rPr sz="1050" b="0">
                <a:solidFill>
                  <a:srgbClr val="E6EEF7"/>
                </a:solidFill>
                <a:latin typeface="Noto Sans KR"/>
              </a:rPr>
              <a:t>   전일 종가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5890" y="2084831"/>
            <a:ext cx="434721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8770" y="2084831"/>
            <a:ext cx="407289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오후장  16:00 ~ 익일 01:59</a:t>
            </a:r>
            <a:r>
              <a:rPr sz="1050" b="0">
                <a:solidFill>
                  <a:srgbClr val="E6EEF7"/>
                </a:solidFill>
                <a:latin typeface="Noto Sans KR"/>
              </a:rPr>
              <a:t>   당일 시가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8820" y="2084831"/>
            <a:ext cx="1711451" cy="54864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1699" y="2084831"/>
            <a:ext cx="14371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4B5563"/>
                </a:solidFill>
                <a:latin typeface="Noto Sans KR"/>
              </a:rPr>
              <a:t>정가  02:00~05:59</a:t>
            </a:r>
            <a:r>
              <a:rPr sz="1050" b="0">
                <a:solidFill>
                  <a:srgbClr val="4B5563"/>
                </a:solidFill>
                <a:latin typeface="Noto Sans KR"/>
              </a:rPr>
              <a:t>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16352"/>
            <a:ext cx="10543032" cy="1325880"/>
          </a:xfrm>
          <a:prstGeom prst="roundRect">
            <a:avLst>
              <a:gd name="adj" fmla="val 11034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111827"/>
                </a:solidFill>
                <a:latin typeface="Noto Sans KR"/>
              </a:rPr>
              <a:t>총 할인율  = 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검색 할인</a:t>
            </a:r>
            <a:r>
              <a:rPr sz="2600" b="1">
                <a:solidFill>
                  <a:srgbClr val="9CA3AF"/>
                </a:solidFill>
                <a:latin typeface="Noto Sans KR"/>
              </a:rPr>
              <a:t>  +  </a:t>
            </a:r>
            <a:r>
              <a:rPr sz="2600" b="1">
                <a:solidFill>
                  <a:srgbClr val="FF7A45"/>
                </a:solidFill>
                <a:latin typeface="Noto Sans KR"/>
              </a:rPr>
              <a:t>환율 조정</a:t>
            </a:r>
            <a:r>
              <a:rPr sz="1600" b="1">
                <a:solidFill>
                  <a:srgbClr val="9CA3AF"/>
                </a:solidFill>
                <a:latin typeface="Noto Sans KR"/>
              </a:rPr>
              <a:t>     (0% ~ 38%)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43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검색지수 × 0.15 (최대 15%)   ·   환율 하락은 ×14 전부 환원, 상승은 ×7 절반만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25112"/>
            <a:ext cx="10543032" cy="1389888"/>
          </a:xfrm>
          <a:prstGeom prst="roundRect">
            <a:avLst>
              <a:gd name="adj" fmla="val 10526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예시 · 막지 제로 모닝롤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36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정가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1091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4B5563"/>
                </a:solidFill>
                <a:latin typeface="Noto Sans KR"/>
              </a:rPr>
              <a:t>4,500원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36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평균 할인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01091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2F6FAD"/>
                </a:solidFill>
                <a:latin typeface="Noto Sans KR"/>
              </a:rPr>
              <a:t>3,830원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36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최대 할인 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01091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F7A45"/>
                </a:solidFill>
                <a:latin typeface="Noto Sans KR"/>
              </a:rPr>
              <a:t>2,790원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할인율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실제로 돌려 보니 평균 할인은 15%,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세션의 84%가 20% 미만이었습니다.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대부분 얕은 할인 — 그렇다면 마진은 버틸까요?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실제 가격 엔진(v1.0)에 한국은행 ECOS 원/달러 시가·종가와 일별 검색지수를 넣은 재현값 (2026.06.12~09.10, 하루 2세션 × 91일) · 25% 이상 7세션 중 6세션은 상한 38% · 검색지수는 6종 합산 단일 시계열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43032" cy="3767328"/>
          </a:xfrm>
          <a:prstGeom prst="roundRect">
            <a:avLst>
              <a:gd name="adj" fmla="val 3883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오전장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031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7A45"/>
                </a:solidFill>
                <a:latin typeface="Noto Sans KR"/>
              </a:rPr>
              <a:t>■ 오후장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평균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87168"/>
            <a:ext cx="3794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오전장 15.8% · 오후장 14.2%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986528"/>
            <a:ext cx="502920" cy="42672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4712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92807" y="4986528"/>
            <a:ext cx="502920" cy="42672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1367" y="47122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5%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645152"/>
            <a:ext cx="502920" cy="384048"/>
          </a:xfrm>
          <a:prstGeom prst="roundRect">
            <a:avLst>
              <a:gd name="adj" fmla="val 9523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4370832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261104"/>
            <a:ext cx="502920" cy="768096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398678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5~10%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14.8%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450336"/>
            <a:ext cx="502920" cy="1578864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17601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4648" y="3322320"/>
            <a:ext cx="502920" cy="1706880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304800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42.3%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962399"/>
            <a:ext cx="502920" cy="1066800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68808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30568" y="4090416"/>
            <a:ext cx="502920" cy="938784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381609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15~20%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25.8%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4431792"/>
            <a:ext cx="502920" cy="597408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4157472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76488" y="4687824"/>
            <a:ext cx="502920" cy="341376"/>
          </a:xfrm>
          <a:prstGeom prst="roundRect">
            <a:avLst>
              <a:gd name="adj" fmla="val 10714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5048" y="441350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20~25%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12.1%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4815840"/>
            <a:ext cx="502920" cy="213360"/>
          </a:xfrm>
          <a:prstGeom prst="roundRect">
            <a:avLst>
              <a:gd name="adj" fmla="val 1714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454152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22407" y="4943856"/>
            <a:ext cx="502920" cy="85344"/>
          </a:xfrm>
          <a:prstGeom prst="roundRect">
            <a:avLst>
              <a:gd name="adj" fmla="val 42857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30967" y="466953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25% 이상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3766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3.8%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97280" y="5029200"/>
            <a:ext cx="999439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34440" y="3127248"/>
            <a:ext cx="6099048" cy="0"/>
          </a:xfrm>
          <a:prstGeom prst="line">
            <a:avLst/>
          </a:prstGeom>
          <a:ln w="19050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234440" y="2816352"/>
            <a:ext cx="6099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2F6FAD"/>
                </a:solidFill>
                <a:latin typeface="Noto Sans KR"/>
              </a:rPr>
              <a:t>84%  (153 / 182 세션)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마진율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마진은 버팁니다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깊은 할인은 드물고, 상한 38%에서 멈춥니다.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정가 마진 40% 이상이면 가장 깊은 할인에서도 적자가 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※ 실제 원가·마진 자료가 없어 정가 마진율 40/50/60%를 가정한 시나리오입니다 (마진율 = (판매가 − 원가) ÷ 판매가, 원가는 정가 기준 고정)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43032" cy="3767328"/>
          </a:xfrm>
          <a:prstGeom prst="roundRect">
            <a:avLst>
              <a:gd name="adj" fmla="val 3883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2240280"/>
            <a:ext cx="361188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286000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F6FAD"/>
                </a:solidFill>
                <a:latin typeface="Noto Sans KR"/>
              </a:rPr>
              <a:t>세션의 84%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4983480"/>
            <a:ext cx="7223760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48828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4199708"/>
            <a:ext cx="7223760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4440" y="40991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20%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3415937"/>
            <a:ext cx="7223760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331535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632165"/>
            <a:ext cx="7223760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4440" y="253158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979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0860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5612" y="50566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38%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852" y="5056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4B5563"/>
                </a:solidFill>
                <a:latin typeface="Noto Sans KR"/>
              </a:rPr>
              <a:t>← 할인율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5652" y="2240280"/>
            <a:ext cx="0" cy="2743200"/>
          </a:xfrm>
          <a:prstGeom prst="line">
            <a:avLst/>
          </a:prstGeom>
          <a:ln w="12700">
            <a:solidFill>
              <a:srgbClr val="FF7A4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3080" y="2632165"/>
            <a:ext cx="361188" cy="3199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44268" y="2664156"/>
            <a:ext cx="361188" cy="3332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05456" y="2697480"/>
            <a:ext cx="361188" cy="3474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66644" y="2732221"/>
            <a:ext cx="361188" cy="36252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27832" y="2768473"/>
            <a:ext cx="361188" cy="3786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89020" y="2806337"/>
            <a:ext cx="361188" cy="3958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50208" y="2845921"/>
            <a:ext cx="361188" cy="41426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11396" y="2887347"/>
            <a:ext cx="361188" cy="43398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72584" y="2930745"/>
            <a:ext cx="361188" cy="45515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33772" y="2976260"/>
            <a:ext cx="361188" cy="4779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394960" y="3024051"/>
            <a:ext cx="361188" cy="50242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56148" y="3074293"/>
            <a:ext cx="361188" cy="52886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17336" y="3127179"/>
            <a:ext cx="361188" cy="55745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78524" y="3182924"/>
            <a:ext cx="361188" cy="5884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839712" y="3241765"/>
            <a:ext cx="361188" cy="6220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00900" y="3303969"/>
            <a:ext cx="361188" cy="65863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62088" y="3369832"/>
            <a:ext cx="361187" cy="69855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23275" y="3439687"/>
            <a:ext cx="361189" cy="7422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284464" y="3513908"/>
            <a:ext cx="361188" cy="79009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45652" y="3592917"/>
            <a:ext cx="0" cy="0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427982" y="2844782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10A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0550" y="259789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52.9%</a:t>
            </a:r>
          </a:p>
        </p:txBody>
      </p:sp>
      <p:sp>
        <p:nvSpPr>
          <p:cNvPr id="48" name="Oval 47"/>
          <p:cNvSpPr/>
          <p:nvPr/>
        </p:nvSpPr>
        <p:spPr>
          <a:xfrm>
            <a:off x="8581644" y="3528909"/>
            <a:ext cx="128016" cy="128016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3668" y="3474045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35.5%</a:t>
            </a:r>
            <a:r>
              <a:rPr sz="1100" b="1">
                <a:solidFill>
                  <a:srgbClr val="10A37F"/>
                </a:solidFill>
                <a:latin typeface="Noto Sans KR"/>
              </a:rPr>
              <a:t>   마진 60%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783080" y="3024051"/>
            <a:ext cx="361188" cy="39988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44268" y="3064039"/>
            <a:ext cx="361188" cy="41655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05456" y="3105694"/>
            <a:ext cx="361188" cy="43427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66644" y="3149121"/>
            <a:ext cx="361188" cy="45315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27832" y="3194436"/>
            <a:ext cx="361188" cy="47329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89020" y="3241765"/>
            <a:ext cx="361188" cy="49481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950208" y="3291246"/>
            <a:ext cx="361188" cy="51782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11396" y="3343028"/>
            <a:ext cx="361188" cy="54247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672584" y="3397275"/>
            <a:ext cx="361188" cy="5689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033772" y="3454169"/>
            <a:ext cx="361188" cy="59739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94960" y="3513908"/>
            <a:ext cx="361188" cy="62802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756148" y="3576710"/>
            <a:ext cx="361188" cy="66108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117336" y="3642818"/>
            <a:ext cx="361188" cy="69681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78524" y="3712499"/>
            <a:ext cx="361188" cy="73552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839712" y="3786051"/>
            <a:ext cx="361188" cy="77755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00900" y="3863806"/>
            <a:ext cx="361188" cy="82329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562088" y="3946135"/>
            <a:ext cx="361187" cy="87319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23275" y="4033454"/>
            <a:ext cx="361189" cy="92776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284464" y="4126230"/>
            <a:ext cx="361188" cy="98761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645652" y="4224991"/>
            <a:ext cx="0" cy="0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427982" y="3305824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408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00550" y="305893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41.2%</a:t>
            </a:r>
          </a:p>
        </p:txBody>
      </p:sp>
      <p:sp>
        <p:nvSpPr>
          <p:cNvPr id="72" name="Oval 71"/>
          <p:cNvSpPr/>
          <p:nvPr/>
        </p:nvSpPr>
        <p:spPr>
          <a:xfrm>
            <a:off x="8581644" y="4160983"/>
            <a:ext cx="128016" cy="128016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73668" y="4106119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19.4%</a:t>
            </a:r>
            <a:r>
              <a:rPr sz="1100" b="1">
                <a:solidFill>
                  <a:srgbClr val="4087C7"/>
                </a:solidFill>
                <a:latin typeface="Noto Sans KR"/>
              </a:rPr>
              <a:t>   마진 50%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783080" y="3415937"/>
            <a:ext cx="361188" cy="47986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144268" y="3463923"/>
            <a:ext cx="361188" cy="49985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505456" y="3513908"/>
            <a:ext cx="361188" cy="5211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866644" y="3566021"/>
            <a:ext cx="361188" cy="54378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227832" y="3620399"/>
            <a:ext cx="361188" cy="56795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89020" y="3677194"/>
            <a:ext cx="361188" cy="59376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950208" y="3736570"/>
            <a:ext cx="361188" cy="62139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311396" y="3798709"/>
            <a:ext cx="361188" cy="65097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672584" y="3863806"/>
            <a:ext cx="361188" cy="6827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033772" y="3932079"/>
            <a:ext cx="361188" cy="71686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394960" y="4003765"/>
            <a:ext cx="361188" cy="7536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756148" y="4079128"/>
            <a:ext cx="361188" cy="79329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117336" y="4158457"/>
            <a:ext cx="361188" cy="83617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478524" y="4242074"/>
            <a:ext cx="361188" cy="8826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39712" y="4330337"/>
            <a:ext cx="361188" cy="93306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200900" y="4423643"/>
            <a:ext cx="361188" cy="98794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562088" y="4522437"/>
            <a:ext cx="361187" cy="10478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923275" y="4627220"/>
            <a:ext cx="361189" cy="111331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284464" y="4738551"/>
            <a:ext cx="361188" cy="118514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45652" y="4857065"/>
            <a:ext cx="0" cy="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4427982" y="3766866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00550" y="351997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29.4%</a:t>
            </a:r>
          </a:p>
        </p:txBody>
      </p:sp>
      <p:sp>
        <p:nvSpPr>
          <p:cNvPr id="96" name="Oval 95"/>
          <p:cNvSpPr/>
          <p:nvPr/>
        </p:nvSpPr>
        <p:spPr>
          <a:xfrm>
            <a:off x="8581644" y="4793057"/>
            <a:ext cx="128016" cy="128016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73668" y="4738193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3.2%</a:t>
            </a:r>
            <a:r>
              <a:rPr sz="1100" b="1">
                <a:solidFill>
                  <a:srgbClr val="FF7A45"/>
                </a:solidFill>
                <a:latin typeface="Noto Sans KR"/>
              </a:rPr>
              <a:t>   마진 40%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43350" y="5312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2F6FAD"/>
                </a:solidFill>
                <a:latin typeface="Noto Sans KR"/>
              </a:rPr>
              <a:t>평균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MVP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시작은 간단하게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두 전략을 검증하는 기능만 담습니다.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구현 2~3주 · 검증 9/28~9/30 — 상품 수만 확정되면 바로 착수합니다.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2F6FAD"/>
                </a:solidFill>
                <a:latin typeface="Noto Sans KR"/>
              </a:rPr>
              <a:t>포함 (Must)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전략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606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오전장·오후장 가격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0896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가격 잠금 (오전장 하루 1회)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61188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오늘의 보상 고르기 (안정형 / 공격형)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11480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자사몰 이동·구매 (원클릭 지향)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신뢰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61772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‘투자가 아닙니다’ 안내 · 가격 근거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20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38% 상한 가드레일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057400"/>
            <a:ext cx="4553712" cy="3657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212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이번 범위 제외 · 여력 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0604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여력 시 · 가격 하락 이메일 알림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0896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도감·씰 수집 콘텐츠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1188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매수가 기준 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1480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막지스톡 안에서의 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177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막지스톡 자체 로그인·회원가입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무엇으로 성공을 판단할까요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서비스 목표와 같은 순서로 측정합니다.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목표값은 근거 없이 만들지 않고, 베타 1주차 실측 후 확정합니다.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GUARDRAIL(하나라도 초과 시 롤아웃 중단): 총혜택 상한 위반 0 · 사행성 문구 0 · 표시·결제가 불일치 0 · 가격 계산 오류율 ≤ 0.1% · 쿠폰 중복 적용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1143000"/>
          </a:xfrm>
          <a:prstGeom prst="roundRect">
            <a:avLst>
              <a:gd name="adj" fmla="val 128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DCEAF7"/>
                </a:solidFill>
                <a:latin typeface="Noto Sans KR"/>
              </a:rPr>
              <a:t>북극성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Noto Sans KR"/>
              </a:rPr>
              <a:t>STOCK → 자사몰 전환율</a:t>
            </a:r>
            <a:r>
              <a:rPr sz="1300" b="0">
                <a:solidFill>
                  <a:srgbClr val="DCEAF7"/>
                </a:solidFill>
                <a:latin typeface="Noto Sans KR"/>
              </a:rPr>
              <a:t>      현재 미측정 · 베타 1주차에 기준선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01568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538728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38728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1순위 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01568"/>
            <a:ext cx="6309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방문자 수 · 신규 가입 · 자사몰 구매 이동률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01568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신규가입 5월 40건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87952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325112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7A5B00"/>
                </a:solidFill>
                <a:latin typeface="Noto Sans KR"/>
              </a:rPr>
              <a:t>2순위 체류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87952"/>
            <a:ext cx="6309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익일 재방문율 · 체류시간 · 가격 잠금 사용률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87952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미측정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74336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111496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11496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B6451B"/>
                </a:solidFill>
                <a:latin typeface="Noto Sans KR"/>
              </a:rPr>
              <a:t>2순위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74336"/>
            <a:ext cx="6309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STOCK→자사몰 전환율 · 쿠폰 사용률 · 결제 완결률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74336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결제 완결률 73.5%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매출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지표가 달성되면 매출은 이렇게 그려집니다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점유율만 넓힌 5개년 시나리오.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시장이 커진다는 가정 없이, 점유율만으로 Base 18.8억을 그립니다.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TAM 13.6조원(국내 베이커리 2025) · SAM 2,100~2,650억(전문점×온라인×2030) · 목표 점유율 0.5~3% · 시장 성장률 미반영 · 망넛이네(2018 약 5.7억)·널담(2019 약 9.9억) 초기 실적은 벤치마크로만 참고, 확정 전망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43032" cy="3767328"/>
          </a:xfrm>
          <a:prstGeom prst="roundRect">
            <a:avLst>
              <a:gd name="adj" fmla="val 3883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9CC9"/>
                </a:solidFill>
                <a:latin typeface="Noto Sans KR"/>
              </a:rPr>
              <a:t>■ 1년차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03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5년차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84831"/>
            <a:ext cx="5605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매출 = 유입 × 구매 전환율 × 객단가 </a:t>
            </a:r>
            <a:r>
              <a:rPr sz="1050" b="1">
                <a:solidFill>
                  <a:srgbClr val="9CA3AF"/>
                </a:solidFill>
                <a:latin typeface="Noto Sans KR"/>
              </a:rPr>
              <a:t>(5월 2.32만원)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5042916"/>
            <a:ext cx="1005840" cy="77724"/>
          </a:xfrm>
          <a:prstGeom prst="roundRect">
            <a:avLst>
              <a:gd name="adj" fmla="val 50000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467715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1.2억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939284"/>
            <a:ext cx="1005840" cy="181356"/>
          </a:xfrm>
          <a:prstGeom prst="roundRect">
            <a:avLst>
              <a:gd name="adj" fmla="val 2521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573523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2.8억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23036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Worst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4751451"/>
            <a:ext cx="1005840" cy="369188"/>
          </a:xfrm>
          <a:prstGeom prst="roundRect">
            <a:avLst>
              <a:gd name="adj" fmla="val 12383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385691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5.7억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02963"/>
            <a:ext cx="1005840" cy="1217676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3537203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2F6FAD"/>
                </a:solidFill>
                <a:latin typeface="Noto Sans KR"/>
              </a:rPr>
              <a:t>18.8억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3036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060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66760" y="4479417"/>
            <a:ext cx="1005840" cy="641223"/>
          </a:xfrm>
          <a:prstGeom prst="roundRect">
            <a:avLst>
              <a:gd name="adj" fmla="val 7130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11365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9.9억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834259"/>
            <a:ext cx="1005840" cy="2286380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468499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35.3억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23036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9244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핵심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이 그림에는 구조적 제약 하나와,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관리 가능한 리스크 다섯 가지가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HIGH 3건은 출시 전에 해소합니다.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대응 원칙: 총혜택 상한 38% 고정 · 표시가 = 결제가 일치 검증 · 할인 표시 법무 검토 · 3구간 모델 기준 백테스트 재실행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STOCK ↔ 자사몰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RFP 요구 구조 — 원클릭으로 최소화만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2860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2860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구조적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39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39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56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검색 키워드 적합성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백테스트는 모닝빵 1종 중심 — 나머지 검증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4747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4747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8056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451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표시·결제가 불일치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474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다르면 신뢰·전환이 훼손됨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663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6634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10312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10312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67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법적 위험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70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할인 표시가 실제와 다르면 표시광고법 소지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22860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22860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91839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91839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456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가격모델 전환 재검증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8587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3구간 모델로 바뀌어 백테스트 재실행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34747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34747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48056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502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451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쿠폰 중복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0474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동시 적용 시 총혜택 상한 초과 가능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78440" y="4663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78440" y="46634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요청 사항과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세 가지를 요청드립니다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정해지면 바로 3단계로 시작합니다.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세 가지가 정해지면 바로 구현·검증 단계로 들어갑니다.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향후 확장(설계 단계, 이번 구현 범위 아님): Bakery ETF · FX Bakery · Bread Index · 연속 방문 스트릭 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1600200"/>
          </a:xfrm>
          <a:prstGeom prst="roundRect">
            <a:avLst>
              <a:gd name="adj" fmla="val 914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88720" y="2377440"/>
            <a:ext cx="9875520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2249424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1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54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시세 · 비교 · 구매 이동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249424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2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참여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054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가격 잠금 · 보상 고르기 · 알림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249424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3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54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자사몰 실연동 · 쿠폰 · 구매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86200"/>
            <a:ext cx="640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4087C7"/>
                </a:solidFill>
                <a:latin typeface="Noto Sans K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86200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MVP 상품 수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886200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대표 6종 기준으로 준비 중 · 최종 승인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89704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89704"/>
            <a:ext cx="640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C98F00"/>
                </a:solidFill>
                <a:latin typeface="Noto Sans K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897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실제 원가·마진율 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489704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지금은 40/50/60% 가정 · 실제 수치로 정밀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93208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093208"/>
            <a:ext cx="640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FF7A45"/>
                </a:solidFill>
                <a:latin typeface="Noto Sans KR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93208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할인 표시 법무 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093208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기준가격·할인율·적용기간 표시가 표시광고법에 맞는지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827"/>
                </a:solidFill>
                <a:latin typeface="Noto Sans KR"/>
              </a:rPr>
              <a:t>가격이 움직인다는 사실 자체가,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400" b="1">
                <a:solidFill>
                  <a:srgbClr val="4087C7"/>
                </a:solidFill>
                <a:latin typeface="Noto Sans KR"/>
              </a:rPr>
              <a:t>다시 찾는 이유</a:t>
            </a:r>
            <a:r>
              <a:rPr sz="4400" b="1">
                <a:solidFill>
                  <a:srgbClr val="111827"/>
                </a:solidFill>
                <a:latin typeface="Noto Sans KR"/>
              </a:rPr>
              <a:t>가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질문과 의견을 듣겠습니다.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MAKJI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