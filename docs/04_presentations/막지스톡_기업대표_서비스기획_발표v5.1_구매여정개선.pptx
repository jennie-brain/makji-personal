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62" r:id="rId9"/>
    <p:sldId id="272" r:id="rId10"/>
    <p:sldId id="273" r:id="rId11"/>
    <p:sldId id="263" r:id="rId12"/>
    <p:sldId id="264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-804" y="-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B0A0EE-35A9-4866-B15B-5FC4613D9DDB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E6088B-BA4B-4152-ABBC-91A1E6584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025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[오프닝 멘트] 주식 앱은 하루에도 몇 번씩 열어 보시죠? 빵값은 어떨까요? 오늘은 그 이야기를 해 보려고 합니다.</a:t>
            </a:r>
          </a:p>
          <a:p>
            <a:r>
              <a:t>[핵심] 오늘 말씀드릴 것은 세 가지입니다. 시장에 기회가 있고, 우리는 그 기회를 ‘가격’으로 잡으려 하며, 그 방식이 마진을 지킨다는 것입니다. 마지막에 세 가지 요청을 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[핵심] 온라인 베이커리 시장은 4년 만에 2배 가까이 커졌고, 유사 업체도 온라인에서 빠르게 성장하고 있습니다.</a:t>
            </a:r>
          </a:p>
          <a:p>
            <a:r>
              <a:t>[근거] 2021년 3,200억에서 2025년 6,250억으로, 연평균 18%입니다. 신세계푸드의 온라인 베이커리 매출은 2023년 255억에서 2025년 850억으로 3.3배가 됐고, 저당·고단백 브랜드 널담은 2025년 매출이 전년 대비 104% 늘었습니다.</a:t>
            </a:r>
          </a:p>
          <a:p>
            <a:r>
              <a:t>[연결] 이 성장 시장에서 막지도 B2B 공급을 넘어 자사몰(B2C)로 성장축을 넓히고 있습니다. 그런데 자사몰을 열어 보니 문제가 보였습니다.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[핵심] 그런데 막지 자사몰은 아침에 둘러보고 저녁에 삽니다. 방문과 구매의 시점이 어긋납니다.</a:t>
            </a:r>
          </a:p>
          <a:p>
            <a:r>
              <a:t>[멘트] 출근길엔 눈으로 장바구니를 채우고, 퇴근하고 나서야 지갑이 열린다는 얘기입니다.</a:t>
            </a:r>
          </a:p>
          <a:p>
            <a:r>
              <a:t>[근거] 5월 데이터에서 로그인은 오전 8~10시에 25.6%가 몰렸지만 그 시간 결제금액은 8.0%뿐이고, 저녁 20~24시에는 로그인 20.0%에 결제금액 28.4%입니다. 막지는 저당·무설탕·글루텐프리 웰니스 베이커리로 B2B에서 제품력을 검증했지만, 자사몰에서는 관심이 생긴 순간 구매로 이어지지 못하고 있습니다.</a:t>
            </a:r>
          </a:p>
          <a:p>
            <a:r>
              <a:t>[연결] 이것이 풀어야 할 문제입니다. 그래서 목표를 이렇게 세웠습니다.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[핵심] 그래서 목표는 두 단계입니다. 먼저 방문을 늘리고, 방문한 고객을 한 걸음에 구매까지 잇습니다.</a:t>
            </a:r>
          </a:p>
          <a:p>
            <a:r>
              <a:t>[멘트] 손님이 구경하고 결제하기까지 대략 열두 시간이 비어 있는 셈입니다.</a:t>
            </a:r>
          </a:p>
          <a:p>
            <a:r>
              <a:t>[근거] 첫째 자사몰 유입이 최우선입니다. 광고를 켠 날에만 팔리는 구조가 아니라 고객이 스스로 찾아오게 합니다. 둘째 체류시간과 전환율입니다. 가격을 확인하고 비교하다가 구매까지 가게 합니다.</a:t>
            </a:r>
          </a:p>
          <a:p>
            <a:r>
              <a:t>[연결] 그러면 무엇이 매일 오게 하고, 살 때까지 붙잡아 줄까요?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[핵심] 그 답이 막지스톡입니다. 가격이 방문의 이유가 되고, 고르는 혜택이 구매까지 붙잡습니다.</a:t>
            </a:r>
          </a:p>
          <a:p>
            <a:r>
              <a:t>[멘트] ‘빵값을 주식처럼’이라고 하면 투자를 떠올리실 수 있는데, 빵에 투자하시라는 얘기가 아닙니다. 더 싸게 사는 타이밍을 알려 드린다는 뜻입니다. 투자가 아니라 할인입니다.</a:t>
            </a:r>
          </a:p>
          <a:p>
            <a:r>
              <a:t>[근거] 전략 하나, 가격 자체를 콘텐츠로 — 빵값이 하루 두 번 바뀌어 ‘오늘은 얼마일까?’가 방문 이유가 됩니다. 전략 둘, 고객이 직접 고르는 혜택 — 잠금이나 예측 중 원하는 방식으로 혜택을 받아 주도성을 느낍니다. 경쟁 6곳 중 가격 변동 자체를 콘텐츠로 쓰는 곳은 아직 없습니다.</a:t>
            </a:r>
          </a:p>
          <a:p>
            <a:r>
              <a:t>[연결] 이것이 하루 안에서 어떻게 돌아가는지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[핵심] 아침에 본 가격을 잠그면 저녁 결제까지 이어집니다.</a:t>
            </a:r>
          </a:p>
          <a:p>
            <a:r>
              <a:t>[멘트] 쉽게 말해 잠금은 ‘이 가격에 찜’입니다. 아침에 점찍은 빵을 저녁에 더 비싸게 만나지 않게 해 드립니다.</a:t>
            </a:r>
          </a:p>
          <a:p>
            <a:r>
              <a:t>[근거] 6시 오전장에서 시세를 보고 빵 하나를 잠급니다. 16시 오후장에서 잠금이 정산되고 자사몰에서 결제합니다. 다음 날 6시에는 예측 결과를 보러 다시 옵니다. 6시와 16시는 5월에 확인한 로그인 피크(8~10시)와 결제 피크(20~24시) 직전입니다. 기능은 세 가지 — 오늘의 시세, 가격 잠금, 오늘의 보상 고르기이고, 잠금 때문에 손해 보는 경우는 없습니다.</a:t>
            </a:r>
          </a:p>
          <a:p>
            <a:r>
              <a:t>[연결] 그런데 고객마다 구매 의사가 다릅니다.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[핵심] 상황이 달라도 고객은 결국 자사몰에서 구매합니다.</a:t>
            </a:r>
          </a:p>
          <a:p>
            <a:r>
              <a:t>[근거] 5월 자사몰에서는 오전 8~10시 로그인 비중이 25.6%지만 결제금액 비중은 8.0%이고, 저녁 20~24시는 로그인 20.0%에 결제금액 28.4%입니다. 즉시 구매형은 오늘 가격으로 바로 사고, 가격 확보형은 오전가를 하루 한 번 잠근 뒤 16:00~01:59에 잠근가 또는 더 싼가로 결제합니다. 관망형은 내일 가격을 예측해 적중 시 쿠폰을 받고 다시 방문합니다.</a:t>
            </a:r>
          </a:p>
          <a:p>
            <a:r>
              <a:t>[연결] 가격 잠금은 구매를 미루게 하는 장치가 아니라, 아침의 관심을 저녁의 결제로 연결하는 장치입니다.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[핵심] 고객 상황에 따라 길은 세 가지이고, 모두 자사몰 결제로 이어집니다.</a:t>
            </a:r>
          </a:p>
          <a:p>
            <a:r>
              <a:t>[근거] 바로 살 수 있으면 즉시 구매, 가격은 좋은데 결제는 나중이면 오전가를 잠근 뒤 구매, 더 싸지길 기다리면 예측에 참여하고 쿠폰으로 최적가에 구매합니다. 잠금은 가격 상승 위험을 없애고, 예측은 내일 다시 오게 만듭니다.</a:t>
            </a:r>
          </a:p>
          <a:p>
            <a:r>
              <a:t>[연결] 이 모든 길이 통하려면 먼저 가격을 믿을 수 있어야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[핵심] 고객 상황에 따라 길은 세 가지이고, 모두 자사몰 결제로 이어집니다.</a:t>
            </a:r>
          </a:p>
          <a:p>
            <a:r>
              <a:t>[근거] 바로 살 수 있으면 즉시 구매, 가격은 좋은데 결제는 나중이면 오전가를 잠근 뒤 구매, 더 싸지길 기다리면 예측에 참여하고 쿠폰으로 최적가에 구매합니다. 잠금은 가격 상승 위험을 없애고, 예측은 내일 다시 오게 만듭니다.</a:t>
            </a:r>
          </a:p>
          <a:p>
            <a:r>
              <a:t>[연결] 이 모든 길이 통하려면 먼저 가격을 믿을 수 있어야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[핵심] 고객 상황에 따라 길은 세 가지이고, 모두 자사몰 결제로 이어집니다.</a:t>
            </a:r>
          </a:p>
          <a:p>
            <a:r>
              <a:t>[근거] 바로 살 수 있으면 즉시 구매, 가격은 좋은데 결제는 나중이면 오전가를 잠근 뒤 구매, 더 싸지길 기다리면 예측에 참여하고 쿠폰으로 최적가에 구매합니다. 잠금은 가격 상승 위험을 없애고, 예측은 내일 다시 오게 만듭니다.</a:t>
            </a:r>
          </a:p>
          <a:p>
            <a:r>
              <a:t>[연결] 이 모든 길이 통하려면 먼저 가격을 믿을 수 있어야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[핵심] 가격을 믿을 수 있어야 하므로, 가격은 공개된 산식으로만 움직입니다.</a:t>
            </a:r>
          </a:p>
          <a:p>
            <a:r>
              <a:t>[멘트] 가격이 매일 바뀌면 ‘나만 모르고 비싸게 샀나’ 싶으실 수 있습니다. 그래서 왜 바뀌는지를 아예 공개합니다.</a:t>
            </a:r>
          </a:p>
          <a:p>
            <a:r>
              <a:t>[근거] 신호는 두 개입니다. 검색지수(수요)는 최대 15% 할인을 더하고, 환율(원가)은 내리면 하락률의 14배를 전부 돌려주고 오르면 7배, 절반만 반영합니다. 합계는 0~38%로 고정되어 정가를 넘지 않습니다. 모닝롤은 정가 4,500원이 평균 할인에서 3,830원, 최대 할인에서 2,790원입니다. 나머지 5종도 같은 산식입니다.</a:t>
            </a:r>
          </a:p>
          <a:p>
            <a:r>
              <a:t>[연결] 그렇다면 실제로 얼마나 할인될까요? 91일을 돌려 봤습니다.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[핵심] 실제로 91일을 돌려 보니 평균 할인은 15%, 세션의 84%가 20% 미만이었습니다.</a:t>
            </a:r>
          </a:p>
          <a:p>
            <a:r>
              <a:t>[멘트] 매일이 대박 세일은 아닙니다. 25%를 넘는 날은 182번 중 7번입니다.</a:t>
            </a:r>
          </a:p>
          <a:p>
            <a:r>
              <a:t>[근거] 하루 두 번, 182개 세션입니다. 오전장 평균 15.8%, 오후장 14.2%이고, 25% 이상 큰 할인은 7번, 3.8%뿐입니다.</a:t>
            </a:r>
          </a:p>
          <a:p>
            <a:r>
              <a:t>[연결] 그렇다면 마진은 버틸까요?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[핵심] 첫 버전은 두 전략을 검증하는 기능만 담습니다.</a:t>
            </a:r>
          </a:p>
          <a:p>
            <a:r>
              <a:t>[근거] 시세 확인, 가격 잠금, 보상 고르기, 자사몰 전환, ‘투자가 아닙니다’ 안내, 38% 상한 가드레일이 필수이고, 가격 하락 이메일 알림은 여력이 되면 넣습니다. 도감·씰, 매수가 기준 보상, 막지스톡 안의 결제는 이번에 하지 않습니다. 구현은 2~3주, 검증은 9월 28~30일이고 상품 수(대표 6종 기준)만 확정되면 됩니다.</a:t>
            </a:r>
          </a:p>
          <a:p>
            <a:r>
              <a:t>[연결] 검증한다면 무엇으로 판단할까요?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[핵심] 서비스 목표와 같은 순서로 측정합니다.</a:t>
            </a:r>
          </a:p>
          <a:p>
            <a:r>
              <a:t>[근거] 북극성은 STOCK에서 잠금·보상을 고른 세션이 자사몰 구매까지 가는 전환율이고, 아직 미측정이라 베타 첫 주에 기준선을 잡습니다. 유입은 방문자·신규 가입(5월 40건), 체류는 재방문율·체류시간, 전환은 쿠폰 사용률·결제 완결률(5월 73.5%)입니다. 목표값은 근거 없이 정하지 않고 베타 실측 후 확정하며, 가드레일은 하나라도 넘으면 즉시 중단합니다.</a:t>
            </a:r>
          </a:p>
          <a:p>
            <a:r>
              <a:t>[연결] 이 지표가 달성되면 매출은 어떻게 될까요?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[핵심] 지표가 달성되면 Base 시나리오로 5년 뒤 매출은 18.8억입니다.</a:t>
            </a:r>
          </a:p>
          <a:p>
            <a:r>
              <a:t>[멘트] 숫자는 일부러 낙관적으로 그리지 않았습니다. 시장이 커진다는 가정은 뺐습니다.</a:t>
            </a:r>
          </a:p>
          <a:p>
            <a:r>
              <a:t>[근거] 매출은 유입 × 전환율 × 객단가(5월 2.32만 원)입니다. TAM 13.6조, SAM 2,100~2,650억에서 시장 성장은 넣지 않고 점유율만 0.5%에서 3%로 넓혔습니다. Worst는 2.8억, Best는 35.3억이고, 망넛이네·널담의 초기 실적은 확정 전망이 아닌 성공 벤치마크입니다.</a:t>
            </a:r>
          </a:p>
          <a:p>
            <a:r>
              <a:t>[연결] 이 그림에는 리스크가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[핵심] 리스크는 구조적 제약 하나와 관리 가능한 다섯 가지입니다.</a:t>
            </a:r>
          </a:p>
          <a:p>
            <a:r>
              <a:t>[멘트] 리스크는 숨기지 않고 먼저 말씀드리겠습니다.</a:t>
            </a:r>
          </a:p>
          <a:p>
            <a:r>
              <a:t>[근거] 막지스톡과 자사몰 결제가 분리된 것은 RFP가 정한 구조라 원클릭·자동 인식으로 줄이기만 합니다. HIGH는 키워드 적합성, 표시가·결제가 불일치, 법적 위험 세 가지이고, 나머지 둘(가격모델 재검증, 쿠폰 중복)은 관리 중입니다. 대응은 상한 38%, 표시가=결제가 검증, 법무 검토, 백테스트 재실행입니다.</a:t>
            </a:r>
          </a:p>
          <a:p>
            <a:r>
              <a:t>[연결] 그래서 대표님께 세 가지를 요청드립니다.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[핵심] 그래서 세 가지를 요청드립니다. MVP 상품 수 확정, 실제 원가·마진율 공유, 할인 표시 법무 검토입니다.</a:t>
            </a:r>
          </a:p>
          <a:p>
            <a:r>
              <a:t>[멘트] 요청은 세 가지입니다. 하나씩 여쭙겠습니다.</a:t>
            </a:r>
          </a:p>
          <a:p>
            <a:r>
              <a:t>[근거] 지금은 마진율을 40/50/60%로 가정했고, 실제 수치를 주시면 마진 방어를 정밀 검증하겠습니다. 로드맵은 MVP, 참여 기능, 자사몰 실연동의 3단계입니다. 향후 확장(Bakery ETF·FX Bakery·Bread Index)은 설계 단계입니다.</a:t>
            </a:r>
          </a:p>
          <a:p>
            <a:r>
              <a:t>[연결] 질문을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[클로징 멘트] 가격이 움직이니 손님도 움직입니다. 질문 주시면 저도 움직이겠습니다.</a:t>
            </a:r>
          </a:p>
          <a:p>
            <a:r>
              <a:t>[Q&amp;A] 예상 질문은 발표 스토리라인 문서의 ‘예상 질문과 답변’을 참고하세요.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4087C7"/>
                </a:solidFill>
                <a:latin typeface="Noto Sans KR"/>
              </a:rPr>
              <a:t>●  </a:t>
            </a:r>
            <a:r>
              <a:rPr sz="1300" b="1">
                <a:solidFill>
                  <a:srgbClr val="111827"/>
                </a:solidFill>
                <a:latin typeface="Noto Sans KR"/>
              </a:rPr>
              <a:t>MAKJI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502920"/>
            <a:ext cx="45079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9CA3AF"/>
                </a:solidFill>
                <a:latin typeface="Noto Sans KR"/>
              </a:rPr>
              <a:t>BUSINESS PROPOSAL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73152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000" b="1">
                <a:solidFill>
                  <a:srgbClr val="111827"/>
                </a:solidFill>
                <a:latin typeface="Noto Sans KR"/>
              </a:rPr>
              <a:t>MAKJI</a:t>
            </a:r>
          </a:p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8000" b="1">
                <a:solidFill>
                  <a:srgbClr val="4087C7"/>
                </a:solidFill>
                <a:latin typeface="Noto Sans KR"/>
              </a:rPr>
              <a:t>STOCK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B5563"/>
                </a:solidFill>
                <a:latin typeface="Noto Sans KR"/>
              </a:rPr>
              <a:t>웰니스 베이커리 막지의 B2C 확장 —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600" b="0">
                <a:solidFill>
                  <a:srgbClr val="4B5563"/>
                </a:solidFill>
                <a:latin typeface="Noto Sans KR"/>
              </a:rPr>
              <a:t>매일 두 번 움직이는 빵값으로 자사몰의 방문과 구매를 만듭니다.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빵값연구소  |  기업 대표 보고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6172200"/>
            <a:ext cx="5056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2026.09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시장 기회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9556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dirty="0" err="1">
                <a:solidFill>
                  <a:srgbClr val="111827"/>
                </a:solidFill>
                <a:latin typeface="Noto Sans KR"/>
              </a:rPr>
              <a:t>온라인</a:t>
            </a:r>
            <a:r>
              <a:rPr sz="2700" b="1" dirty="0">
                <a:solidFill>
                  <a:srgbClr val="111827"/>
                </a:solidFill>
                <a:latin typeface="Noto Sans KR"/>
              </a:rPr>
              <a:t> </a:t>
            </a:r>
            <a:r>
              <a:rPr sz="2700" b="1" dirty="0" err="1">
                <a:solidFill>
                  <a:srgbClr val="111827"/>
                </a:solidFill>
                <a:latin typeface="Noto Sans KR"/>
              </a:rPr>
              <a:t>베이커리</a:t>
            </a:r>
            <a:r>
              <a:rPr sz="2700" b="1" dirty="0">
                <a:solidFill>
                  <a:srgbClr val="111827"/>
                </a:solidFill>
                <a:latin typeface="Noto Sans KR"/>
              </a:rPr>
              <a:t> </a:t>
            </a:r>
            <a:r>
              <a:rPr sz="2700" b="1" dirty="0" err="1">
                <a:solidFill>
                  <a:srgbClr val="111827"/>
                </a:solidFill>
                <a:latin typeface="Noto Sans KR"/>
              </a:rPr>
              <a:t>시장은</a:t>
            </a:r>
            <a:r>
              <a:rPr sz="2700" b="1" dirty="0">
                <a:solidFill>
                  <a:srgbClr val="111827"/>
                </a:solidFill>
                <a:latin typeface="Noto Sans KR"/>
              </a:rPr>
              <a:t> 4년 </a:t>
            </a:r>
            <a:r>
              <a:rPr sz="2700" b="1" dirty="0" err="1">
                <a:solidFill>
                  <a:srgbClr val="111827"/>
                </a:solidFill>
                <a:latin typeface="Noto Sans KR"/>
              </a:rPr>
              <a:t>만에</a:t>
            </a:r>
            <a:r>
              <a:rPr sz="2700" b="1" dirty="0">
                <a:solidFill>
                  <a:srgbClr val="111827"/>
                </a:solidFill>
                <a:latin typeface="Noto Sans KR"/>
              </a:rPr>
              <a:t> 2배 </a:t>
            </a:r>
            <a:r>
              <a:rPr sz="2700" b="1" dirty="0" err="1">
                <a:solidFill>
                  <a:srgbClr val="111827"/>
                </a:solidFill>
                <a:latin typeface="Noto Sans KR"/>
              </a:rPr>
              <a:t>가까이</a:t>
            </a:r>
            <a:r>
              <a:rPr sz="2700" b="1" dirty="0">
                <a:solidFill>
                  <a:srgbClr val="111827"/>
                </a:solidFill>
                <a:latin typeface="Noto Sans KR"/>
              </a:rPr>
              <a:t> </a:t>
            </a:r>
            <a:r>
              <a:rPr sz="2700" b="1" dirty="0" err="1">
                <a:solidFill>
                  <a:srgbClr val="111827"/>
                </a:solidFill>
                <a:latin typeface="Noto Sans KR"/>
              </a:rPr>
              <a:t>커졌고</a:t>
            </a:r>
            <a:r>
              <a:rPr sz="2700" b="1" dirty="0">
                <a:solidFill>
                  <a:srgbClr val="111827"/>
                </a:solidFill>
                <a:latin typeface="Noto Sans KR"/>
              </a:rPr>
              <a:t>,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ko-KR" altLang="en-US" sz="2700" b="1" dirty="0" smtClean="0">
                <a:solidFill>
                  <a:srgbClr val="111827"/>
                </a:solidFill>
                <a:latin typeface="Noto Sans KR"/>
              </a:rPr>
              <a:t>경쟁사</a:t>
            </a:r>
            <a:r>
              <a:rPr sz="2700" b="1" dirty="0" smtClean="0">
                <a:solidFill>
                  <a:srgbClr val="111827"/>
                </a:solidFill>
                <a:latin typeface="Noto Sans KR"/>
              </a:rPr>
              <a:t>도 </a:t>
            </a:r>
            <a:r>
              <a:rPr sz="2700" b="1" dirty="0" err="1">
                <a:solidFill>
                  <a:srgbClr val="111827"/>
                </a:solidFill>
                <a:latin typeface="Noto Sans KR"/>
              </a:rPr>
              <a:t>온라인에서</a:t>
            </a:r>
            <a:r>
              <a:rPr sz="2700" b="1" dirty="0">
                <a:solidFill>
                  <a:srgbClr val="111827"/>
                </a:solidFill>
                <a:latin typeface="Noto Sans KR"/>
              </a:rPr>
              <a:t> </a:t>
            </a:r>
            <a:r>
              <a:rPr sz="2700" b="1" dirty="0" err="1">
                <a:solidFill>
                  <a:srgbClr val="111827"/>
                </a:solidFill>
                <a:latin typeface="Noto Sans KR"/>
              </a:rPr>
              <a:t>빠르게</a:t>
            </a:r>
            <a:r>
              <a:rPr sz="2700" b="1" dirty="0">
                <a:solidFill>
                  <a:srgbClr val="111827"/>
                </a:solidFill>
                <a:latin typeface="Noto Sans KR"/>
              </a:rPr>
              <a:t> </a:t>
            </a:r>
            <a:r>
              <a:rPr sz="2700" b="1" dirty="0" err="1">
                <a:solidFill>
                  <a:srgbClr val="111827"/>
                </a:solidFill>
                <a:latin typeface="Noto Sans KR"/>
              </a:rPr>
              <a:t>성장하고</a:t>
            </a:r>
            <a:r>
              <a:rPr sz="2700" b="1" dirty="0">
                <a:solidFill>
                  <a:srgbClr val="111827"/>
                </a:solidFill>
                <a:latin typeface="Noto Sans KR"/>
              </a:rPr>
              <a:t> </a:t>
            </a:r>
            <a:r>
              <a:rPr sz="2700" b="1" dirty="0" err="1">
                <a:solidFill>
                  <a:srgbClr val="111827"/>
                </a:solidFill>
                <a:latin typeface="Noto Sans KR"/>
              </a:rPr>
              <a:t>있습니다</a:t>
            </a:r>
            <a:r>
              <a:rPr sz="2700" b="1" dirty="0">
                <a:solidFill>
                  <a:srgbClr val="111827"/>
                </a:solidFill>
                <a:latin typeface="Noto Sans KR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88736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0" y="6007608"/>
            <a:ext cx="8622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이 성장 시장에서 막지도 B2B를 넘어 자사몰(B2C)로 성장축을 넓힙니다.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9CA3AF"/>
                </a:solidFill>
                <a:latin typeface="Noto Sans KR"/>
              </a:rPr>
              <a:t>출처: aT 온라인 베이커리 시장 규모(매일경제 2026.03.23) · 널담 2025 매출 약 330억, 2026 목표 800억(플래텀·메트로서울 2026.01) · 2024는 역산 추정, 2023은 내부 시장분석 · 널담 매출에는 오프라인 유통 포함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CA3AF"/>
                </a:solidFill>
                <a:latin typeface="Noto Sans KR"/>
              </a:rPr>
              <a:t>02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5257800" cy="3611880"/>
          </a:xfrm>
          <a:prstGeom prst="roundRect">
            <a:avLst>
              <a:gd name="adj" fmla="val 405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55080" y="2103120"/>
            <a:ext cx="5010912" cy="3611880"/>
          </a:xfrm>
          <a:prstGeom prst="roundRect">
            <a:avLst>
              <a:gd name="adj" fmla="val 405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2677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4B5563"/>
                </a:solidFill>
                <a:latin typeface="Noto Sans KR"/>
              </a:rPr>
              <a:t>국내 온라인 베이커리 시장 (억원)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100945"/>
            <a:ext cx="1051560" cy="1019694"/>
          </a:xfrm>
          <a:prstGeom prst="roundRect">
            <a:avLst>
              <a:gd name="adj" fmla="val 4483"/>
            </a:avLst>
          </a:prstGeom>
          <a:solidFill>
            <a:srgbClr val="BFD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771761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3,200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212079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2021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3399905"/>
            <a:ext cx="1051560" cy="1720734"/>
          </a:xfrm>
          <a:prstGeom prst="roundRect">
            <a:avLst>
              <a:gd name="adj" fmla="val 4347"/>
            </a:avLst>
          </a:prstGeom>
          <a:solidFill>
            <a:srgbClr val="BFD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06040" y="3070721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5,400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5212079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2024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129049"/>
            <a:ext cx="1051560" cy="1991590"/>
          </a:xfrm>
          <a:prstGeom prst="roundRect">
            <a:avLst>
              <a:gd name="adj" fmla="val 4347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0" y="2799865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6,250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212079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2025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97280" y="5120640"/>
            <a:ext cx="4617719" cy="0"/>
          </a:xfrm>
          <a:prstGeom prst="line">
            <a:avLst/>
          </a:prstGeom>
          <a:ln w="190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97280" y="265176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2651760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Noto Sans KR"/>
              </a:rPr>
              <a:t>+95%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2651760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9CA3AF"/>
                </a:solidFill>
                <a:latin typeface="Noto Sans KR"/>
              </a:rPr>
              <a:t>2021 →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2677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dirty="0" err="1">
                <a:solidFill>
                  <a:srgbClr val="4B5563"/>
                </a:solidFill>
                <a:latin typeface="Noto Sans KR"/>
              </a:rPr>
              <a:t>널담</a:t>
            </a:r>
            <a:r>
              <a:rPr sz="1200" b="1" dirty="0">
                <a:solidFill>
                  <a:srgbClr val="4B5563"/>
                </a:solidFill>
                <a:latin typeface="Noto Sans KR"/>
              </a:rPr>
              <a:t> 연 </a:t>
            </a:r>
            <a:r>
              <a:rPr sz="1200" b="1" dirty="0" err="1">
                <a:solidFill>
                  <a:srgbClr val="4B5563"/>
                </a:solidFill>
                <a:latin typeface="Noto Sans KR"/>
              </a:rPr>
              <a:t>매출</a:t>
            </a:r>
            <a:r>
              <a:rPr sz="1200" b="1" dirty="0">
                <a:solidFill>
                  <a:srgbClr val="4B5563"/>
                </a:solidFill>
                <a:latin typeface="Noto Sans KR"/>
              </a:rPr>
              <a:t> (</a:t>
            </a:r>
            <a:r>
              <a:rPr sz="1200" b="1" dirty="0" err="1">
                <a:solidFill>
                  <a:srgbClr val="4B5563"/>
                </a:solidFill>
                <a:latin typeface="Noto Sans KR"/>
              </a:rPr>
              <a:t>억원</a:t>
            </a:r>
            <a:r>
              <a:rPr sz="1200" b="1" dirty="0">
                <a:solidFill>
                  <a:srgbClr val="4B5563"/>
                </a:solidFill>
                <a:latin typeface="Noto Sans KR"/>
              </a:rPr>
              <a:t>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4751707"/>
            <a:ext cx="777240" cy="368932"/>
          </a:xfrm>
          <a:prstGeom prst="roundRect">
            <a:avLst>
              <a:gd name="adj" fmla="val 12392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4422523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145.6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212079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2023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19288" y="4710151"/>
            <a:ext cx="777240" cy="410488"/>
          </a:xfrm>
          <a:prstGeom prst="roundRect">
            <a:avLst>
              <a:gd name="adj" fmla="val 11137"/>
            </a:avLst>
          </a:prstGeom>
          <a:solidFill>
            <a:srgbClr val="BFD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44967" y="4380967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≈162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4967" y="5212079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4967" y="5449824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9CA3AF"/>
                </a:solidFill>
                <a:latin typeface="Noto Sans KR"/>
              </a:rPr>
              <a:t>역산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0576" y="4284459"/>
            <a:ext cx="777240" cy="836180"/>
          </a:xfrm>
          <a:prstGeom prst="roundRect">
            <a:avLst>
              <a:gd name="adj" fmla="val 5882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06255" y="3955275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≈330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06255" y="5212079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2025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41864" y="3093536"/>
            <a:ext cx="777240" cy="2027103"/>
          </a:xfrm>
          <a:prstGeom prst="roundRect">
            <a:avLst>
              <a:gd name="adj" fmla="val 5882"/>
            </a:avLst>
          </a:prstGeom>
          <a:solidFill>
            <a:srgbClr val="BFD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67544" y="2764352"/>
            <a:ext cx="1325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800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67544" y="5212079"/>
            <a:ext cx="1325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67544" y="5449824"/>
            <a:ext cx="1325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9CA3AF"/>
                </a:solidFill>
                <a:latin typeface="Noto Sans KR"/>
              </a:rPr>
              <a:t>목표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583680" y="5120640"/>
            <a:ext cx="4809744" cy="0"/>
          </a:xfrm>
          <a:prstGeom prst="line">
            <a:avLst/>
          </a:prstGeom>
          <a:ln w="190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629400" y="265176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29400" y="2651760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Noto Sans KR"/>
              </a:rPr>
              <a:t>+104%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2651760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9CA3AF"/>
                </a:solidFill>
                <a:latin typeface="Noto Sans KR"/>
              </a:rPr>
              <a:t>2025 전년 대비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현상 · 자사몰 5월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그런데 막지 자사몰은 아침에 둘러보고 저녁에 삽니다 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방문과 구매의 시점이 어긋납니다.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88736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0" y="6007608"/>
            <a:ext cx="8622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방문이 구매로 이어지지 못하는 것이 자사몰의 핵심 문제입니다.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9CA3AF"/>
                </a:solidFill>
                <a:latin typeface="Noto Sans KR"/>
              </a:rPr>
              <a:t>출처: 막지 자사몰 5월 시간별 분석 (로그인 90회 · 결제금액 기준, 단일상품 막지 ZERO 카스테라)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CA3AF"/>
                </a:solidFill>
                <a:latin typeface="Noto Sans KR"/>
              </a:rPr>
              <a:t>03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10543032" cy="36576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4B5563"/>
                </a:solidFill>
                <a:latin typeface="Noto Sans KR"/>
              </a:rPr>
              <a:t>막지 자사몰 5월 · 시간대별 로그인 vs 결제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212848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>
                <a:solidFill>
                  <a:srgbClr val="4087C7"/>
                </a:solidFill>
                <a:latin typeface="Noto Sans KR"/>
              </a:rPr>
              <a:t>■ 로그인 비중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450592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>
                <a:solidFill>
                  <a:srgbClr val="FF7A45"/>
                </a:solidFill>
                <a:latin typeface="Noto Sans KR"/>
              </a:rPr>
              <a:t>■ 결제금액 비중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3377184"/>
            <a:ext cx="1143000" cy="1560576"/>
          </a:xfrm>
          <a:prstGeom prst="roundRect">
            <a:avLst>
              <a:gd name="adj" fmla="val 4000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11679" y="2993136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>
                <a:solidFill>
                  <a:srgbClr val="111827"/>
                </a:solidFill>
                <a:latin typeface="Noto Sans KR"/>
              </a:rPr>
              <a:t>25.6%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4450080"/>
            <a:ext cx="1143000" cy="487680"/>
          </a:xfrm>
          <a:prstGeom prst="roundRect">
            <a:avLst>
              <a:gd name="adj" fmla="val 9375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83279" y="4066032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>
                <a:solidFill>
                  <a:srgbClr val="111827"/>
                </a:solidFill>
                <a:latin typeface="Noto Sans KR"/>
              </a:rPr>
              <a:t>8.0%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79" y="5029200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11827"/>
                </a:solidFill>
                <a:latin typeface="Noto Sans KR"/>
              </a:rPr>
              <a:t>오전 8~10시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79" y="5303520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>
                <a:solidFill>
                  <a:srgbClr val="9CA3AF"/>
                </a:solidFill>
                <a:latin typeface="Noto Sans KR"/>
              </a:rPr>
              <a:t>아침에 둘러보고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3718560"/>
            <a:ext cx="1143000" cy="1219200"/>
          </a:xfrm>
          <a:prstGeom prst="roundRect">
            <a:avLst>
              <a:gd name="adj" fmla="val 4000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3334512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>
                <a:solidFill>
                  <a:srgbClr val="111827"/>
                </a:solidFill>
                <a:latin typeface="Noto Sans KR"/>
              </a:rPr>
              <a:t>20.0%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206496"/>
            <a:ext cx="1143000" cy="1731264"/>
          </a:xfrm>
          <a:prstGeom prst="roundRect">
            <a:avLst>
              <a:gd name="adj" fmla="val 4000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0" y="2822448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>
                <a:solidFill>
                  <a:srgbClr val="111827"/>
                </a:solidFill>
                <a:latin typeface="Noto Sans KR"/>
              </a:rPr>
              <a:t>28.4%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029200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11827"/>
                </a:solidFill>
                <a:latin typeface="Noto Sans KR"/>
              </a:rPr>
              <a:t>저녁 20~24시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303520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>
                <a:solidFill>
                  <a:srgbClr val="9CA3AF"/>
                </a:solidFill>
                <a:latin typeface="Noto Sans KR"/>
              </a:rPr>
              <a:t>저녁에 삽니다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97280" y="4937760"/>
            <a:ext cx="9994392" cy="0"/>
          </a:xfrm>
          <a:prstGeom prst="line">
            <a:avLst/>
          </a:prstGeom>
          <a:ln w="190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서비스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그래서 목표는 두 단계 — 먼저 방문을 늘리고,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방문한 고객을 한 걸음에 구매까지 잇습니다.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88736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0" y="6007608"/>
            <a:ext cx="8622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매일 오게 하고, 살 때까지 붙잡을 방법이 필요합니다.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CA3AF"/>
                </a:solidFill>
                <a:latin typeface="Noto Sans KR"/>
              </a:rPr>
              <a:t>04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5166360" cy="2240280"/>
          </a:xfrm>
          <a:prstGeom prst="roundRect">
            <a:avLst>
              <a:gd name="adj" fmla="val 653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99632" y="2103120"/>
            <a:ext cx="5166360" cy="2240280"/>
          </a:xfrm>
          <a:prstGeom prst="roundRect">
            <a:avLst>
              <a:gd name="adj" fmla="val 6530"/>
            </a:avLst>
          </a:prstGeom>
          <a:solidFill>
            <a:srgbClr val="FF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731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5000" b="1">
                <a:solidFill>
                  <a:srgbClr val="4087C7"/>
                </a:solidFill>
                <a:latin typeface="Noto Sans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395728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>
                <a:solidFill>
                  <a:srgbClr val="111827"/>
                </a:solidFill>
                <a:latin typeface="Noto Sans KR"/>
              </a:rPr>
              <a:t>자사몰 유입 증가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92608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B5563"/>
                </a:solidFill>
                <a:latin typeface="Noto Sans KR"/>
              </a:rPr>
              <a:t>광고를 켠 날에만 팔리는 구조에서 벗어나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50" b="0">
                <a:solidFill>
                  <a:srgbClr val="4B5563"/>
                </a:solidFill>
                <a:latin typeface="Noto Sans KR"/>
              </a:rPr>
              <a:t>고객이 스스로 찾아오게 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286000"/>
            <a:ext cx="731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5000" b="1">
                <a:solidFill>
                  <a:srgbClr val="FF7A45"/>
                </a:solidFill>
                <a:latin typeface="Noto Sans K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51192" y="2395728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>
                <a:solidFill>
                  <a:srgbClr val="111827"/>
                </a:solidFill>
                <a:latin typeface="Noto Sans KR"/>
              </a:rPr>
              <a:t>체류시간 ↑ · 전환율 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1192" y="292608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B5563"/>
                </a:solidFill>
                <a:latin typeface="Noto Sans KR"/>
              </a:rPr>
              <a:t>가격을 확인·비교하며 머무르고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50" b="0">
                <a:solidFill>
                  <a:srgbClr val="4B5563"/>
                </a:solidFill>
                <a:latin typeface="Noto Sans KR"/>
              </a:rPr>
              <a:t>탐색한 뒤 자사몰 구매까지 이어지게 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617720"/>
            <a:ext cx="10543032" cy="914400"/>
          </a:xfrm>
          <a:prstGeom prst="roundRect">
            <a:avLst>
              <a:gd name="adj" fmla="val 1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43000" y="4983480"/>
            <a:ext cx="182880" cy="182880"/>
          </a:xfrm>
          <a:prstGeom prst="ellipse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35608" y="48920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유입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487375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3749039" y="4983480"/>
            <a:ext cx="182880" cy="182880"/>
          </a:xfrm>
          <a:prstGeom prst="ellipse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41648" y="48920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체류 · 가격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87375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6355080" y="4983480"/>
            <a:ext cx="182880" cy="182880"/>
          </a:xfrm>
          <a:prstGeom prst="ellipse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47688" y="48920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탐색 · 지금 살까?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87375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8961120" y="4983480"/>
            <a:ext cx="182880" cy="182880"/>
          </a:xfrm>
          <a:prstGeom prst="ellipse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53728" y="48920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구매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세부 전략과 솔루션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그 답이 ‘막지스톡’ — 가격이 방문 이유가 되고,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고르는 혜택이 구매까지 붙잡습니다.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88736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0" y="6007608"/>
            <a:ext cx="8622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두 전략이 방문(유입)과 구매(전환)를 동시에 겨냥합니다.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CA3AF"/>
                </a:solidFill>
                <a:latin typeface="Noto Sans KR"/>
              </a:rPr>
              <a:t>05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5166360" cy="1783080"/>
          </a:xfrm>
          <a:prstGeom prst="roundRect">
            <a:avLst>
              <a:gd name="adj" fmla="val 8205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99632" y="2057400"/>
            <a:ext cx="5166360" cy="1783080"/>
          </a:xfrm>
          <a:prstGeom prst="roundRect">
            <a:avLst>
              <a:gd name="adj" fmla="val 8205"/>
            </a:avLst>
          </a:prstGeom>
          <a:solidFill>
            <a:srgbClr val="FF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400" b="1">
                <a:solidFill>
                  <a:srgbClr val="4087C7"/>
                </a:solidFill>
                <a:latin typeface="Noto Sans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8600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>
                <a:solidFill>
                  <a:srgbClr val="111827"/>
                </a:solidFill>
                <a:latin typeface="Noto Sans KR"/>
              </a:rPr>
              <a:t>가격 자체를 콘텐츠로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8892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매일 두 번 바뀌는 빵값이 ‘오늘은 얼마일까?’라는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>
                <a:solidFill>
                  <a:srgbClr val="4B5563"/>
                </a:solidFill>
                <a:latin typeface="Noto Sans KR"/>
              </a:rPr>
              <a:t>방문 이유가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194560"/>
            <a:ext cx="640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400" b="1">
                <a:solidFill>
                  <a:srgbClr val="FF7A45"/>
                </a:solidFill>
                <a:latin typeface="Noto Sans K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5472" y="228600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>
                <a:solidFill>
                  <a:srgbClr val="111827"/>
                </a:solidFill>
                <a:latin typeface="Noto Sans KR"/>
              </a:rPr>
              <a:t>고객이 직접 고르는 혜택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5472" y="278892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잠금 또는 보상 고르기 — 내가 원하는 방식으로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>
                <a:solidFill>
                  <a:srgbClr val="4B5563"/>
                </a:solidFill>
                <a:latin typeface="Noto Sans KR"/>
              </a:rPr>
              <a:t>혜택을 받고, 주도성을 느낍니다.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84048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4087C7"/>
                </a:solidFill>
                <a:latin typeface="Noto Sans KR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51960"/>
            <a:ext cx="10543032" cy="1481328"/>
          </a:xfrm>
          <a:prstGeom prst="roundRect">
            <a:avLst>
              <a:gd name="adj" fmla="val 9876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343400"/>
            <a:ext cx="1054303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4000" b="1">
                <a:solidFill>
                  <a:srgbClr val="FFFFFF"/>
                </a:solidFill>
                <a:latin typeface="Noto Sans KR"/>
              </a:rPr>
              <a:t>MAKJI STOCK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0">
                <a:solidFill>
                  <a:srgbClr val="FFFFFF"/>
                </a:solidFill>
                <a:latin typeface="Noto Sans KR"/>
              </a:rPr>
              <a:t>빵값을 주식시장처럼 — 하루 두 번 열리는 시세를 보고, 내 방식대로 혜택을 골라 자사몰에서 삽니다.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76672"/>
            <a:ext cx="105430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DCEAF7"/>
                </a:solidFill>
                <a:latin typeface="Noto Sans KR"/>
              </a:rPr>
              <a:t>경쟁 6곳 중 가격 변동 자체를 콘텐츠로 쓰는 곳은 아직 없습니다.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서비스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아침에 본 가격을 잠그면,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저녁 결제까지 이어집니다.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88736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0" y="6007608"/>
            <a:ext cx="8622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아침 관심과 저녁 결제 사이의 간극을 ‘잠금’이 메웁니다.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CA3AF"/>
                </a:solidFill>
                <a:latin typeface="Noto Sans KR"/>
              </a:rPr>
              <a:t>06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10543032" cy="1691640"/>
          </a:xfrm>
          <a:prstGeom prst="roundRect">
            <a:avLst>
              <a:gd name="adj" fmla="val 8648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645920" y="2542032"/>
            <a:ext cx="8915400" cy="0"/>
          </a:xfrm>
          <a:prstGeom prst="line">
            <a:avLst/>
          </a:prstGeom>
          <a:ln w="317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517904" y="2414016"/>
            <a:ext cx="256032" cy="256032"/>
          </a:xfrm>
          <a:prstGeom prst="ellipse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7614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06:00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9067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오전장 개장 · 시세 확인</a:t>
            </a:r>
          </a:p>
        </p:txBody>
      </p:sp>
      <p:sp>
        <p:nvSpPr>
          <p:cNvPr id="12" name="Oval 11"/>
          <p:cNvSpPr/>
          <p:nvPr/>
        </p:nvSpPr>
        <p:spPr>
          <a:xfrm>
            <a:off x="3749040" y="2414016"/>
            <a:ext cx="256032" cy="256032"/>
          </a:xfrm>
          <a:prstGeom prst="ellipse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71216" y="27614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오전장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1216" y="309067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가격 잠금 (하루 1회)</a:t>
            </a:r>
          </a:p>
        </p:txBody>
      </p:sp>
      <p:sp>
        <p:nvSpPr>
          <p:cNvPr id="15" name="Oval 14"/>
          <p:cNvSpPr/>
          <p:nvPr/>
        </p:nvSpPr>
        <p:spPr>
          <a:xfrm>
            <a:off x="5980176" y="2414016"/>
            <a:ext cx="256032" cy="256032"/>
          </a:xfrm>
          <a:prstGeom prst="ellipse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02352" y="27614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16:00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2" y="309067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오후장 개장 · 잠금 정산</a:t>
            </a:r>
          </a:p>
        </p:txBody>
      </p:sp>
      <p:sp>
        <p:nvSpPr>
          <p:cNvPr id="18" name="Oval 17"/>
          <p:cNvSpPr/>
          <p:nvPr/>
        </p:nvSpPr>
        <p:spPr>
          <a:xfrm>
            <a:off x="8211312" y="2414016"/>
            <a:ext cx="256032" cy="256032"/>
          </a:xfrm>
          <a:prstGeom prst="ellipse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33488" y="27614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구매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309067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막지 자사몰에서 결제</a:t>
            </a:r>
          </a:p>
        </p:txBody>
      </p:sp>
      <p:sp>
        <p:nvSpPr>
          <p:cNvPr id="21" name="Oval 20"/>
          <p:cNvSpPr/>
          <p:nvPr/>
        </p:nvSpPr>
        <p:spPr>
          <a:xfrm>
            <a:off x="10442448" y="2414016"/>
            <a:ext cx="256032" cy="256032"/>
          </a:xfrm>
          <a:prstGeom prst="ellipse">
            <a:avLst/>
          </a:prstGeom>
          <a:solidFill>
            <a:srgbClr val="10A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64624" y="276148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111827"/>
                </a:solidFill>
                <a:latin typeface="Noto Sans KR"/>
              </a:rPr>
              <a:t>익일 06:00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64624" y="309067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예측 결과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931920"/>
            <a:ext cx="3410712" cy="1783080"/>
          </a:xfrm>
          <a:prstGeom prst="roundRect">
            <a:avLst>
              <a:gd name="adj" fmla="val 8205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51560" y="4114800"/>
            <a:ext cx="457200" cy="54864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42976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111827"/>
                </a:solidFill>
                <a:latin typeface="Noto Sans KR"/>
              </a:rPr>
              <a:t>오늘의 시세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75488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6종의 가격과 할인율을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>
                <a:solidFill>
                  <a:srgbClr val="4B5563"/>
                </a:solidFill>
                <a:latin typeface="Noto Sans KR"/>
              </a:rPr>
              <a:t>하루 두 번 공개합니다.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931920"/>
            <a:ext cx="3410712" cy="1783080"/>
          </a:xfrm>
          <a:prstGeom prst="roundRect">
            <a:avLst>
              <a:gd name="adj" fmla="val 8205"/>
            </a:avLst>
          </a:prstGeom>
          <a:solidFill>
            <a:srgbClr val="FFF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617720" y="4114800"/>
            <a:ext cx="457200" cy="54864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7720" y="42976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111827"/>
                </a:solidFill>
                <a:latin typeface="Noto Sans KR"/>
              </a:rPr>
              <a:t>가격 잠금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75488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오전가를 하루 1개 잠그면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>
                <a:solidFill>
                  <a:srgbClr val="4B5563"/>
                </a:solidFill>
                <a:latin typeface="Noto Sans KR"/>
              </a:rPr>
              <a:t>오후에 올라도 그 가격입니다.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79" y="3931920"/>
            <a:ext cx="3410712" cy="1783080"/>
          </a:xfrm>
          <a:prstGeom prst="roundRect">
            <a:avLst>
              <a:gd name="adj" fmla="val 8205"/>
            </a:avLst>
          </a:prstGeom>
          <a:solidFill>
            <a:srgbClr val="FF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83879" y="4114800"/>
            <a:ext cx="457200" cy="54864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83879" y="42976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111827"/>
                </a:solidFill>
                <a:latin typeface="Noto Sans KR"/>
              </a:rPr>
              <a:t>오늘의 보상 고르기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475488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안정형은 즉시 확정 쿠폰,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>
                <a:solidFill>
                  <a:srgbClr val="4B5563"/>
                </a:solidFill>
                <a:latin typeface="Noto Sans KR"/>
              </a:rPr>
              <a:t>공격형은 내일 예측에 도전합니다.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12064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845530"/>
                </a:solidFill>
                <a:latin typeface="Noto Sans KR"/>
              </a:defRPr>
            </a:pPr>
            <a:r>
              <a:t>사용자 여정 · 구매 의사별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32104"/>
            <a:ext cx="105613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1F1B"/>
                </a:solidFill>
                <a:latin typeface="Noto Sans KR"/>
              </a:defRPr>
            </a:pPr>
            <a:r>
              <a:t>상황이 달라도 고객은 결국 자사몰에서 구매합니다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82496"/>
            <a:ext cx="2084831" cy="3776472"/>
          </a:xfrm>
          <a:prstGeom prst="roundRect">
            <a:avLst>
              <a:gd name="adj" fmla="val 10000"/>
            </a:avLst>
          </a:prstGeom>
          <a:solidFill>
            <a:srgbClr val="FBF8F3"/>
          </a:solidFill>
          <a:ln w="9525">
            <a:solidFill>
              <a:srgbClr val="E7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" y="1938528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845530"/>
                </a:solidFill>
                <a:latin typeface="Noto Sans KR"/>
              </a:defRPr>
            </a:pPr>
            <a:r>
              <a:t>1 · 오늘의 가격 확인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395728"/>
            <a:ext cx="1536192" cy="21579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ED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872" y="3035808"/>
            <a:ext cx="120700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978F86"/>
                </a:solidFill>
                <a:latin typeface="Noto Sans KR"/>
              </a:defRPr>
            </a:pPr>
            <a:r>
              <a:t>실제 앱 화면</a:t>
            </a:r>
          </a:p>
          <a:p>
            <a:pPr algn="ctr">
              <a:defRPr sz="1100" b="1">
                <a:solidFill>
                  <a:srgbClr val="978F86"/>
                </a:solidFill>
                <a:latin typeface="Noto Sans KR"/>
              </a:defRPr>
            </a:pPr>
            <a:r>
              <a:t>목업 영역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4773168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0">
                <a:solidFill>
                  <a:srgbClr val="5D534B"/>
                </a:solidFill>
                <a:latin typeface="Noto Sans KR"/>
              </a:defRPr>
            </a:pPr>
            <a:r>
              <a:t>오늘 가격을 보고</a:t>
            </a:r>
          </a:p>
          <a:p>
            <a:pPr algn="ctr">
              <a:defRPr sz="1050" b="0">
                <a:solidFill>
                  <a:srgbClr val="5D534B"/>
                </a:solidFill>
                <a:latin typeface="Noto Sans KR"/>
              </a:defRPr>
            </a:pPr>
            <a:r>
              <a:t>내 상황에 맞게 선택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63240" y="3410712"/>
            <a:ext cx="429768" cy="256032"/>
          </a:xfrm>
          <a:prstGeom prst="rightArrow">
            <a:avLst/>
          </a:prstGeom>
          <a:solidFill>
            <a:srgbClr val="B17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719072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5D534B"/>
                </a:solidFill>
                <a:latin typeface="Noto Sans KR"/>
              </a:defRPr>
            </a:pPr>
            <a:r>
              <a:t>2 · 구매 의사에 따라 한 가지 길을 고릅니다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2103120"/>
            <a:ext cx="6537960" cy="832104"/>
          </a:xfrm>
          <a:prstGeom prst="roundRect">
            <a:avLst>
              <a:gd name="adj" fmla="val 10000"/>
            </a:avLst>
          </a:prstGeom>
          <a:solidFill>
            <a:srgbClr val="E8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904487" y="2350008"/>
            <a:ext cx="329184" cy="329184"/>
          </a:xfrm>
          <a:prstGeom prst="ellipse">
            <a:avLst/>
          </a:prstGeom>
          <a:solidFill>
            <a:srgbClr val="65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4487" y="235000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KR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258568"/>
            <a:ext cx="133502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50" b="1">
                <a:solidFill>
                  <a:srgbClr val="231F1B"/>
                </a:solidFill>
                <a:latin typeface="Noto Sans KR"/>
              </a:defRPr>
            </a:pPr>
            <a:r>
              <a:t>지금 살래요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88736" y="2395727"/>
            <a:ext cx="356616" cy="201168"/>
          </a:xfrm>
          <a:prstGeom prst="rightArrow">
            <a:avLst/>
          </a:prstGeom>
          <a:solidFill>
            <a:srgbClr val="65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91656" y="2231136"/>
            <a:ext cx="1426464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2231136"/>
            <a:ext cx="12801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50" b="1">
                <a:solidFill>
                  <a:srgbClr val="65977E"/>
                </a:solidFill>
                <a:latin typeface="Noto Sans KR"/>
              </a:defRPr>
            </a:pPr>
            <a:r>
              <a:t>오늘 가격으로</a:t>
            </a:r>
          </a:p>
          <a:p>
            <a:pPr algn="ctr">
              <a:defRPr sz="1050" b="1">
                <a:solidFill>
                  <a:srgbClr val="65977E"/>
                </a:solidFill>
                <a:latin typeface="Noto Sans KR"/>
              </a:defRPr>
            </a:pPr>
            <a:r>
              <a:t>바로 구매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982712" y="2395727"/>
            <a:ext cx="356616" cy="201168"/>
          </a:xfrm>
          <a:prstGeom prst="rightArrow">
            <a:avLst/>
          </a:prstGeom>
          <a:solidFill>
            <a:srgbClr val="65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85632" y="2231136"/>
            <a:ext cx="1527048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2231136"/>
            <a:ext cx="139903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30" b="1">
                <a:solidFill>
                  <a:srgbClr val="5D534B"/>
                </a:solidFill>
                <a:latin typeface="Noto Sans KR"/>
              </a:defRPr>
            </a:pPr>
            <a:r>
              <a:t>오늘가로</a:t>
            </a:r>
          </a:p>
          <a:p>
            <a:pPr algn="ctr">
              <a:defRPr sz="930" b="1">
                <a:solidFill>
                  <a:srgbClr val="5D534B"/>
                </a:solidFill>
                <a:latin typeface="Noto Sans KR"/>
              </a:defRPr>
            </a:pPr>
            <a:r>
              <a:t>즉시 결제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3172968"/>
            <a:ext cx="6537960" cy="832104"/>
          </a:xfrm>
          <a:prstGeom prst="roundRect">
            <a:avLst>
              <a:gd name="adj" fmla="val 10000"/>
            </a:avLst>
          </a:prstGeom>
          <a:solidFill>
            <a:srgbClr val="F6E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904487" y="3419856"/>
            <a:ext cx="329184" cy="329184"/>
          </a:xfrm>
          <a:prstGeom prst="ellipse">
            <a:avLst/>
          </a:prstGeom>
          <a:solidFill>
            <a:srgbClr val="B17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04487" y="341985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KR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3328416"/>
            <a:ext cx="133502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50" b="1">
                <a:solidFill>
                  <a:srgbClr val="231F1B"/>
                </a:solidFill>
                <a:latin typeface="Noto Sans KR"/>
              </a:defRPr>
            </a:pPr>
            <a:r>
              <a:t>가격은 좋은데</a:t>
            </a:r>
          </a:p>
          <a:p>
            <a:pPr algn="l">
              <a:defRPr sz="1250" b="1">
                <a:solidFill>
                  <a:srgbClr val="231F1B"/>
                </a:solidFill>
                <a:latin typeface="Noto Sans KR"/>
              </a:defRPr>
            </a:pPr>
            <a:r>
              <a:t>결제는 이따가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888736" y="3465576"/>
            <a:ext cx="356616" cy="201168"/>
          </a:xfrm>
          <a:prstGeom prst="rightArrow">
            <a:avLst/>
          </a:prstGeom>
          <a:solidFill>
            <a:srgbClr val="B17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91656" y="3300984"/>
            <a:ext cx="1426464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8" y="3300984"/>
            <a:ext cx="12801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50" b="1">
                <a:solidFill>
                  <a:srgbClr val="B17746"/>
                </a:solidFill>
                <a:latin typeface="Noto Sans KR"/>
              </a:defRPr>
            </a:pPr>
            <a:r>
              <a:t>오전가 1회 잠금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982712" y="3465576"/>
            <a:ext cx="356616" cy="201168"/>
          </a:xfrm>
          <a:prstGeom prst="rightArrow">
            <a:avLst/>
          </a:prstGeom>
          <a:solidFill>
            <a:srgbClr val="B17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85632" y="3300984"/>
            <a:ext cx="1527048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40" y="3300984"/>
            <a:ext cx="139903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30" b="1">
                <a:solidFill>
                  <a:srgbClr val="5D534B"/>
                </a:solidFill>
                <a:latin typeface="Noto Sans KR"/>
              </a:defRPr>
            </a:pPr>
            <a:r>
              <a:t>16:00부터 01:59까지</a:t>
            </a:r>
          </a:p>
          <a:p>
            <a:pPr algn="ctr">
              <a:defRPr sz="930" b="1">
                <a:solidFill>
                  <a:srgbClr val="5D534B"/>
                </a:solidFill>
                <a:latin typeface="Noto Sans KR"/>
              </a:defRPr>
            </a:pPr>
            <a:r>
              <a:t>잠근가 또는 더 싼가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4242816"/>
            <a:ext cx="6537960" cy="832104"/>
          </a:xfrm>
          <a:prstGeom prst="roundRect">
            <a:avLst>
              <a:gd name="adj" fmla="val 10000"/>
            </a:avLst>
          </a:prstGeom>
          <a:solidFill>
            <a:srgbClr val="FB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904487" y="4489704"/>
            <a:ext cx="329184" cy="329184"/>
          </a:xfrm>
          <a:prstGeom prst="ellipse">
            <a:avLst/>
          </a:prstGeom>
          <a:solidFill>
            <a:srgbClr val="845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04487" y="448970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KR"/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408" y="4398264"/>
            <a:ext cx="133502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50" b="1">
                <a:solidFill>
                  <a:srgbClr val="231F1B"/>
                </a:solidFill>
                <a:latin typeface="Noto Sans KR"/>
              </a:defRPr>
            </a:pPr>
            <a:r>
              <a:t>더 낮아지면</a:t>
            </a:r>
          </a:p>
          <a:p>
            <a:pPr algn="l">
              <a:defRPr sz="1250" b="1">
                <a:solidFill>
                  <a:srgbClr val="231F1B"/>
                </a:solidFill>
                <a:latin typeface="Noto Sans KR"/>
              </a:defRPr>
            </a:pPr>
            <a:r>
              <a:t>살래요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5888736" y="4535424"/>
            <a:ext cx="356616" cy="201168"/>
          </a:xfrm>
          <a:prstGeom prst="rightArrow">
            <a:avLst/>
          </a:prstGeom>
          <a:solidFill>
            <a:srgbClr val="845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91656" y="4370831"/>
            <a:ext cx="1426464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4808" y="4370831"/>
            <a:ext cx="12801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50" b="1">
                <a:solidFill>
                  <a:srgbClr val="845530"/>
                </a:solidFill>
                <a:latin typeface="Noto Sans KR"/>
              </a:defRPr>
            </a:pPr>
            <a:r>
              <a:t>내일 가격 예측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7982712" y="4535424"/>
            <a:ext cx="356616" cy="201168"/>
          </a:xfrm>
          <a:prstGeom prst="rightArrow">
            <a:avLst/>
          </a:prstGeom>
          <a:solidFill>
            <a:srgbClr val="845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485632" y="4370831"/>
            <a:ext cx="1527048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9640" y="4370831"/>
            <a:ext cx="139903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30" b="1">
                <a:solidFill>
                  <a:srgbClr val="5D534B"/>
                </a:solidFill>
                <a:latin typeface="Noto Sans KR"/>
              </a:defRPr>
            </a:pPr>
            <a:r>
              <a:t>적중 시 쿠폰으로</a:t>
            </a:r>
          </a:p>
          <a:p>
            <a:pPr algn="ctr">
              <a:defRPr sz="930" b="1">
                <a:solidFill>
                  <a:srgbClr val="5D534B"/>
                </a:solidFill>
                <a:latin typeface="Noto Sans KR"/>
              </a:defRPr>
            </a:pPr>
            <a:r>
              <a:t>다음 방문·구매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33888" y="171907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845530"/>
                </a:solidFill>
                <a:latin typeface="Noto Sans KR"/>
              </a:defRPr>
            </a:pPr>
            <a:r>
              <a:t>3 · 자사몰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42448" y="2103120"/>
            <a:ext cx="914400" cy="2971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ED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79608" y="3035808"/>
            <a:ext cx="6400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978F86"/>
                </a:solidFill>
                <a:latin typeface="Noto Sans KR"/>
              </a:defRPr>
            </a:pPr>
            <a:r>
              <a:t>실제</a:t>
            </a:r>
          </a:p>
          <a:p>
            <a:pPr algn="ctr">
              <a:defRPr sz="1000" b="1">
                <a:solidFill>
                  <a:srgbClr val="978F86"/>
                </a:solidFill>
                <a:latin typeface="Noto Sans KR"/>
              </a:defRPr>
            </a:pPr>
            <a:r>
              <a:t>구매 화면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552176" y="4261104"/>
            <a:ext cx="694944" cy="320040"/>
          </a:xfrm>
          <a:prstGeom prst="roundRect">
            <a:avLst>
              <a:gd name="adj" fmla="val 10000"/>
            </a:avLst>
          </a:prstGeom>
          <a:solidFill>
            <a:srgbClr val="B17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52176" y="4261104"/>
            <a:ext cx="69494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KR"/>
              </a:defRPr>
            </a:pPr>
            <a:r>
              <a:t>결제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10076688" y="2487168"/>
            <a:ext cx="274320" cy="182880"/>
          </a:xfrm>
          <a:prstGeom prst="rightArrow">
            <a:avLst/>
          </a:prstGeom>
          <a:solidFill>
            <a:srgbClr val="659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ight Arrow 46"/>
          <p:cNvSpPr/>
          <p:nvPr/>
        </p:nvSpPr>
        <p:spPr>
          <a:xfrm>
            <a:off x="10076688" y="3557016"/>
            <a:ext cx="274320" cy="182880"/>
          </a:xfrm>
          <a:prstGeom prst="rightArrow">
            <a:avLst/>
          </a:prstGeom>
          <a:solidFill>
            <a:srgbClr val="B17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ight Arrow 47"/>
          <p:cNvSpPr/>
          <p:nvPr/>
        </p:nvSpPr>
        <p:spPr>
          <a:xfrm>
            <a:off x="10076688" y="4626864"/>
            <a:ext cx="274320" cy="182880"/>
          </a:xfrm>
          <a:prstGeom prst="rightArrow">
            <a:avLst/>
          </a:prstGeom>
          <a:solidFill>
            <a:srgbClr val="845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22960" y="5724144"/>
            <a:ext cx="10543032" cy="475488"/>
          </a:xfrm>
          <a:prstGeom prst="roundRect">
            <a:avLst>
              <a:gd name="adj" fmla="val 10000"/>
            </a:avLst>
          </a:prstGeom>
          <a:solidFill>
            <a:srgbClr val="FB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60704" y="5861304"/>
            <a:ext cx="155448" cy="155448"/>
          </a:xfrm>
          <a:prstGeom prst="ellipse">
            <a:avLst/>
          </a:prstGeom>
          <a:solidFill>
            <a:srgbClr val="B17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53312" y="5797296"/>
            <a:ext cx="96926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019" b="1">
                <a:solidFill>
                  <a:srgbClr val="5D534B"/>
                </a:solidFill>
                <a:latin typeface="Noto Sans KR"/>
              </a:defRPr>
            </a:pPr>
            <a:r>
              <a:t>5월 자사몰: 오전 8~10시 로그인 25.6% · 결제금액 8.0%  →  저녁 20~24시 로그인 20.0% · 결제금액 28.4%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63240" y="6336792"/>
            <a:ext cx="83027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300" b="1">
                <a:solidFill>
                  <a:srgbClr val="845530"/>
                </a:solidFill>
                <a:latin typeface="Noto Sans KR"/>
              </a:defRPr>
            </a:pPr>
            <a:r>
              <a:t>가격 잠금은 아침의 관심을 저녁의 결제로 잇고, 예측은 다음 날 다시 찾게 합니다.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6565392"/>
            <a:ext cx="9509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0">
                <a:solidFill>
                  <a:srgbClr val="978F86"/>
                </a:solidFill>
                <a:latin typeface="Noto Sans KR"/>
              </a:defRPr>
            </a:pPr>
            <a:r>
              <a:t>출처: 막지 자사몰 5월 시간별 분석(로그인 90회 · 결제금액 기준, 단일상품 막지 ZERO 카스테라) · 가격 잠금 운영 규칙: 브레드마켓 PRD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49840" y="6565392"/>
            <a:ext cx="12161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50" b="0">
                <a:solidFill>
                  <a:srgbClr val="978F86"/>
                </a:solidFill>
                <a:latin typeface="Noto Sans KR"/>
              </a:defRPr>
            </a:pPr>
            <a:r>
              <a:t>07 / 18</a:t>
            </a:r>
          </a:p>
        </p:txBody>
      </p:sp>
    </p:spTree>
    <p:extLst>
      <p:ext uri="{BB962C8B-B14F-4D97-AF65-F5344CB8AC3E}">
        <p14:creationId xmlns:p14="http://schemas.microsoft.com/office/powerpoint/2010/main" val="833314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사용자 여정 — 구매 의사별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CA3AF"/>
                </a:solidFill>
                <a:latin typeface="Noto Sans KR"/>
              </a:rPr>
              <a:t>07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65966"/>
            <a:ext cx="10543032" cy="914400"/>
          </a:xfrm>
          <a:prstGeom prst="roundRect">
            <a:avLst>
              <a:gd name="adj" fmla="val 1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60120" y="1175694"/>
            <a:ext cx="3520440" cy="694944"/>
          </a:xfrm>
          <a:prstGeom prst="roundRect">
            <a:avLst>
              <a:gd name="adj" fmla="val 18421"/>
            </a:avLst>
          </a:prstGeom>
          <a:solidFill>
            <a:srgbClr val="E6FAF3"/>
          </a:solidFill>
          <a:ln w="15875">
            <a:solidFill>
              <a:srgbClr val="20C9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1175694"/>
            <a:ext cx="32004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87F5B"/>
                </a:solidFill>
                <a:latin typeface="Noto Sans KR"/>
              </a:rPr>
              <a:t>즉시 구매형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>
                <a:solidFill>
                  <a:srgbClr val="087F5B"/>
                </a:solidFill>
                <a:latin typeface="Noto Sans KR"/>
              </a:rPr>
              <a:t>이 가격 완벽해!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065966"/>
            <a:ext cx="4572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065966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111827"/>
                </a:solidFill>
                <a:latin typeface="Noto Sans KR"/>
              </a:rPr>
              <a:t>오늘 가격으로 즉시 구매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065966"/>
            <a:ext cx="4572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1221414"/>
            <a:ext cx="2606040" cy="603504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41080" y="1221414"/>
            <a:ext cx="26060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FFFFFF"/>
                </a:solidFill>
                <a:latin typeface="Noto Sans KR"/>
              </a:rPr>
              <a:t>오늘가로 즉시 결제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사용자 여정 — 구매 의사별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CA3AF"/>
                </a:solidFill>
                <a:latin typeface="Noto Sans KR"/>
              </a:rPr>
              <a:t>07 / 16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1069539"/>
            <a:ext cx="10543032" cy="914400"/>
          </a:xfrm>
          <a:prstGeom prst="roundRect">
            <a:avLst>
              <a:gd name="adj" fmla="val 1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60120" y="1179266"/>
            <a:ext cx="3520440" cy="694944"/>
          </a:xfrm>
          <a:prstGeom prst="roundRect">
            <a:avLst>
              <a:gd name="adj" fmla="val 18421"/>
            </a:avLst>
          </a:prstGeom>
          <a:solidFill>
            <a:srgbClr val="FFF1E0"/>
          </a:solidFill>
          <a:ln w="15875">
            <a:solidFill>
              <a:srgbClr val="FF9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1179266"/>
            <a:ext cx="32004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B8470D"/>
                </a:solidFill>
                <a:latin typeface="Noto Sans KR"/>
              </a:rPr>
              <a:t>가격 확보형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>
                <a:solidFill>
                  <a:srgbClr val="B8470D"/>
                </a:solidFill>
                <a:latin typeface="Noto Sans KR"/>
              </a:rPr>
              <a:t>가격은 좋은데 결제는 이따가!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1069539"/>
            <a:ext cx="4572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1069539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111827"/>
                </a:solidFill>
                <a:latin typeface="Noto Sans KR"/>
              </a:rPr>
              <a:t>오전가 잠금 후 이따가 구매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1069539"/>
            <a:ext cx="4572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1224987"/>
            <a:ext cx="2606040" cy="603504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1224987"/>
            <a:ext cx="26060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FFFFFF"/>
                </a:solidFill>
                <a:latin typeface="Noto Sans KR"/>
              </a:rPr>
              <a:t>잠근 가격으로 안심 결제</a:t>
            </a:r>
          </a:p>
        </p:txBody>
      </p:sp>
    </p:spTree>
    <p:extLst>
      <p:ext uri="{BB962C8B-B14F-4D97-AF65-F5344CB8AC3E}">
        <p14:creationId xmlns:p14="http://schemas.microsoft.com/office/powerpoint/2010/main" val="833314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사용자 여정 — 구매 의사별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CA3AF"/>
                </a:solidFill>
                <a:latin typeface="Noto Sans KR"/>
              </a:rPr>
              <a:t>07 / 16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1083419"/>
            <a:ext cx="10543032" cy="914400"/>
          </a:xfrm>
          <a:prstGeom prst="roundRect">
            <a:avLst>
              <a:gd name="adj" fmla="val 16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60120" y="1193147"/>
            <a:ext cx="3520440" cy="694944"/>
          </a:xfrm>
          <a:prstGeom prst="roundRect">
            <a:avLst>
              <a:gd name="adj" fmla="val 18421"/>
            </a:avLst>
          </a:prstGeom>
          <a:solidFill>
            <a:srgbClr val="E6F3FF"/>
          </a:solidFill>
          <a:ln w="15875">
            <a:solidFill>
              <a:srgbClr val="339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1193147"/>
            <a:ext cx="320040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864AB"/>
                </a:solidFill>
                <a:latin typeface="Noto Sans KR"/>
              </a:rPr>
              <a:t>관망·기대형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0">
                <a:solidFill>
                  <a:srgbClr val="1864AB"/>
                </a:solidFill>
                <a:latin typeface="Noto Sans KR"/>
              </a:rPr>
              <a:t>오후장에 더 싸지면 살래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1083419"/>
            <a:ext cx="4572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1083419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>
                <a:solidFill>
                  <a:srgbClr val="111827"/>
                </a:solidFill>
                <a:latin typeface="Noto Sans KR"/>
              </a:rPr>
              <a:t>내일 가격 예측 참여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1083419"/>
            <a:ext cx="4572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41080" y="1238867"/>
            <a:ext cx="2606040" cy="603504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41080" y="1238867"/>
            <a:ext cx="26060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FFFFFF"/>
                </a:solidFill>
                <a:latin typeface="Noto Sans KR"/>
              </a:rPr>
              <a:t>쿠폰 적용해 최적가 결제</a:t>
            </a:r>
          </a:p>
        </p:txBody>
      </p:sp>
    </p:spTree>
    <p:extLst>
      <p:ext uri="{BB962C8B-B14F-4D97-AF65-F5344CB8AC3E}">
        <p14:creationId xmlns:p14="http://schemas.microsoft.com/office/powerpoint/2010/main" val="833314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가격 결정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이 모든 것이 통하려면 가격을 믿을 수 있어야 합니다 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그래서 가격은 공개된 산식으로만 움직입니다.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88736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0" y="6007608"/>
            <a:ext cx="8622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산식은 공개하고 상한은 38% — 그렇다면 실제 할인은 얼마나 될까요?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CA3AF"/>
                </a:solidFill>
                <a:latin typeface="Noto Sans KR"/>
              </a:rPr>
              <a:t>08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84831"/>
            <a:ext cx="4347210" cy="548640"/>
          </a:xfrm>
          <a:prstGeom prst="roundRect">
            <a:avLst>
              <a:gd name="adj" fmla="val 20000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84831"/>
            <a:ext cx="407289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Noto Sans KR"/>
              </a:rPr>
              <a:t>오전장  06:00 ~ 15:59</a:t>
            </a:r>
            <a:r>
              <a:rPr sz="1050" b="0">
                <a:solidFill>
                  <a:srgbClr val="E6EEF7"/>
                </a:solidFill>
                <a:latin typeface="Noto Sans KR"/>
              </a:rPr>
              <a:t>   전일 종가 기준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5890" y="2084831"/>
            <a:ext cx="4347210" cy="548640"/>
          </a:xfrm>
          <a:prstGeom prst="roundRect">
            <a:avLst>
              <a:gd name="adj" fmla="val 20000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98770" y="2084831"/>
            <a:ext cx="407289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Noto Sans KR"/>
              </a:rPr>
              <a:t>오후장  16:00 ~ 익일 01:59</a:t>
            </a:r>
            <a:r>
              <a:rPr sz="1050" b="0">
                <a:solidFill>
                  <a:srgbClr val="E6EEF7"/>
                </a:solidFill>
                <a:latin typeface="Noto Sans KR"/>
              </a:rPr>
              <a:t>   당일 시가 기준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8820" y="2084831"/>
            <a:ext cx="1711451" cy="548640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91699" y="2084831"/>
            <a:ext cx="1437131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4B5563"/>
                </a:solidFill>
                <a:latin typeface="Noto Sans KR"/>
              </a:rPr>
              <a:t>정가  02:00~05:59</a:t>
            </a:r>
            <a:r>
              <a:rPr sz="1050" b="0">
                <a:solidFill>
                  <a:srgbClr val="4B5563"/>
                </a:solidFill>
                <a:latin typeface="Noto Sans KR"/>
              </a:rPr>
              <a:t>  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816352"/>
            <a:ext cx="10543032" cy="1325880"/>
          </a:xfrm>
          <a:prstGeom prst="roundRect">
            <a:avLst>
              <a:gd name="adj" fmla="val 11034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926080"/>
            <a:ext cx="10543032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600" b="1">
                <a:solidFill>
                  <a:srgbClr val="111827"/>
                </a:solidFill>
                <a:latin typeface="Noto Sans KR"/>
              </a:rPr>
              <a:t>총 할인율  =  </a:t>
            </a:r>
            <a:r>
              <a:rPr sz="2600" b="1">
                <a:solidFill>
                  <a:srgbClr val="2F6FAD"/>
                </a:solidFill>
                <a:latin typeface="Noto Sans KR"/>
              </a:rPr>
              <a:t>검색 할인</a:t>
            </a:r>
            <a:r>
              <a:rPr sz="2600" b="1">
                <a:solidFill>
                  <a:srgbClr val="9CA3AF"/>
                </a:solidFill>
                <a:latin typeface="Noto Sans KR"/>
              </a:rPr>
              <a:t>  +  </a:t>
            </a:r>
            <a:r>
              <a:rPr sz="2600" b="1">
                <a:solidFill>
                  <a:srgbClr val="FF7A45"/>
                </a:solidFill>
                <a:latin typeface="Noto Sans KR"/>
              </a:rPr>
              <a:t>환율 조정</a:t>
            </a:r>
            <a:r>
              <a:rPr sz="1600" b="1">
                <a:solidFill>
                  <a:srgbClr val="9CA3AF"/>
                </a:solidFill>
                <a:latin typeface="Noto Sans KR"/>
              </a:rPr>
              <a:t>     (0% ~ 38%)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11880"/>
            <a:ext cx="105430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0">
                <a:solidFill>
                  <a:srgbClr val="4B5563"/>
                </a:solidFill>
                <a:latin typeface="Noto Sans KR"/>
              </a:rPr>
              <a:t>검색지수 × 0.15 (최대 15%)   ·   환율 하락은 ×14 전부 환원, 상승은 ×7 절반만 반영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325112"/>
            <a:ext cx="10543032" cy="1389888"/>
          </a:xfrm>
          <a:prstGeom prst="roundRect">
            <a:avLst>
              <a:gd name="adj" fmla="val 10526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43484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예시 · 막지 제로 모닝롤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3659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정가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010912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4B5563"/>
                </a:solidFill>
                <a:latin typeface="Noto Sans KR"/>
              </a:rPr>
              <a:t>4,500원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9377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73659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평균 할인 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5010912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2F6FAD"/>
                </a:solidFill>
                <a:latin typeface="Noto Sans KR"/>
              </a:rPr>
              <a:t>3,830원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9377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4087C7"/>
                </a:solidFill>
                <a:latin typeface="Noto Sans KR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736592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최대 할인 38%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5010912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>
                <a:solidFill>
                  <a:srgbClr val="FF7A45"/>
                </a:solidFill>
                <a:latin typeface="Noto Sans KR"/>
              </a:rPr>
              <a:t>2,790원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할인율 분포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실제로 돌려 보니 평균 할인은 15%,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세션의 84%가 20% 미만이었습니다.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88736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0" y="6007608"/>
            <a:ext cx="8622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대부분 얕은 할인 — 그렇다면 마진은 버틸까요?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9CA3AF"/>
                </a:solidFill>
                <a:latin typeface="Noto Sans KR"/>
              </a:rPr>
              <a:t>실제 가격 엔진(v1.0)에 한국은행 ECOS 원/달러 시가·종가와 일별 검색지수를 넣은 재현값 (2026.06.12~09.10, 하루 2세션 × 91일) · 25% 이상 7세션 중 6세션은 상한 38% · 검색지수는 6종 합산 단일 시계열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CA3AF"/>
                </a:solidFill>
                <a:latin typeface="Noto Sans KR"/>
              </a:rPr>
              <a:t>09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10543032" cy="3767328"/>
          </a:xfrm>
          <a:prstGeom prst="roundRect">
            <a:avLst>
              <a:gd name="adj" fmla="val 3883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087C7"/>
                </a:solidFill>
                <a:latin typeface="Noto Sans KR"/>
              </a:rPr>
              <a:t>■ 오전장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10312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FF7A45"/>
                </a:solidFill>
                <a:latin typeface="Noto Sans KR"/>
              </a:rPr>
              <a:t>■ 오후장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01168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9CA3AF"/>
                </a:solidFill>
                <a:latin typeface="Noto Sans KR"/>
              </a:rPr>
              <a:t>평균 </a:t>
            </a:r>
            <a:r>
              <a:rPr sz="2600" b="1">
                <a:solidFill>
                  <a:srgbClr val="2F6FAD"/>
                </a:solidFill>
                <a:latin typeface="Noto Sans KR"/>
              </a:rPr>
              <a:t>15.0%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487168"/>
            <a:ext cx="3794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>
                <a:solidFill>
                  <a:srgbClr val="9CA3AF"/>
                </a:solidFill>
                <a:latin typeface="Noto Sans KR"/>
              </a:rPr>
              <a:t>오전장 15.8% · 오후장 14.2%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4986528"/>
            <a:ext cx="502920" cy="42672"/>
          </a:xfrm>
          <a:prstGeom prst="roundRect">
            <a:avLst>
              <a:gd name="adj" fmla="val 50000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39" y="4712208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92807" y="4986528"/>
            <a:ext cx="502920" cy="42672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01367" y="4712208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120640"/>
            <a:ext cx="1783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5% 미만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376672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9CA3AF"/>
                </a:solidFill>
                <a:latin typeface="Noto Sans KR"/>
              </a:rPr>
              <a:t>1.1%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4645152"/>
            <a:ext cx="502920" cy="384048"/>
          </a:xfrm>
          <a:prstGeom prst="roundRect">
            <a:avLst>
              <a:gd name="adj" fmla="val 9523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80360" y="4370832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38728" y="4261104"/>
            <a:ext cx="502920" cy="768096"/>
          </a:xfrm>
          <a:prstGeom prst="roundRect">
            <a:avLst>
              <a:gd name="adj" fmla="val 7272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47288" y="398678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5120640"/>
            <a:ext cx="1783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5~10%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5376672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9CA3AF"/>
                </a:solidFill>
                <a:latin typeface="Noto Sans KR"/>
              </a:rPr>
              <a:t>14.8%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17720" y="3450336"/>
            <a:ext cx="502920" cy="1578864"/>
          </a:xfrm>
          <a:prstGeom prst="roundRect">
            <a:avLst>
              <a:gd name="adj" fmla="val 7272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26280" y="3176016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37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84648" y="3322320"/>
            <a:ext cx="502920" cy="1706880"/>
          </a:xfrm>
          <a:prstGeom prst="roundRect">
            <a:avLst>
              <a:gd name="adj" fmla="val 7272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93208" y="3048000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5120640"/>
            <a:ext cx="1783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10~15%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5376672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9CA3AF"/>
                </a:solidFill>
                <a:latin typeface="Noto Sans KR"/>
              </a:rPr>
              <a:t>42.3%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962399"/>
            <a:ext cx="502920" cy="1066800"/>
          </a:xfrm>
          <a:prstGeom prst="roundRect">
            <a:avLst>
              <a:gd name="adj" fmla="val 7272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72200" y="3688080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30568" y="4090416"/>
            <a:ext cx="502920" cy="938784"/>
          </a:xfrm>
          <a:prstGeom prst="roundRect">
            <a:avLst>
              <a:gd name="adj" fmla="val 7272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39128" y="3816096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5120640"/>
            <a:ext cx="1783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15~20%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5376672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9CA3AF"/>
                </a:solidFill>
                <a:latin typeface="Noto Sans KR"/>
              </a:rPr>
              <a:t>25.8%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09560" y="4431792"/>
            <a:ext cx="502920" cy="597408"/>
          </a:xfrm>
          <a:prstGeom prst="roundRect">
            <a:avLst>
              <a:gd name="adj" fmla="val 7272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18120" y="4157472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14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76488" y="4687824"/>
            <a:ext cx="502920" cy="341376"/>
          </a:xfrm>
          <a:prstGeom prst="roundRect">
            <a:avLst>
              <a:gd name="adj" fmla="val 10714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85048" y="4413504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80" y="5120640"/>
            <a:ext cx="1783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20~25%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6680" y="5376672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9CA3AF"/>
                </a:solidFill>
                <a:latin typeface="Noto Sans KR"/>
              </a:rPr>
              <a:t>12.1%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55480" y="4815840"/>
            <a:ext cx="502920" cy="213360"/>
          </a:xfrm>
          <a:prstGeom prst="roundRect">
            <a:avLst>
              <a:gd name="adj" fmla="val 17142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464040" y="4541520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22407" y="4943856"/>
            <a:ext cx="502920" cy="85344"/>
          </a:xfrm>
          <a:prstGeom prst="roundRect">
            <a:avLst>
              <a:gd name="adj" fmla="val 42857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030967" y="4669536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72600" y="5120640"/>
            <a:ext cx="1783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11827"/>
                </a:solidFill>
                <a:latin typeface="Noto Sans KR"/>
              </a:rPr>
              <a:t>25% 이상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5376672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9CA3AF"/>
                </a:solidFill>
                <a:latin typeface="Noto Sans KR"/>
              </a:rPr>
              <a:t>3.8%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097280" y="5029200"/>
            <a:ext cx="9994392" cy="0"/>
          </a:xfrm>
          <a:prstGeom prst="line">
            <a:avLst/>
          </a:prstGeom>
          <a:ln w="190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234440" y="3127248"/>
            <a:ext cx="6099048" cy="0"/>
          </a:xfrm>
          <a:prstGeom prst="line">
            <a:avLst/>
          </a:prstGeom>
          <a:ln w="19050">
            <a:solidFill>
              <a:srgbClr val="4087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234440" y="2816352"/>
            <a:ext cx="6099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2F6FAD"/>
                </a:solidFill>
                <a:latin typeface="Noto Sans KR"/>
              </a:rPr>
              <a:t>84%  (153 / 182 세션)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MVP 범위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그래서 시작은 간단하게 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두 전략을 검증하는 기능만 담습니다.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88736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0" y="6007608"/>
            <a:ext cx="8622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구현 2~3주 · 검증 9/28~9/30 — 상품 수만 확정되면 바로 착수합니다.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CA3AF"/>
                </a:solidFill>
                <a:latin typeface="Noto Sans KR"/>
              </a:rPr>
              <a:t>11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57400"/>
            <a:ext cx="5760720" cy="36576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2128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2F6FAD"/>
                </a:solidFill>
                <a:latin typeface="Noto Sans KR"/>
              </a:rPr>
              <a:t>포함 (Must)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822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전략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60604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오전장·오후장 가격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822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C2410C"/>
                </a:solidFill>
                <a:latin typeface="Noto Sans KR"/>
              </a:rPr>
              <a:t>전략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310896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가격 잠금 (오전장 하루 1회)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11880"/>
            <a:ext cx="822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C2410C"/>
                </a:solidFill>
                <a:latin typeface="Noto Sans KR"/>
              </a:rPr>
              <a:t>전략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361188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오늘의 보상 고르기 (안정형 / 공격형)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114800"/>
            <a:ext cx="822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4B5563"/>
                </a:solidFill>
                <a:latin typeface="Noto Sans KR"/>
              </a:rPr>
              <a:t>전환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11480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자사몰 이동·구매 (원클릭 지향)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617720"/>
            <a:ext cx="822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4B5563"/>
                </a:solidFill>
                <a:latin typeface="Noto Sans KR"/>
              </a:rPr>
              <a:t>신뢰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461772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‘투자가 아닙니다’ 안내 · 가격 근거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120640"/>
            <a:ext cx="822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4B5563"/>
                </a:solidFill>
                <a:latin typeface="Noto Sans KR"/>
              </a:rPr>
              <a:t>안전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512064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38% 상한 가드레일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2057400"/>
            <a:ext cx="4553712" cy="36576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86600" y="221284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4B5563"/>
                </a:solidFill>
                <a:latin typeface="Noto Sans KR"/>
              </a:rPr>
              <a:t>이번 범위 제외 · 여력 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60604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여력 시 · 가격 하락 이메일 알림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10896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4B5563"/>
                </a:solidFill>
                <a:latin typeface="Noto Sans KR"/>
              </a:rPr>
              <a:t>도감·씰 수집 콘텐츠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6118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4B5563"/>
                </a:solidFill>
                <a:latin typeface="Noto Sans KR"/>
              </a:rPr>
              <a:t>매수가 기준 보상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11480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4B5563"/>
                </a:solidFill>
                <a:latin typeface="Noto Sans KR"/>
              </a:rPr>
              <a:t>막지스톡 안에서의 결제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61772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4B5563"/>
                </a:solidFill>
                <a:latin typeface="Noto Sans KR"/>
              </a:rPr>
              <a:t>막지스톡 자체 로그인·회원가입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무엇으로 성공을 판단할까요 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서비스 목표와 같은 순서로 측정합니다.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88736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0" y="6007608"/>
            <a:ext cx="8622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목표값은 근거 없이 만들지 않고, 베타 1주차 실측 후 확정합니다.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9CA3AF"/>
                </a:solidFill>
                <a:latin typeface="Noto Sans KR"/>
              </a:rPr>
              <a:t>GUARDRAIL(하나라도 초과 시 롤아웃 중단): 총혜택 상한 위반 0 · 사행성 문구 0 · 표시·결제가 불일치 0 · 가격 계산 오류율 ≤ 0.1% · 쿠폰 중복 적용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CA3AF"/>
                </a:solidFill>
                <a:latin typeface="Noto Sans KR"/>
              </a:rPr>
              <a:t>12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10543032" cy="1143000"/>
          </a:xfrm>
          <a:prstGeom prst="roundRect">
            <a:avLst>
              <a:gd name="adj" fmla="val 12800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15798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DCEAF7"/>
                </a:solidFill>
                <a:latin typeface="Noto Sans KR"/>
              </a:rPr>
              <a:t>북극성 KPI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50592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FFFFFF"/>
                </a:solidFill>
                <a:latin typeface="Noto Sans KR"/>
              </a:rPr>
              <a:t>STOCK → 자사몰 전환율</a:t>
            </a:r>
            <a:r>
              <a:rPr sz="1300" b="0">
                <a:solidFill>
                  <a:srgbClr val="DCEAF7"/>
                </a:solidFill>
                <a:latin typeface="Noto Sans KR"/>
              </a:rPr>
              <a:t>      현재 미측정 · 베타 1주차에 기준선 확보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401568"/>
            <a:ext cx="10543032" cy="658368"/>
          </a:xfrm>
          <a:prstGeom prst="roundRect">
            <a:avLst>
              <a:gd name="adj" fmla="val 22222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5840" y="3538728"/>
            <a:ext cx="1325880" cy="384048"/>
          </a:xfrm>
          <a:prstGeom prst="roundRect">
            <a:avLst>
              <a:gd name="adj" fmla="val 42857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538728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1순위 유입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401568"/>
            <a:ext cx="63093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>
                <a:solidFill>
                  <a:srgbClr val="111827"/>
                </a:solidFill>
                <a:latin typeface="Noto Sans KR"/>
              </a:rPr>
              <a:t>방문자 수 · 신규 가입 · 자사몰 구매 이동률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401568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4B5563"/>
                </a:solidFill>
                <a:latin typeface="Noto Sans KR"/>
              </a:rPr>
              <a:t>신규가입 5월 40건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87952"/>
            <a:ext cx="10543032" cy="658368"/>
          </a:xfrm>
          <a:prstGeom prst="roundRect">
            <a:avLst>
              <a:gd name="adj" fmla="val 22222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5840" y="4325112"/>
            <a:ext cx="1325880" cy="384048"/>
          </a:xfrm>
          <a:prstGeom prst="roundRect">
            <a:avLst>
              <a:gd name="adj" fmla="val 42857"/>
            </a:avLst>
          </a:prstGeom>
          <a:solidFill>
            <a:srgbClr val="FFF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325112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7A5B00"/>
                </a:solidFill>
                <a:latin typeface="Noto Sans KR"/>
              </a:rPr>
              <a:t>2순위 체류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187952"/>
            <a:ext cx="63093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>
                <a:solidFill>
                  <a:srgbClr val="111827"/>
                </a:solidFill>
                <a:latin typeface="Noto Sans KR"/>
              </a:rPr>
              <a:t>익일 재방문율 · 체류시간 · 가격 잠금 사용률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187952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4B5563"/>
                </a:solidFill>
                <a:latin typeface="Noto Sans KR"/>
              </a:rPr>
              <a:t>미측정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974336"/>
            <a:ext cx="10543032" cy="658368"/>
          </a:xfrm>
          <a:prstGeom prst="roundRect">
            <a:avLst>
              <a:gd name="adj" fmla="val 22222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05840" y="5111496"/>
            <a:ext cx="1325880" cy="384048"/>
          </a:xfrm>
          <a:prstGeom prst="roundRect">
            <a:avLst>
              <a:gd name="adj" fmla="val 42857"/>
            </a:avLst>
          </a:prstGeom>
          <a:solidFill>
            <a:srgbClr val="FF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5111496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B6451B"/>
                </a:solidFill>
                <a:latin typeface="Noto Sans KR"/>
              </a:rPr>
              <a:t>2순위 전환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4974336"/>
            <a:ext cx="630936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>
                <a:solidFill>
                  <a:srgbClr val="111827"/>
                </a:solidFill>
                <a:latin typeface="Noto Sans KR"/>
              </a:rPr>
              <a:t>STOCK→자사몰 전환율 · 쿠폰 사용률 · 결제 완결률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974336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4B5563"/>
                </a:solidFill>
                <a:latin typeface="Noto Sans KR"/>
              </a:rPr>
              <a:t>결제 완결률 73.5%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매출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dirty="0" err="1">
                <a:solidFill>
                  <a:srgbClr val="111827"/>
                </a:solidFill>
                <a:latin typeface="Noto Sans KR"/>
              </a:rPr>
              <a:t>지표가</a:t>
            </a:r>
            <a:r>
              <a:rPr sz="2700" b="1" dirty="0">
                <a:solidFill>
                  <a:srgbClr val="111827"/>
                </a:solidFill>
                <a:latin typeface="Noto Sans KR"/>
              </a:rPr>
              <a:t> </a:t>
            </a:r>
            <a:r>
              <a:rPr sz="2700" b="1" dirty="0" err="1">
                <a:solidFill>
                  <a:srgbClr val="111827"/>
                </a:solidFill>
                <a:latin typeface="Noto Sans KR"/>
              </a:rPr>
              <a:t>달성되면</a:t>
            </a:r>
            <a:r>
              <a:rPr sz="2700" b="1" dirty="0">
                <a:solidFill>
                  <a:srgbClr val="111827"/>
                </a:solidFill>
                <a:latin typeface="Noto Sans KR"/>
              </a:rPr>
              <a:t> </a:t>
            </a:r>
            <a:r>
              <a:rPr sz="2700" b="1" dirty="0" err="1">
                <a:solidFill>
                  <a:srgbClr val="111827"/>
                </a:solidFill>
                <a:latin typeface="Noto Sans KR"/>
              </a:rPr>
              <a:t>매출은</a:t>
            </a:r>
            <a:r>
              <a:rPr sz="2700" b="1" dirty="0">
                <a:solidFill>
                  <a:srgbClr val="111827"/>
                </a:solidFill>
                <a:latin typeface="Noto Sans KR"/>
              </a:rPr>
              <a:t> </a:t>
            </a:r>
            <a:r>
              <a:rPr sz="2700" b="1" dirty="0" err="1">
                <a:solidFill>
                  <a:srgbClr val="111827"/>
                </a:solidFill>
                <a:latin typeface="Noto Sans KR"/>
              </a:rPr>
              <a:t>이렇게</a:t>
            </a:r>
            <a:r>
              <a:rPr sz="2700" b="1" dirty="0">
                <a:solidFill>
                  <a:srgbClr val="111827"/>
                </a:solidFill>
                <a:latin typeface="Noto Sans KR"/>
              </a:rPr>
              <a:t> </a:t>
            </a:r>
            <a:r>
              <a:rPr sz="2700" b="1" dirty="0" err="1">
                <a:solidFill>
                  <a:srgbClr val="111827"/>
                </a:solidFill>
                <a:latin typeface="Noto Sans KR"/>
              </a:rPr>
              <a:t>그려집니다</a:t>
            </a:r>
            <a:r>
              <a:rPr sz="2700" b="1" dirty="0">
                <a:solidFill>
                  <a:srgbClr val="111827"/>
                </a:solidFill>
                <a:latin typeface="Noto Sans KR"/>
              </a:rPr>
              <a:t> 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 dirty="0" err="1">
                <a:solidFill>
                  <a:srgbClr val="111827"/>
                </a:solidFill>
                <a:latin typeface="Noto Sans KR"/>
              </a:rPr>
              <a:t>점유율만</a:t>
            </a:r>
            <a:r>
              <a:rPr sz="2700" b="1" dirty="0">
                <a:solidFill>
                  <a:srgbClr val="111827"/>
                </a:solidFill>
                <a:latin typeface="Noto Sans KR"/>
              </a:rPr>
              <a:t> </a:t>
            </a:r>
            <a:r>
              <a:rPr sz="2700" b="1" dirty="0" err="1">
                <a:solidFill>
                  <a:srgbClr val="111827"/>
                </a:solidFill>
                <a:latin typeface="Noto Sans KR"/>
              </a:rPr>
              <a:t>넓힌</a:t>
            </a:r>
            <a:r>
              <a:rPr sz="2700" b="1" dirty="0">
                <a:solidFill>
                  <a:srgbClr val="111827"/>
                </a:solidFill>
                <a:latin typeface="Noto Sans KR"/>
              </a:rPr>
              <a:t> 5개년 </a:t>
            </a:r>
            <a:r>
              <a:rPr sz="2700" b="1" dirty="0" err="1">
                <a:solidFill>
                  <a:srgbClr val="111827"/>
                </a:solidFill>
                <a:latin typeface="Noto Sans KR"/>
              </a:rPr>
              <a:t>시나리오</a:t>
            </a:r>
            <a:r>
              <a:rPr sz="2700" b="1" dirty="0">
                <a:solidFill>
                  <a:srgbClr val="111827"/>
                </a:solidFill>
                <a:latin typeface="Noto Sans KR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88736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0" y="6007608"/>
            <a:ext cx="8622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시장이 커진다는 가정 없이, 점유율만으로 Base 18.8억을 그립니다.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9CA3AF"/>
                </a:solidFill>
                <a:latin typeface="Noto Sans KR"/>
              </a:rPr>
              <a:t>TAM 13.6조원(국내 베이커리 2025) · SAM 2,100~2,650억(전문점×온라인×2030) · 목표 점유율 0.5~3% · 시장 성장률 미반영 · 망넛이네(2018 약 5.7억)·널담(2019 약 9.9억) 초기 실적은 벤치마크로만 참고, 확정 전망 아님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CA3AF"/>
                </a:solidFill>
                <a:latin typeface="Noto Sans KR"/>
              </a:rPr>
              <a:t>13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10543032" cy="3767328"/>
          </a:xfrm>
          <a:prstGeom prst="roundRect">
            <a:avLst>
              <a:gd name="adj" fmla="val 3883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E9CC9"/>
                </a:solidFill>
                <a:latin typeface="Noto Sans KR"/>
              </a:rPr>
              <a:t>■ 1년차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10312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087C7"/>
                </a:solidFill>
                <a:latin typeface="Noto Sans KR"/>
              </a:rPr>
              <a:t>■ 5년차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084831"/>
            <a:ext cx="5605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4B5563"/>
                </a:solidFill>
                <a:latin typeface="Noto Sans KR"/>
              </a:rPr>
              <a:t>매출 = 유입 × 구매 전환율 × 객단가 </a:t>
            </a:r>
            <a:r>
              <a:rPr sz="1050" b="1">
                <a:solidFill>
                  <a:srgbClr val="9CA3AF"/>
                </a:solidFill>
                <a:latin typeface="Noto Sans KR"/>
              </a:rPr>
              <a:t>(5월 2.32만원)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83080" y="5042916"/>
            <a:ext cx="1005840" cy="77724"/>
          </a:xfrm>
          <a:prstGeom prst="roundRect">
            <a:avLst>
              <a:gd name="adj" fmla="val 50000"/>
            </a:avLst>
          </a:prstGeom>
          <a:solidFill>
            <a:srgbClr val="BFD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00200" y="4677155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1.2억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4939284"/>
            <a:ext cx="1005840" cy="181356"/>
          </a:xfrm>
          <a:prstGeom prst="roundRect">
            <a:avLst>
              <a:gd name="adj" fmla="val 25210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88920" y="4573523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2.8억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5230368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11827"/>
                </a:solidFill>
                <a:latin typeface="Noto Sans KR"/>
              </a:rPr>
              <a:t>Worst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08760" y="5120640"/>
            <a:ext cx="2743200" cy="0"/>
          </a:xfrm>
          <a:prstGeom prst="line">
            <a:avLst/>
          </a:prstGeom>
          <a:ln w="1587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74920" y="4751451"/>
            <a:ext cx="1005840" cy="369188"/>
          </a:xfrm>
          <a:prstGeom prst="roundRect">
            <a:avLst>
              <a:gd name="adj" fmla="val 12383"/>
            </a:avLst>
          </a:prstGeom>
          <a:solidFill>
            <a:srgbClr val="BFD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92040" y="4385691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5.7억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902963"/>
            <a:ext cx="1005840" cy="1217676"/>
          </a:xfrm>
          <a:prstGeom prst="roundRect">
            <a:avLst>
              <a:gd name="adj" fmla="val 4545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80759" y="3537203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2F6FAD"/>
                </a:solidFill>
                <a:latin typeface="Noto Sans KR"/>
              </a:rPr>
              <a:t>18.8억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5230368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11827"/>
                </a:solidFill>
                <a:latin typeface="Noto Sans KR"/>
              </a:rPr>
              <a:t>Base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00600" y="5120640"/>
            <a:ext cx="2743200" cy="0"/>
          </a:xfrm>
          <a:prstGeom prst="line">
            <a:avLst/>
          </a:prstGeom>
          <a:ln w="1587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366760" y="4479417"/>
            <a:ext cx="1005840" cy="641223"/>
          </a:xfrm>
          <a:prstGeom prst="roundRect">
            <a:avLst>
              <a:gd name="adj" fmla="val 7130"/>
            </a:avLst>
          </a:prstGeom>
          <a:solidFill>
            <a:srgbClr val="BFD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83880" y="4113656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9.9억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5480" y="2834259"/>
            <a:ext cx="1005840" cy="2286380"/>
          </a:xfrm>
          <a:prstGeom prst="roundRect">
            <a:avLst>
              <a:gd name="adj" fmla="val 4545"/>
            </a:avLst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72600" y="2468499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11827"/>
                </a:solidFill>
                <a:latin typeface="Noto Sans KR"/>
              </a:rPr>
              <a:t>35.3억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5230368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11827"/>
                </a:solidFill>
                <a:latin typeface="Noto Sans KR"/>
              </a:rPr>
              <a:t>Best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092440" y="5120640"/>
            <a:ext cx="2743200" cy="0"/>
          </a:xfrm>
          <a:prstGeom prst="line">
            <a:avLst/>
          </a:prstGeom>
          <a:ln w="1587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핵심 리스크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이 그림에는 구조적 제약 하나와,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관리 가능한 리스크 다섯 가지가 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88736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0" y="6007608"/>
            <a:ext cx="8622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HIGH 3건은 출시 전에 해소합니다.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9CA3AF"/>
                </a:solidFill>
                <a:latin typeface="Noto Sans KR"/>
              </a:rPr>
              <a:t>대응 원칙: 총혜택 상한 38% 고정 · 표시가 = 결제가 일치 검증 · 할인 표시 법무 검토 · 3구간 모델 기준 백테스트 재실행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CA3AF"/>
                </a:solidFill>
                <a:latin typeface="Noto Sans KR"/>
              </a:rPr>
              <a:t>14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5148072" cy="100584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5029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9CA3AF"/>
                </a:solidFill>
                <a:latin typeface="Noto Sans K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26771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11827"/>
                </a:solidFill>
                <a:latin typeface="Noto Sans KR"/>
              </a:rPr>
              <a:t>STOCK ↔ 자사몰 분리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7004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RFP 요구 구조 — 원클릭으로 최소화만 가능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228600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83480" y="2286000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Noto Sans KR"/>
              </a:rPr>
              <a:t>구조적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91839"/>
            <a:ext cx="5148072" cy="100584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291839"/>
            <a:ext cx="5029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9CA3AF"/>
                </a:solidFill>
                <a:latin typeface="Noto Sans K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5643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11827"/>
                </a:solidFill>
                <a:latin typeface="Noto Sans KR"/>
              </a:rPr>
              <a:t>검색 키워드 적합성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85876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백테스트는 모닝빵 1종 중심 — 나머지 검증 필요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347472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83480" y="3474720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Noto Sans KR"/>
              </a:rPr>
              <a:t>HIGH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480560"/>
            <a:ext cx="5148072" cy="100584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480560"/>
            <a:ext cx="5029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9CA3AF"/>
                </a:solidFill>
                <a:latin typeface="Noto Sans KR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64515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11827"/>
                </a:solidFill>
                <a:latin typeface="Noto Sans KR"/>
              </a:rPr>
              <a:t>표시·결제가 불일치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04748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다르면 신뢰·전환이 훼손됨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46634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83480" y="4663440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Noto Sans KR"/>
              </a:rPr>
              <a:t>HIGH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103120"/>
            <a:ext cx="5148072" cy="100584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2103120"/>
            <a:ext cx="5029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9CA3AF"/>
                </a:solidFill>
                <a:latin typeface="Noto Sans KR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26771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11827"/>
                </a:solidFill>
                <a:latin typeface="Noto Sans KR"/>
              </a:rPr>
              <a:t>법적 위험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67004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할인 표시가 실제와 다르면 표시광고법 소지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378440" y="228600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78440" y="2286000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Noto Sans KR"/>
              </a:rPr>
              <a:t>HIGH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291839"/>
            <a:ext cx="5148072" cy="100584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3291839"/>
            <a:ext cx="5029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9CA3AF"/>
                </a:solidFill>
                <a:latin typeface="Noto Sans KR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45643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11827"/>
                </a:solidFill>
                <a:latin typeface="Noto Sans KR"/>
              </a:rPr>
              <a:t>가격모델 전환 재검증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85876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3구간 모델로 바뀌어 백테스트 재실행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78440" y="347472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378440" y="3474720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4A3600"/>
                </a:solidFill>
                <a:latin typeface="Noto Sans KR"/>
              </a:rPr>
              <a:t>관리중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480560"/>
            <a:ext cx="5148072" cy="1005840"/>
          </a:xfrm>
          <a:prstGeom prst="roundRect">
            <a:avLst>
              <a:gd name="adj" fmla="val 14545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4480560"/>
            <a:ext cx="5029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9CA3AF"/>
                </a:solidFill>
                <a:latin typeface="Noto Sans KR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64515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11827"/>
                </a:solidFill>
                <a:latin typeface="Noto Sans KR"/>
              </a:rPr>
              <a:t>쿠폰 중복 적용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504748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동시 적용 시 총혜택 상한 초과 가능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78440" y="46634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378440" y="4663440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4A3600"/>
                </a:solidFill>
                <a:latin typeface="Noto Sans KR"/>
              </a:rPr>
              <a:t>관리중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F6FAD"/>
                </a:solidFill>
                <a:latin typeface="Noto Sans KR"/>
              </a:rPr>
              <a:t>요청 사항과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11827"/>
                </a:solidFill>
                <a:latin typeface="Noto Sans KR"/>
              </a:rPr>
              <a:t>그래서 세 가지를 요청드립니다 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111827"/>
                </a:solidFill>
                <a:latin typeface="Noto Sans KR"/>
              </a:rPr>
              <a:t>정해지면 바로 3단계로 시작합니다.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81944" y="5888736"/>
            <a:ext cx="384048" cy="41148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0" y="6007608"/>
            <a:ext cx="86227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2F6FAD"/>
                </a:solidFill>
                <a:latin typeface="Noto Sans KR"/>
              </a:rPr>
              <a:t>세 가지가 정해지면 바로 구현·검증 단계로 들어갑니다.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1908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9CA3AF"/>
                </a:solidFill>
                <a:latin typeface="Noto Sans KR"/>
              </a:rPr>
              <a:t>향후 확장(설계 단계, 이번 구현 범위 아님): Bakery ETF · FX Bakery · Bread Index · 연속 방문 스트릭 보상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30759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9CA3AF"/>
                </a:solidFill>
                <a:latin typeface="Noto Sans KR"/>
              </a:rPr>
              <a:t>15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10543032" cy="1600200"/>
          </a:xfrm>
          <a:prstGeom prst="roundRect">
            <a:avLst>
              <a:gd name="adj" fmla="val 9142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1188720" y="2377440"/>
            <a:ext cx="9875520" cy="0"/>
          </a:xfrm>
          <a:prstGeom prst="line">
            <a:avLst/>
          </a:prstGeom>
          <a:ln w="3175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188720" y="2249424"/>
            <a:ext cx="256032" cy="256032"/>
          </a:xfrm>
          <a:prstGeom prst="ellipse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265176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9CA3AF"/>
                </a:solidFill>
                <a:latin typeface="Noto Sans KR"/>
              </a:rPr>
              <a:t>PHASE 1  </a:t>
            </a:r>
            <a:r>
              <a:rPr sz="1600" b="1">
                <a:solidFill>
                  <a:srgbClr val="111827"/>
                </a:solidFill>
                <a:latin typeface="Noto Sans KR"/>
              </a:rPr>
              <a:t>MVP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54096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4B5563"/>
                </a:solidFill>
                <a:latin typeface="Noto Sans KR"/>
              </a:rPr>
              <a:t>시세 · 비교 · 구매 이동</a:t>
            </a:r>
          </a:p>
        </p:txBody>
      </p:sp>
      <p:sp>
        <p:nvSpPr>
          <p:cNvPr id="13" name="Oval 12"/>
          <p:cNvSpPr/>
          <p:nvPr/>
        </p:nvSpPr>
        <p:spPr>
          <a:xfrm>
            <a:off x="4709160" y="2249424"/>
            <a:ext cx="256032" cy="256032"/>
          </a:xfrm>
          <a:prstGeom prst="ellipse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265176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9CA3AF"/>
                </a:solidFill>
                <a:latin typeface="Noto Sans KR"/>
              </a:rPr>
              <a:t>PHASE 2  </a:t>
            </a:r>
            <a:r>
              <a:rPr sz="1600" b="1">
                <a:solidFill>
                  <a:srgbClr val="111827"/>
                </a:solidFill>
                <a:latin typeface="Noto Sans KR"/>
              </a:rPr>
              <a:t>참여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054096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4B5563"/>
                </a:solidFill>
                <a:latin typeface="Noto Sans KR"/>
              </a:rPr>
              <a:t>가격 잠금 · 보상 고르기 · 알림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2249424"/>
            <a:ext cx="256032" cy="256032"/>
          </a:xfrm>
          <a:prstGeom prst="ellipse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265176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9CA3AF"/>
                </a:solidFill>
                <a:latin typeface="Noto Sans KR"/>
              </a:rPr>
              <a:t>PHASE 3  </a:t>
            </a:r>
            <a:r>
              <a:rPr sz="1600" b="1">
                <a:solidFill>
                  <a:srgbClr val="111827"/>
                </a:solidFill>
                <a:latin typeface="Noto Sans KR"/>
              </a:rPr>
              <a:t>연동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054096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4B5563"/>
                </a:solidFill>
                <a:latin typeface="Noto Sans KR"/>
              </a:rPr>
              <a:t>자사몰 실연동 · 쿠폰 · 구매 데이터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886200"/>
            <a:ext cx="10543032" cy="512064"/>
          </a:xfrm>
          <a:prstGeom prst="roundRect">
            <a:avLst>
              <a:gd name="adj" fmla="val 28571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3886200"/>
            <a:ext cx="6400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>
                <a:solidFill>
                  <a:srgbClr val="4087C7"/>
                </a:solidFill>
                <a:latin typeface="Noto Sans KR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886200"/>
            <a:ext cx="34747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11827"/>
                </a:solidFill>
                <a:latin typeface="Noto Sans KR"/>
              </a:rPr>
              <a:t>MVP 상품 수 확정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886200"/>
            <a:ext cx="57607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대표 6종 기준으로 준비 중 · 최종 승인 필요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489704"/>
            <a:ext cx="10543032" cy="512064"/>
          </a:xfrm>
          <a:prstGeom prst="roundRect">
            <a:avLst>
              <a:gd name="adj" fmla="val 28571"/>
            </a:avLst>
          </a:prstGeom>
          <a:solidFill>
            <a:srgbClr val="FFF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4489704"/>
            <a:ext cx="6400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>
                <a:solidFill>
                  <a:srgbClr val="C98F00"/>
                </a:solidFill>
                <a:latin typeface="Noto Sans KR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489704"/>
            <a:ext cx="34747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11827"/>
                </a:solidFill>
                <a:latin typeface="Noto Sans KR"/>
              </a:rPr>
              <a:t>실제 원가·마진율 공유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4489704"/>
            <a:ext cx="57607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지금은 40/50/60% 가정 · 실제 수치로 정밀 검증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093208"/>
            <a:ext cx="10543032" cy="512064"/>
          </a:xfrm>
          <a:prstGeom prst="roundRect">
            <a:avLst>
              <a:gd name="adj" fmla="val 28571"/>
            </a:avLst>
          </a:prstGeom>
          <a:solidFill>
            <a:srgbClr val="FF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5093208"/>
            <a:ext cx="6400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900" b="1">
                <a:solidFill>
                  <a:srgbClr val="FF7A45"/>
                </a:solidFill>
                <a:latin typeface="Noto Sans KR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093208"/>
            <a:ext cx="34747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>
                <a:solidFill>
                  <a:srgbClr val="111827"/>
                </a:solidFill>
                <a:latin typeface="Noto Sans KR"/>
              </a:rPr>
              <a:t>할인 표시 법무 검토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5093208"/>
            <a:ext cx="57607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4B5563"/>
                </a:solidFill>
                <a:latin typeface="Noto Sans KR"/>
              </a:rPr>
              <a:t>기준가격·할인율·적용기간 표시가 표시광고법에 맞는지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08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4087C7"/>
                </a:solidFill>
                <a:latin typeface="Noto Sans KR"/>
              </a:rPr>
              <a:t>●  </a:t>
            </a:r>
            <a:r>
              <a:rPr sz="1300" b="1">
                <a:solidFill>
                  <a:srgbClr val="111827"/>
                </a:solidFill>
                <a:latin typeface="Noto Sans KR"/>
              </a:rPr>
              <a:t>MAKJI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502920"/>
            <a:ext cx="45079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9CA3AF"/>
                </a:solidFill>
                <a:latin typeface="Noto Sans KR"/>
              </a:rP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11827"/>
                </a:solidFill>
                <a:latin typeface="Noto Sans KR"/>
              </a:rPr>
              <a:t>가격이 움직인다는 사실 자체가,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4400" b="1">
                <a:solidFill>
                  <a:srgbClr val="4087C7"/>
                </a:solidFill>
                <a:latin typeface="Noto Sans KR"/>
              </a:rPr>
              <a:t>다시 찾는 이유</a:t>
            </a:r>
            <a:r>
              <a:rPr sz="4400" b="1">
                <a:solidFill>
                  <a:srgbClr val="111827"/>
                </a:solidFill>
                <a:latin typeface="Noto Sans KR"/>
              </a:rPr>
              <a:t>가 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4B5563"/>
                </a:solidFill>
                <a:latin typeface="Noto Sans KR"/>
              </a:rPr>
              <a:t>질문과 의견을 듣겠습니다.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4B5563"/>
                </a:solidFill>
                <a:latin typeface="Noto Sans KR"/>
              </a:rPr>
              <a:t>빵값연구소  |  MAKJI STOCK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3034</Words>
  <Application>Microsoft Office PowerPoint</Application>
  <PresentationFormat>사용자 지정</PresentationFormat>
  <Paragraphs>393</Paragraphs>
  <Slides>18</Slides>
  <Notes>18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19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Administrator</cp:lastModifiedBy>
  <cp:revision>2</cp:revision>
  <dcterms:created xsi:type="dcterms:W3CDTF">2013-01-27T09:14:16Z</dcterms:created>
  <dcterms:modified xsi:type="dcterms:W3CDTF">2026-09-29T01:49:32Z</dcterms:modified>
  <cp:category/>
</cp:coreProperties>
</file>