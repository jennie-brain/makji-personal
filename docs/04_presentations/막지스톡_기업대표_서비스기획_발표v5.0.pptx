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[30초] 오늘 말씀드릴 것은 세 가지입니다. 시장에 기회가 있고, 우리는 그 기회를 ‘가격’으로 잡으려 하며, 그 방식이 마진을 지킨다는 것입니다. 마지막에 세 가지 요청을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[1분] 온라인 베이커리 시장은 2021년 3,200억에서 2025년 6,250억으로 커졌습니다. 같은 시장의 저당·고단백 브랜드 널담은 지난해 매출이 두 배가 됐습니다. 그런데 경쟁 6곳 중 가격 변동 자체를 콘텐츠로 쓰는 곳은 한 곳도 없습니다. 수요와 경쟁이 모두 커지는데 ‘가격’이라는 자리는 비어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[1분] 막지는 저당·무설탕·글루텐프리 웰니스 베이커리이고, B2B 공급으로 제품력을 검증했습니다. 이제 자사몰(B2C)로 확장 중인데, 5월 파일럿에서 결제 완결률은 73.5%로 준수했지만 연환산 0.30억으로 성장판이 얕습니다. 그래서 우리의 서비스 목표는 두 단계입니다. 첫째 유입, 둘째 체류시간과 전환율입니다.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[1분] 목표를 이루는 전략은 두 가지입니다. 하나, 가격 자체를 콘텐츠로 만들어 매일 오게 한다. 둘, 고객이 직접 고르는 혜택으로 참여와 주도성을 준다. 이 둘을 묶은 것이 막지스톡입니다. 빵값을 주식시장처럼 하루 두 번 열고, 그 안에서 고객이 자기 방식대로 혜택을 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[1분] 하루는 이렇게 돌아갑니다. 아침 6시 오전장이 열려 시세를 보고, 마음에 드는 빵 하나를 잠급니다. 오후 4시 오후장에서 잠금이 정산되고, 자사몰에서 결제합니다. 다음 날 6시에는 예측 결과를 확인하러 다시 옵니다. 이 하루를 세 가지 기능이 잇습니다 — 오늘의 시세, 가격 잠금, 오늘의 보상 고르기.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[1분] 고객은 세 부류입니다. 가격이 마음에 들고 바로 결제할 수 있는 즉시 구매형, 가격은 좋은데 결제는 나중에 할 가격 확보형, 오후에 더 싸지길 기다리는 관망형입니다. 잠금은 가격 확보형의 상승 위험을 없애 주고, 예측은 관망형이 내일 다시 오게 만듭니다. 세 부류 모두 결제는 자사몰에서 이어집니다.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[1분] 가격은 임의의 세일이 아니라 공개된 산식입니다. 신호는 두 개입니다. 검색지수는 수요 신호로 최대 15% 할인을 더하고, 환율은 원가 신호로 내리면 전부 돌려주고 오르면 절반만 반영합니다. 합계는 0에서 38% 사이로 고정되어 정가를 넘지 않습니다. 아래 표처럼 평균 할인 15%면 모닝롤이 4,500원에서 3,830원이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[1분] 이 가격 엔진을 실제 환율과 검색지수로 91일 돌려 봤습니다. 하루 두 번, 182개 세션의 평균 할인율은 15%입니다. 세션의 84%가 20% 미만이고, 25% 이상 큰 할인은 7번, 3.8%뿐입니다. 오전장이 오후장보다 약간 깊게 할인됩니다. 이 분포가 다음 장의 마진 방어의 근거입니다.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 30초] 걱정되는 것은 마진입니다. 첫째, 할인은 얕은 구간에 몰려 있습니다. 둘째, 합계 38%가 상한이라 더 깊어지지 않습니다. 정가 마진이 40%라고 가정해도 가장 깊은 할인 세션의 마진은 3.2%로 흑자입니다. 셋째, 평균 할인 기준으로는 마진 50%일 때 판매량이 43% 늘면 본전입니다. 다만 실제 원가·마진 자료가 없어 40/50/60% 가정이라는 점, 실제 수치를 주시면 정밀 검증하겠다는 점을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[1분] 첫 버전은 두 전략을 검증하는 기능만 담습니다. 반드시 포함하는 것은 시세 확인, 가격 잠금, 보상 고르기, 자사몰 전환, ‘투자가 아닙니다’ 안내, 38% 상한 가드레일입니다. 도감·씰, 매수가 기준 보상, 막지스톡 안의 결제는 이번에 하지 않습니다. 구현은 2~3주차, 검증은 9월 28~30일이고, 상품 수만 확정되면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[1분] KPI는 서비스 목표와 같은 순서입니다. 북극성 지표는 STOCK에서 잠금·보상을 고른 세션이 자사몰 구매까지 가는 비율입니다. 아직 서비스 전이라 미측정이고, 베타 첫 주에 기준선을 잡습니다. 목표 숫자를 근거 없이 정하지 않는다는 원칙이라 ‘베타 실측 후 확정’이라고 적었습니다. 가드레일은 하나라도 넘으면 즉시 중단합니다.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[1분] KPI가 달성됐을 때의 매출입니다. 매출은 유입 곱하기 전환율 곱하기 객단가이고, 5월 객단가는 2.32만 원입니다. 시장이 성장한다는 가정은 넣지 않고 점유율만 0.5%에서 3%로 넓혔습니다. Base는 1년차 5.7억에서 5년차 18.8억, Worst는 2.8억, Best는 35.3억입니다. 망넛이네와 널담의 초기 실적은 확정 전망이 아니라 성공 벤치마크로만 참고했습니다.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[1분] 리스크는 여섯 가지입니다. 막지스톡과 자사몰 결제 시스템이 분리된 것은 RFP가 정한 구조라 없앨 수 없고, 원클릭으로 줄이기만 합니다. HIGH는 세 가지 — 키워드 적합성, 표시가와 결제가 불일치, 법적 위험입니다. 나머지 둘은 관리 중입니다. 총혜택 상한 38%, 표시가=결제가 검증, 법무 검토, 백테스트 재실행으로 대응합니다.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[1분 + 요청] 로드맵은 3단계입니다. 1단계 MVP는 시세·비교·구매 이동, 2단계는 잠금·보상 고르기·알림, 3단계는 자사몰 실연동입니다. 오늘 대표님께 요청드릴 것은 세 가지입니다. 하나, MVP 상품 수 확정. 둘, 실제 원가·마진율 공유 — 지금은 40/50/60% 가정이라 실제 수치로 마진 방어를 정밀 검증하겠습니다. 셋, 할인 표시에 대한 법무 검토입니다.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[Q&amp;A] 예상 질문은 발표 스토리라인 문서의 ‘예상 질문과 답변’을 참고하세요.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4087C7"/>
                </a:solidFill>
                <a:latin typeface="Noto Sans KR"/>
              </a:rPr>
              <a:t>●  </a:t>
            </a:r>
            <a:r>
              <a:rPr sz="1300" b="1">
                <a:solidFill>
                  <a:srgbClr val="111827"/>
                </a:solidFill>
                <a:latin typeface="Noto Sans KR"/>
              </a:rPr>
              <a:t>MAKJI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41148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BUSINESS PROPOSAL 2026 · 기업 대표 보고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1417320" cy="219456"/>
          </a:xfrm>
          <a:prstGeom prst="roundRect">
            <a:avLst>
              <a:gd name="adj" fmla="val 50000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Project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6583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600" b="1">
                <a:solidFill>
                  <a:srgbClr val="111827"/>
                </a:solidFill>
                <a:latin typeface="Noto Sans KR"/>
              </a:rPr>
              <a:t>MAKJI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7600" b="1">
                <a:solidFill>
                  <a:srgbClr val="4087C7"/>
                </a:solidFill>
                <a:latin typeface="Noto Sans KR"/>
              </a:rPr>
              <a:t>STOCK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57200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4B5563"/>
                </a:solidFill>
                <a:latin typeface="Noto Sans KR"/>
              </a:rPr>
              <a:t>웰니스 베이커리 막지의 B2C 확장 —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600" b="0">
                <a:solidFill>
                  <a:srgbClr val="4B5563"/>
                </a:solidFill>
                <a:latin typeface="Noto Sans KR"/>
              </a:rPr>
              <a:t>매일 두 번 움직이는 빵값으로 자사몰의 방문과 구매를 만듭니다.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2148840"/>
            <a:ext cx="400507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48840"/>
            <a:ext cx="2377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FNC 글루텐프리 휘낭시에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148840"/>
            <a:ext cx="1371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10A37F"/>
                </a:solidFill>
                <a:latin typeface="Noto Sans KR"/>
              </a:rPr>
              <a:t>▼ 오전장 06:00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2926080"/>
            <a:ext cx="400507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926080"/>
            <a:ext cx="2377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MRL 제로 모닝롤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926080"/>
            <a:ext cx="1371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10A37F"/>
                </a:solidFill>
                <a:latin typeface="Noto Sans KR"/>
              </a:rPr>
              <a:t>▼ 오전장 06:00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3703320"/>
            <a:ext cx="400507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703320"/>
            <a:ext cx="23774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TTR 테트리스 브레드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3703320"/>
            <a:ext cx="1371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10A37F"/>
                </a:solidFill>
                <a:latin typeface="Noto Sans KR"/>
              </a:rPr>
              <a:t>▼ 오후장 16:00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172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빵값연구소   |   기업 대표 보고 v5.0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6172200"/>
            <a:ext cx="4005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2026.09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시장 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온라인 베이커리 시장은 4년 만에 2배 가까이 커졌고,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유사 업체도 빠르게 성장하고 있습니다.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온라인 베이커리 시장 성장 (2021→2025)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11827"/>
                </a:solidFill>
                <a:latin typeface="Noto Sans KR"/>
              </a:rPr>
              <a:t>+95%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3,200억 → 6,250억원 · 연평균 +18%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559552"/>
            <a:ext cx="213359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3.3배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943600"/>
            <a:ext cx="21153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신세계푸드 온라인 베이커리 2023 255억 → 2025 850억원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4847" y="5559552"/>
            <a:ext cx="213359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+104%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4847" y="5943600"/>
            <a:ext cx="21153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널담 2025년 매출 성장(전년 대비), 2018년 온라인으로 시작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9888" y="5559552"/>
            <a:ext cx="213359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0 /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9888" y="5943600"/>
            <a:ext cx="21153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경쟁 6곳 중 가격 변동을 콘텐츠로 쓰는 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수요와 경쟁자 모두 성장 중입니다. 비어 있는 자리는 ‘가격’입니다.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9CA3AF"/>
                </a:solidFill>
                <a:latin typeface="Noto Sans KR"/>
              </a:rPr>
              <a:t>출처: aT 온라인 베이커리 시장 규모(매일경제 2026.03.23 보도) · 널담 2025 매출 약 330억, 2026 목표 800억(플래텀·메트로서울 2026.01). 2024는 역산 추정, 2023은 내부 시장분석. 널담 매출에는 오프라인 유통 포함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02 / 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1965960"/>
            <a:ext cx="5440680" cy="3154680"/>
          </a:xfrm>
          <a:prstGeom prst="roundRect">
            <a:avLst>
              <a:gd name="adj" fmla="val 405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99632" y="1965960"/>
            <a:ext cx="5440680" cy="3154680"/>
          </a:xfrm>
          <a:prstGeom prst="roundRect">
            <a:avLst>
              <a:gd name="adj" fmla="val 405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국내 온라인 베이커리 시장 (억원)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210312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210312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2F6FAD"/>
                </a:solidFill>
                <a:latin typeface="Noto Sans KR"/>
              </a:rPr>
              <a:t>연평균 +18%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" y="3685309"/>
            <a:ext cx="960120" cy="886690"/>
          </a:xfrm>
          <a:prstGeom prst="roundRect">
            <a:avLst>
              <a:gd name="adj" fmla="val 6187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3410989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3,200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6451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2021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34640" y="3075709"/>
            <a:ext cx="960120" cy="1496290"/>
          </a:xfrm>
          <a:prstGeom prst="roundRect">
            <a:avLst>
              <a:gd name="adj" fmla="val 5714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2801389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5,400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46451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2024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34840" y="2840181"/>
            <a:ext cx="960120" cy="1731818"/>
          </a:xfrm>
          <a:prstGeom prst="roundRect">
            <a:avLst>
              <a:gd name="adj" fmla="val 5714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1959" y="2565861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6,250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59" y="46451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05840" y="4572000"/>
            <a:ext cx="4617719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428232" y="2103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널담 연 매출 (억원)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213969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4087C7"/>
                </a:solidFill>
                <a:latin typeface="Noto Sans KR"/>
              </a:rPr>
              <a:t>■ 실적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21396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8FB5DA"/>
                </a:solidFill>
                <a:latin typeface="Noto Sans KR"/>
              </a:rPr>
              <a:t>■ 역산·목표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66560" y="4251188"/>
            <a:ext cx="777240" cy="320811"/>
          </a:xfrm>
          <a:prstGeom prst="roundRect">
            <a:avLst>
              <a:gd name="adj" fmla="val 17101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3976868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1">
                <a:solidFill>
                  <a:srgbClr val="111827"/>
                </a:solidFill>
                <a:latin typeface="Noto Sans KR"/>
              </a:rPr>
              <a:t>145.6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645152"/>
            <a:ext cx="1143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2023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20" y="4215053"/>
            <a:ext cx="777240" cy="356946"/>
          </a:xfrm>
          <a:prstGeom prst="roundRect">
            <a:avLst>
              <a:gd name="adj" fmla="val 15370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0" y="3940733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1">
                <a:solidFill>
                  <a:srgbClr val="111827"/>
                </a:solidFill>
                <a:latin typeface="Noto Sans KR"/>
              </a:rPr>
              <a:t>≈162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4645152"/>
            <a:ext cx="1143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2024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83717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0">
                <a:solidFill>
                  <a:srgbClr val="9CA3AF"/>
                </a:solidFill>
                <a:latin typeface="Noto Sans KR"/>
              </a:rPr>
              <a:t>역산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26880" y="3844886"/>
            <a:ext cx="777240" cy="727113"/>
          </a:xfrm>
          <a:prstGeom prst="roundRect">
            <a:avLst>
              <a:gd name="adj" fmla="val 7545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0" y="3570566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1">
                <a:solidFill>
                  <a:srgbClr val="111827"/>
                </a:solidFill>
                <a:latin typeface="Noto Sans KR"/>
              </a:rPr>
              <a:t>≈330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4645152"/>
            <a:ext cx="1143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2025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607040" y="2809301"/>
            <a:ext cx="777240" cy="1762698"/>
          </a:xfrm>
          <a:prstGeom prst="roundRect">
            <a:avLst>
              <a:gd name="adj" fmla="val 7058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24160" y="2534981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1">
                <a:solidFill>
                  <a:srgbClr val="111827"/>
                </a:solidFill>
                <a:latin typeface="Noto Sans KR"/>
              </a:rPr>
              <a:t>800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60" y="4645152"/>
            <a:ext cx="1143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0" y="483717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0">
                <a:solidFill>
                  <a:srgbClr val="9CA3AF"/>
                </a:solidFill>
                <a:latin typeface="Noto Sans KR"/>
              </a:rPr>
              <a:t>목표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537960" y="4572000"/>
            <a:ext cx="5074920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우리의 방향과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웰니스 베이커리 막지는 B2C 자사몰로 확장합니다.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목표는 유입이 먼저, 그다음이 체류와 전환입니다.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5월 파일럿 결제 완결률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11827"/>
                </a:solidFill>
                <a:latin typeface="Noto Sans KR"/>
              </a:rPr>
              <a:t>73.5%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연환산 상품매출은 0.30억원 — 반복 방문 구조가 필요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559552"/>
            <a:ext cx="15773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147건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943600"/>
            <a:ext cx="15590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5월 단일상품 파일럿 생성 주문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8588" y="5559552"/>
            <a:ext cx="15773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108건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8588" y="5943600"/>
            <a:ext cx="15590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실제 결제 완료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368" y="5559552"/>
            <a:ext cx="15773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73.5%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8" y="5943600"/>
            <a:ext cx="15590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주문 생성 → 결제 완결률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6148" y="5559552"/>
            <a:ext cx="15773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0.30억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6148" y="5943600"/>
            <a:ext cx="15590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단순 연환산 상품매출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먼저 유입을 늘리고, 그다음 체류시간과 전환율을 높입니다.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9CA3AF"/>
                </a:solidFill>
                <a:latin typeface="Noto Sans KR"/>
              </a:rPr>
              <a:t>출처: 막지 자사몰 5월 주문내역(단일상품 막지 ZERO 카스테라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03 / 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1965960"/>
            <a:ext cx="3429000" cy="1188720"/>
          </a:xfrm>
          <a:prstGeom prst="roundRect">
            <a:avLst>
              <a:gd name="adj" fmla="val 107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210312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10312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2F6FAD"/>
                </a:solidFill>
                <a:latin typeface="Noto Sans KR"/>
              </a:rPr>
              <a:t>지금까지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39572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B2B 제품 공급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27432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저당·무설탕·글루텐프리 제품력 검증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023359" y="2423160"/>
            <a:ext cx="310896" cy="274320"/>
          </a:xfrm>
          <a:prstGeom prst="rightArrow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79976" y="1965960"/>
            <a:ext cx="3429000" cy="1188720"/>
          </a:xfrm>
          <a:prstGeom prst="roundRect">
            <a:avLst>
              <a:gd name="adj" fmla="val 10769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62856" y="210312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62856" y="210312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2F6FAD"/>
                </a:solidFill>
                <a:latin typeface="Noto Sans KR"/>
              </a:rPr>
              <a:t>지금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239572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B2C 자사몰 확장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62856" y="27432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5월 단일상품 파일럿 운영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854696" y="2423160"/>
            <a:ext cx="310896" cy="274320"/>
          </a:xfrm>
          <a:prstGeom prst="rightArrow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11312" y="1965960"/>
            <a:ext cx="3429000" cy="1188720"/>
          </a:xfrm>
          <a:prstGeom prst="roundRect">
            <a:avLst>
              <a:gd name="adj" fmla="val 10769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394192" y="210312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94192" y="210312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111827"/>
                </a:solidFill>
                <a:latin typeface="Noto Sans KR"/>
              </a:rPr>
              <a:t>과제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239572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FFFFFF"/>
                </a:solidFill>
                <a:latin typeface="Noto Sans KR"/>
              </a:rPr>
              <a:t>다시 오게 하고, 사게 하기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27432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5DBE8"/>
                </a:solidFill>
                <a:latin typeface="Noto Sans KR"/>
              </a:rPr>
              <a:t>반복 방문 구조가 필요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3337560"/>
            <a:ext cx="3931920" cy="1783080"/>
          </a:xfrm>
          <a:prstGeom prst="roundRect">
            <a:avLst>
              <a:gd name="adj" fmla="val 717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77240" y="349300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49300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2F6FAD"/>
                </a:solidFill>
                <a:latin typeface="Noto Sans KR"/>
              </a:rPr>
              <a:t>우선순위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>
                <a:solidFill>
                  <a:srgbClr val="FFFFFF"/>
                </a:solidFill>
                <a:latin typeface="Noto Sans KR"/>
              </a:rPr>
              <a:t>자사몰 유입 증가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42976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FFFFFF"/>
                </a:solidFill>
                <a:latin typeface="Noto Sans KR"/>
              </a:rPr>
              <a:t>광고를 켠 날에만 팔리는 구조에서 벗어나, 고객이 스스로 찾아오게 합니다.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63440" y="3337560"/>
            <a:ext cx="6976872" cy="1783080"/>
          </a:xfrm>
          <a:prstGeom prst="roundRect">
            <a:avLst>
              <a:gd name="adj" fmla="val 7179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892040" y="349300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92040" y="349300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2F6FAD"/>
                </a:solidFill>
                <a:latin typeface="Noto Sans KR"/>
              </a:rPr>
              <a:t>우선순위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37947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>
                <a:solidFill>
                  <a:srgbClr val="111827"/>
                </a:solidFill>
                <a:latin typeface="Noto Sans KR"/>
              </a:rPr>
              <a:t>체류시간 확대 + 전환율 제고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92040" y="4370832"/>
            <a:ext cx="31089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0" y="4370832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111827"/>
                </a:solidFill>
                <a:latin typeface="Noto Sans KR"/>
              </a:rPr>
              <a:t>① 체류시간  </a:t>
            </a:r>
            <a:r>
              <a:rPr sz="1100" b="0">
                <a:solidFill>
                  <a:srgbClr val="4B5563"/>
                </a:solidFill>
                <a:latin typeface="Noto Sans KR"/>
              </a:rPr>
              <a:t>가격을 확인·비교하며 머무는 시간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83879" y="4370832"/>
            <a:ext cx="31089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21040" y="4370832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111827"/>
                </a:solidFill>
                <a:latin typeface="Noto Sans KR"/>
              </a:rPr>
              <a:t>② 전환율  </a:t>
            </a:r>
            <a:r>
              <a:rPr sz="1100" b="0">
                <a:solidFill>
                  <a:srgbClr val="4B5563"/>
                </a:solidFill>
                <a:latin typeface="Noto Sans KR"/>
              </a:rPr>
              <a:t>가격 탐색 후 자사몰 구매까지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세부 전략과 솔루션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두 가지 전략을 하나로 묶은 솔루션이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‘막지스톡’입니다.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솔루션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>
                <a:solidFill>
                  <a:srgbClr val="111827"/>
                </a:solidFill>
                <a:latin typeface="Noto Sans KR"/>
              </a:rPr>
              <a:t>막지스톡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가격 콘텐츠 + 직접 고르는 혜택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57784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근거: 경쟁 6곳(널담 포함)은 모두 고정 가격·고정 혜택 — 움직이는 가격과 선택형 혜택을 함께 쓰는 곳이 없습니다.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00" b="0">
                <a:solidFill>
                  <a:srgbClr val="4B5563"/>
                </a:solidFill>
                <a:latin typeface="Noto Sans KR"/>
              </a:rPr>
              <a:t>전략 1은 방문(유입·체류)을, 전략 2는 참여(체류·전환)를 직접 겨냥합니다.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유입·체류·전환을 하나의 서비스로 동시에 개선합니다.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04 / 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965960"/>
            <a:ext cx="54406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08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574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>
                <a:solidFill>
                  <a:srgbClr val="4087C7"/>
                </a:solidFill>
                <a:latin typeface="Noto Sans KR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2148840"/>
            <a:ext cx="1325880" cy="219456"/>
          </a:xfrm>
          <a:prstGeom prst="roundRect">
            <a:avLst>
              <a:gd name="adj" fmla="val 50000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148840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2F6FAD"/>
                </a:solidFill>
                <a:latin typeface="Noto Sans KR"/>
              </a:rPr>
              <a:t>유입 · 체류 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11827"/>
                </a:solidFill>
                <a:latin typeface="Noto Sans KR"/>
              </a:rPr>
              <a:t>가격 자체를 콘텐츠로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240" y="2852928"/>
            <a:ext cx="4983480" cy="0"/>
          </a:xfrm>
          <a:prstGeom prst="line">
            <a:avLst/>
          </a:prstGeom>
          <a:ln w="1270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7240" y="292608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• 빵값이 매일 두 번 바뀌어 ‘오늘은 얼마일까?’가 방문 이유가 됩니다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050" b="0">
                <a:solidFill>
                  <a:srgbClr val="4B5563"/>
                </a:solidFill>
                <a:latin typeface="Noto Sans KR"/>
              </a:rPr>
              <a:t>• 검색 수요·환율 같은 실제 신호로 움직여 이유가 설명됩니다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1" y="1965960"/>
            <a:ext cx="54406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F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1" y="20574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>
                <a:solidFill>
                  <a:srgbClr val="FF7A45"/>
                </a:solidFill>
                <a:latin typeface="Noto Sans KR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14031" y="2148840"/>
            <a:ext cx="1325880" cy="219456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1" y="2148840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FFFFFF"/>
                </a:solidFill>
                <a:latin typeface="Noto Sans KR"/>
              </a:rPr>
              <a:t>참여 · 전환 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1" y="239572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11827"/>
                </a:solidFill>
                <a:latin typeface="Noto Sans KR"/>
              </a:rPr>
              <a:t>고객이 직접 고르는 혜택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28231" y="2852928"/>
            <a:ext cx="4983481" cy="0"/>
          </a:xfrm>
          <a:prstGeom prst="line">
            <a:avLst/>
          </a:prstGeom>
          <a:ln w="1270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28231" y="292608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• 가격 잠금 또는 보상 고르기 — 내가 원하는 방식으로 혜택을 받습니다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050" b="0">
                <a:solidFill>
                  <a:srgbClr val="4B5563"/>
                </a:solidFill>
                <a:latin typeface="Noto Sans KR"/>
              </a:rPr>
              <a:t>• 고객이 주도성을 느끼고, 선택한 만큼 구매로 이어집니다</a:t>
            </a:r>
          </a:p>
        </p:txBody>
      </p:sp>
      <p:sp>
        <p:nvSpPr>
          <p:cNvPr id="29" name="Right Arrow 28"/>
          <p:cNvSpPr/>
          <p:nvPr/>
        </p:nvSpPr>
        <p:spPr>
          <a:xfrm rot="5400000">
            <a:off x="5943600" y="3593592"/>
            <a:ext cx="292608" cy="274320"/>
          </a:xfrm>
          <a:prstGeom prst="rightArrow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48640" y="3913632"/>
            <a:ext cx="11091672" cy="1207008"/>
          </a:xfrm>
          <a:prstGeom prst="roundRect">
            <a:avLst>
              <a:gd name="adj" fmla="val 10606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00507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4206240"/>
            <a:ext cx="4754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Noto Sans KR"/>
              </a:rPr>
              <a:t>MAKJI STOCK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7548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FFFFFF"/>
                </a:solidFill>
                <a:latin typeface="Noto Sans KR"/>
              </a:rPr>
              <a:t>빵값을 주식시장처럼 — 하루 두 번 열리는 시세를 보고, 내 방식대로 혜택을 골라 자사몰에서 삽니다.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4023360"/>
            <a:ext cx="4709160" cy="274320"/>
          </a:xfrm>
          <a:prstGeom prst="roundRect">
            <a:avLst>
              <a:gd name="adj" fmla="val 26666"/>
            </a:avLst>
          </a:prstGeom>
          <a:solidFill>
            <a:srgbClr val="5E9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2280" y="40233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매일 확인하러 옵니다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40233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→ 유입 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352544"/>
            <a:ext cx="4709160" cy="274320"/>
          </a:xfrm>
          <a:prstGeom prst="roundRect">
            <a:avLst>
              <a:gd name="adj" fmla="val 26666"/>
            </a:avLst>
          </a:prstGeom>
          <a:solidFill>
            <a:srgbClr val="5E9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12280" y="43525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가격을 비교하며 머뭅니다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43525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→ 체류 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0" y="4681728"/>
            <a:ext cx="4709160" cy="274320"/>
          </a:xfrm>
          <a:prstGeom prst="roundRect">
            <a:avLst>
              <a:gd name="adj" fmla="val 26666"/>
            </a:avLst>
          </a:prstGeom>
          <a:solidFill>
            <a:srgbClr val="5E9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12280" y="46817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고른 혜택으로 결제합니다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46817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→ 전환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서비스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하루가 이렇게 돌아갑니다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세 가지 기능이 하루를 잇습니다.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시세 갱신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111827"/>
                </a:solidFill>
                <a:latin typeface="Noto Sans KR"/>
              </a:rPr>
              <a:t>하루 2회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오전장 06:00 · 오후장 16:00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57784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오전장 06:00~15:59 (전일 종가 기준)  ·  오후장 16:00~익일 01:59 (당일 시가 기준)  ·  정가 02:00~05:59 (할인 없음)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00" b="0">
                <a:solidFill>
                  <a:srgbClr val="4B5563"/>
                </a:solidFill>
                <a:latin typeface="Noto Sans KR"/>
              </a:rPr>
              <a:t>가격 잠금은 오전장에 하루 1개 — 오후에 올라도 잠근 가격, 내려가면 더 싼 오후가가 자동 적용됩니다.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선택은 언제나 고객 몫이고, 잠금 때문에 손해 보는 경우는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05 / 15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2286000"/>
            <a:ext cx="9784080" cy="0"/>
          </a:xfrm>
          <a:prstGeom prst="line">
            <a:avLst/>
          </a:prstGeom>
          <a:ln w="3810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042416" y="2139696"/>
            <a:ext cx="292608" cy="292608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4712" y="222199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79" y="248716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06:00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79" y="276148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오전장 개장</a:t>
            </a:r>
          </a:p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4B5563"/>
                </a:solidFill>
                <a:latin typeface="Noto Sans KR"/>
              </a:rPr>
              <a:t>오늘의 시세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3488435" y="2139696"/>
            <a:ext cx="292608" cy="292608"/>
          </a:xfrm>
          <a:prstGeom prst="ellipse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70732" y="222199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8899" y="248716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오전장 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8899" y="276148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가격 잠금</a:t>
            </a:r>
          </a:p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4B5563"/>
                </a:solidFill>
                <a:latin typeface="Noto Sans KR"/>
              </a:rPr>
              <a:t>(하루 1회)</a:t>
            </a:r>
          </a:p>
        </p:txBody>
      </p:sp>
      <p:sp>
        <p:nvSpPr>
          <p:cNvPr id="24" name="Oval 23"/>
          <p:cNvSpPr/>
          <p:nvPr/>
        </p:nvSpPr>
        <p:spPr>
          <a:xfrm>
            <a:off x="5934455" y="2139696"/>
            <a:ext cx="292608" cy="292608"/>
          </a:xfrm>
          <a:prstGeom prst="ellipse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16751" y="222199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19" y="248716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16:00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19" y="276148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오후장 개장</a:t>
            </a:r>
          </a:p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4B5563"/>
                </a:solidFill>
                <a:latin typeface="Noto Sans KR"/>
              </a:rPr>
              <a:t>잠금 정산</a:t>
            </a:r>
          </a:p>
        </p:txBody>
      </p:sp>
      <p:sp>
        <p:nvSpPr>
          <p:cNvPr id="28" name="Oval 27"/>
          <p:cNvSpPr/>
          <p:nvPr/>
        </p:nvSpPr>
        <p:spPr>
          <a:xfrm>
            <a:off x="8380475" y="2139696"/>
            <a:ext cx="292608" cy="292608"/>
          </a:xfrm>
          <a:prstGeom prst="ellipse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462772" y="222199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20940" y="248716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구매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0940" y="276148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막지 자사몰에서</a:t>
            </a:r>
          </a:p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4B5563"/>
                </a:solidFill>
                <a:latin typeface="Noto Sans KR"/>
              </a:rPr>
              <a:t>결제</a:t>
            </a:r>
          </a:p>
        </p:txBody>
      </p:sp>
      <p:sp>
        <p:nvSpPr>
          <p:cNvPr id="32" name="Oval 31"/>
          <p:cNvSpPr/>
          <p:nvPr/>
        </p:nvSpPr>
        <p:spPr>
          <a:xfrm>
            <a:off x="10826496" y="2139696"/>
            <a:ext cx="292608" cy="292608"/>
          </a:xfrm>
          <a:prstGeom prst="ellipse">
            <a:avLst/>
          </a:prstGeom>
          <a:solidFill>
            <a:srgbClr val="10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908792" y="222199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60" y="248716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익일 06:00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276148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예측 결과 확인</a:t>
            </a:r>
          </a:p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4B5563"/>
                </a:solidFill>
                <a:latin typeface="Noto Sans KR"/>
              </a:rPr>
              <a:t>다시 개장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401568"/>
            <a:ext cx="3611880" cy="1719072"/>
          </a:xfrm>
          <a:prstGeom prst="roundRect">
            <a:avLst>
              <a:gd name="adj" fmla="val 7446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354787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547872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2F6FAD"/>
                </a:solidFill>
                <a:latin typeface="Noto Sans KR"/>
              </a:rPr>
              <a:t>기능 1 · 전략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385876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오늘의 시세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224528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6종의 가격과 할인율을 하루 두 번 공개합니다. 정가 대비 얼마나 저렴한지 한눈에 비교합니다.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88536" y="3401568"/>
            <a:ext cx="3611880" cy="1719072"/>
          </a:xfrm>
          <a:prstGeom prst="roundRect">
            <a:avLst>
              <a:gd name="adj" fmla="val 7446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471416" y="354787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71416" y="3547872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7A5B00"/>
                </a:solidFill>
                <a:latin typeface="Noto Sans KR"/>
              </a:rPr>
              <a:t>기능 2 · 전략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71416" y="385876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가격 잠금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1416" y="4224528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오전장 가격을 하루 1개 잠그면 오후에 올라도 잠근 가격으로 구매합니다. 내려가면 더 싼 가격이 자동 적용됩니다.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28431" y="3401568"/>
            <a:ext cx="3611880" cy="1719072"/>
          </a:xfrm>
          <a:prstGeom prst="roundRect">
            <a:avLst>
              <a:gd name="adj" fmla="val 7446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211311" y="354787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11311" y="3547872"/>
            <a:ext cx="12344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B6451B"/>
                </a:solidFill>
                <a:latin typeface="Noto Sans KR"/>
              </a:rPr>
              <a:t>기능 3 · 전략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1311" y="385876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오늘의 보상 고르기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11311" y="4224528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안정형은 즉시 확정 쿠폰, 공격형은 내일 가격 예측에 걸고 더 큰 쿠폰에 도전합니다.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사용자 여정 — 구매 의사별 행동 플로우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잠금과 예측은 구매를 미루는 장치가 아니라,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가장 유리한 구매 방식을 보장하는 무기입니다.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구매 의사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111827"/>
                </a:solidFill>
                <a:latin typeface="Noto Sans KR"/>
              </a:rPr>
              <a:t>3유형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즉시 구매 · 가격 확보 · 관망·기대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5559552"/>
            <a:ext cx="2194560" cy="786384"/>
          </a:xfrm>
          <a:prstGeom prst="roundRect">
            <a:avLst>
              <a:gd name="adj" fmla="val 9302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5559552"/>
            <a:ext cx="20116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즉시 구매하기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50" b="0">
                <a:solidFill>
                  <a:srgbClr val="4B5563"/>
                </a:solidFill>
                <a:latin typeface="Noto Sans KR"/>
              </a:rPr>
              <a:t>고민하는 순간 내일 가격이 오를 수 있어요!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35808" y="5559552"/>
            <a:ext cx="2194560" cy="786384"/>
          </a:xfrm>
          <a:prstGeom prst="roundRect">
            <a:avLst>
              <a:gd name="adj" fmla="val 9302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27248" y="5559552"/>
            <a:ext cx="20116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가격 잠그기 (하루 1회)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50" b="0">
                <a:solidFill>
                  <a:srgbClr val="4B5563"/>
                </a:solidFill>
                <a:latin typeface="Noto Sans KR"/>
              </a:rPr>
              <a:t>바쁘다면 일단 잠그세요. 오후에 올라도 이 가격 그대로.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21808" y="5559552"/>
            <a:ext cx="2194560" cy="786384"/>
          </a:xfrm>
          <a:prstGeom prst="roundRect">
            <a:avLst>
              <a:gd name="adj" fmla="val 9302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248" y="5559552"/>
            <a:ext cx="20116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가격 예측하고 5% 쿠폰 받기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50" b="0">
                <a:solidFill>
                  <a:srgbClr val="4B5563"/>
                </a:solidFill>
                <a:latin typeface="Noto Sans KR"/>
              </a:rPr>
              <a:t>예측에 참여하고 최적가에 쿠폰까지 얹어 구매하세요.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고객 상황에 맞는 가장 유리한 구매 방식을 고를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06 / 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965960"/>
            <a:ext cx="1965960" cy="315468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65176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마켓 방문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10896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0">
                <a:solidFill>
                  <a:srgbClr val="4B5563"/>
                </a:solidFill>
                <a:latin typeface="Noto Sans KR"/>
              </a:rPr>
              <a:t>오늘의 가격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38328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2F6FAD"/>
                </a:solidFill>
                <a:latin typeface="Noto Sans KR"/>
              </a:rPr>
              <a:t>4,500원 → 3,200원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2560320" y="2331720"/>
            <a:ext cx="228600" cy="228600"/>
          </a:xfrm>
          <a:prstGeom prst="rightArrow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1965960"/>
            <a:ext cx="3063240" cy="987552"/>
          </a:xfrm>
          <a:prstGeom prst="roundRect">
            <a:avLst>
              <a:gd name="adj" fmla="val 11111"/>
            </a:avLst>
          </a:prstGeom>
          <a:solidFill>
            <a:srgbClr val="E6FAF3"/>
          </a:solidFill>
          <a:ln w="19050">
            <a:solidFill>
              <a:srgbClr val="20C9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71800" y="2039112"/>
            <a:ext cx="2834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87F5B"/>
                </a:solidFill>
                <a:latin typeface="Noto Sans KR"/>
              </a:rPr>
              <a:t>즉시 구매형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050" b="0">
                <a:solidFill>
                  <a:srgbClr val="087F5B"/>
                </a:solidFill>
                <a:latin typeface="Noto Sans KR"/>
              </a:rPr>
              <a:t>이 가격 완벽해!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850" b="0">
                <a:solidFill>
                  <a:srgbClr val="087F5B"/>
                </a:solidFill>
                <a:latin typeface="Noto Sans KR"/>
              </a:rPr>
              <a:t>가격 만족 ○ · 결제 가능 ○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943600" y="2331720"/>
            <a:ext cx="228600" cy="228600"/>
          </a:xfrm>
          <a:prstGeom prst="rightArrow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17920" y="1965960"/>
            <a:ext cx="2743200" cy="987552"/>
          </a:xfrm>
          <a:prstGeom prst="roundRect">
            <a:avLst>
              <a:gd name="adj" fmla="val 11111"/>
            </a:avLst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65960"/>
            <a:ext cx="251460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111827"/>
                </a:solidFill>
                <a:latin typeface="Noto Sans KR"/>
              </a:rPr>
              <a:t>오늘 가격으로 즉시 구매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997696" y="2331720"/>
            <a:ext cx="228600" cy="228600"/>
          </a:xfrm>
          <a:prstGeom prst="rightArrow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281160" y="1965960"/>
            <a:ext cx="2359152" cy="987552"/>
          </a:xfrm>
          <a:prstGeom prst="roundRect">
            <a:avLst>
              <a:gd name="adj" fmla="val 11111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965960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결제 · 오늘가로 즉시 결제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2560320" y="3410712"/>
            <a:ext cx="228600" cy="228600"/>
          </a:xfrm>
          <a:prstGeom prst="rightArrow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34640" y="3044952"/>
            <a:ext cx="3063240" cy="987552"/>
          </a:xfrm>
          <a:prstGeom prst="roundRect">
            <a:avLst>
              <a:gd name="adj" fmla="val 11111"/>
            </a:avLst>
          </a:prstGeom>
          <a:solidFill>
            <a:srgbClr val="FFF1E0"/>
          </a:solidFill>
          <a:ln w="19050">
            <a:solidFill>
              <a:srgbClr val="FF9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71800" y="3118104"/>
            <a:ext cx="2834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B8470D"/>
                </a:solidFill>
                <a:latin typeface="Noto Sans KR"/>
              </a:rPr>
              <a:t>가격 확보형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050" b="0">
                <a:solidFill>
                  <a:srgbClr val="B8470D"/>
                </a:solidFill>
                <a:latin typeface="Noto Sans KR"/>
              </a:rPr>
              <a:t>가격은 좋은데 결제는 이따가!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850" b="0">
                <a:solidFill>
                  <a:srgbClr val="B8470D"/>
                </a:solidFill>
                <a:latin typeface="Noto Sans KR"/>
              </a:rPr>
              <a:t>가격 만족 ○ · 결제 보류 ×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943600" y="3410712"/>
            <a:ext cx="228600" cy="228600"/>
          </a:xfrm>
          <a:prstGeom prst="rightArrow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0" y="3044952"/>
            <a:ext cx="2743200" cy="987552"/>
          </a:xfrm>
          <a:prstGeom prst="roundRect">
            <a:avLst>
              <a:gd name="adj" fmla="val 11111"/>
            </a:avLst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3044952"/>
            <a:ext cx="251460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111827"/>
                </a:solidFill>
                <a:latin typeface="Noto Sans KR"/>
              </a:rPr>
              <a:t>오전가 잠금 후 이따가 구매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997696" y="3410712"/>
            <a:ext cx="228600" cy="228600"/>
          </a:xfrm>
          <a:prstGeom prst="rightArrow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281160" y="3044952"/>
            <a:ext cx="2359152" cy="987552"/>
          </a:xfrm>
          <a:prstGeom prst="roundRect">
            <a:avLst>
              <a:gd name="adj" fmla="val 11111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18320" y="3044952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결제 · 오후에 올라도 잠근 가격으로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2560320" y="4489704"/>
            <a:ext cx="228600" cy="228600"/>
          </a:xfrm>
          <a:prstGeom prst="rightArrow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834640" y="4123944"/>
            <a:ext cx="3063240" cy="987552"/>
          </a:xfrm>
          <a:prstGeom prst="roundRect">
            <a:avLst>
              <a:gd name="adj" fmla="val 11111"/>
            </a:avLst>
          </a:prstGeom>
          <a:solidFill>
            <a:srgbClr val="E6F3FF"/>
          </a:solidFill>
          <a:ln w="19050">
            <a:solidFill>
              <a:srgbClr val="339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71800" y="4197096"/>
            <a:ext cx="2834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864AB"/>
                </a:solidFill>
                <a:latin typeface="Noto Sans KR"/>
              </a:rPr>
              <a:t>관망·기대형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050" b="0">
                <a:solidFill>
                  <a:srgbClr val="1864AB"/>
                </a:solidFill>
                <a:latin typeface="Noto Sans KR"/>
              </a:rPr>
              <a:t>오후장에 더 싸지면 살래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850" b="0">
                <a:solidFill>
                  <a:srgbClr val="1864AB"/>
                </a:solidFill>
                <a:latin typeface="Noto Sans KR"/>
              </a:rPr>
              <a:t>가격 관망 × · 결제 보류 ×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943600" y="4489704"/>
            <a:ext cx="228600" cy="228600"/>
          </a:xfrm>
          <a:prstGeom prst="rightArrow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217920" y="4123944"/>
            <a:ext cx="2743200" cy="987552"/>
          </a:xfrm>
          <a:prstGeom prst="roundRect">
            <a:avLst>
              <a:gd name="adj" fmla="val 11111"/>
            </a:avLst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123944"/>
            <a:ext cx="251460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111827"/>
                </a:solidFill>
                <a:latin typeface="Noto Sans KR"/>
              </a:rPr>
              <a:t>내일 가격 예측 참여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8997696" y="4489704"/>
            <a:ext cx="228600" cy="228600"/>
          </a:xfrm>
          <a:prstGeom prst="rightArrow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281160" y="4123944"/>
            <a:ext cx="2359152" cy="987552"/>
          </a:xfrm>
          <a:prstGeom prst="roundRect">
            <a:avLst>
              <a:gd name="adj" fmla="val 11111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8320" y="412394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결제 · 도달 시 쿠폰 적용, 최적가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가격 결정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하루 세 구간, 두 개의 신호.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가격은 공개된 산식으로만 움직입니다.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최대 할인율 (상한)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11827"/>
                </a:solidFill>
                <a:latin typeface="Noto Sans KR"/>
              </a:rPr>
              <a:t>≤ 38%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0% 이상 · 잠금·예측 쿠폰을 합쳐도 38% 이내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5468112"/>
            <a:ext cx="1399031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9CA3AF"/>
                </a:solidFill>
                <a:latin typeface="Noto Sans KR"/>
              </a:rPr>
              <a:t>정가 · 6종 (원)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3432" y="5468112"/>
            <a:ext cx="75895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9CA3AF"/>
                </a:solidFill>
                <a:latin typeface="Noto Sans KR"/>
              </a:rPr>
              <a:t>모닝롤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5468112"/>
            <a:ext cx="85039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9CA3AF"/>
                </a:solidFill>
                <a:latin typeface="Noto Sans KR"/>
              </a:rPr>
              <a:t>테트리스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231" y="5468112"/>
            <a:ext cx="71323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9CA3AF"/>
                </a:solidFill>
                <a:latin typeface="Noto Sans KR"/>
              </a:rPr>
              <a:t>머핀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192" y="5468112"/>
            <a:ext cx="71323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9CA3AF"/>
                </a:solidFill>
                <a:latin typeface="Noto Sans KR"/>
              </a:rPr>
              <a:t>스콘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8152" y="5468112"/>
            <a:ext cx="80467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9CA3AF"/>
                </a:solidFill>
                <a:latin typeface="Noto Sans KR"/>
              </a:rPr>
              <a:t>휘낭시에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2552" y="5468112"/>
            <a:ext cx="66751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9CA3AF"/>
                </a:solidFill>
                <a:latin typeface="Noto Sans KR"/>
              </a:rPr>
              <a:t>냉동생지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5671108"/>
            <a:ext cx="6675119" cy="0"/>
          </a:xfrm>
          <a:prstGeom prst="line">
            <a:avLst/>
          </a:prstGeom>
          <a:ln w="15875">
            <a:solidFill>
              <a:srgbClr val="1118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4671" y="5671108"/>
            <a:ext cx="1399031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정가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3432" y="5671108"/>
            <a:ext cx="75895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4,500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5671108"/>
            <a:ext cx="85039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11,000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2231" y="5671108"/>
            <a:ext cx="71323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1,500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5671108"/>
            <a:ext cx="71323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3,800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8152" y="5671108"/>
            <a:ext cx="80467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3,800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2552" y="5671108"/>
            <a:ext cx="66751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21,000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9808" y="5874105"/>
            <a:ext cx="6675119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49808" y="5874105"/>
            <a:ext cx="6675120" cy="202996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1" y="5874105"/>
            <a:ext cx="1399031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평균 할인(15%)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3432" y="5874105"/>
            <a:ext cx="75895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3,830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82112" y="5874105"/>
            <a:ext cx="85039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9,350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42231" y="5874105"/>
            <a:ext cx="71323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1,280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5192" y="5874105"/>
            <a:ext cx="71323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3,230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88152" y="5874105"/>
            <a:ext cx="80467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3,230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2552" y="5874105"/>
            <a:ext cx="66751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17,850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9808" y="6077102"/>
            <a:ext cx="6675119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4671" y="6077102"/>
            <a:ext cx="1399031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최대 할인(38%)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13432" y="6077102"/>
            <a:ext cx="75895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2,790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82112" y="6077102"/>
            <a:ext cx="85039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6,820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42231" y="6077102"/>
            <a:ext cx="71323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930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65192" y="6077102"/>
            <a:ext cx="71323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2,360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88152" y="6077102"/>
            <a:ext cx="80467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2,360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02552" y="6077102"/>
            <a:ext cx="66751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111827"/>
                </a:solidFill>
                <a:latin typeface="Noto Sans KR"/>
              </a:rPr>
              <a:t>13,020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49808" y="6280099"/>
            <a:ext cx="6675119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산식은 공개하고, 정가를 넘지 않으며, 상한은 38%로 고정합니다.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07 / 15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1965960"/>
            <a:ext cx="4566666" cy="713232"/>
          </a:xfrm>
          <a:prstGeom prst="roundRect">
            <a:avLst>
              <a:gd name="adj" fmla="val 15384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2011680"/>
            <a:ext cx="429234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오전장  06:00 ~ 15:59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2304288"/>
            <a:ext cx="429234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FFFFFF"/>
                </a:solidFill>
                <a:latin typeface="Noto Sans KR"/>
              </a:rPr>
              <a:t>전일 종가 기준 · 잠금 가능 · 예측 참여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70170" y="1965960"/>
            <a:ext cx="4566666" cy="713232"/>
          </a:xfrm>
          <a:prstGeom prst="roundRect">
            <a:avLst>
              <a:gd name="adj" fmla="val 15384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53050" y="2011680"/>
            <a:ext cx="429234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오후장  16:00 ~ 익일 01:59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53050" y="2304288"/>
            <a:ext cx="429234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FFFFFF"/>
                </a:solidFill>
                <a:latin typeface="Noto Sans KR"/>
              </a:rPr>
              <a:t>당일 시가 기준 · 잠금 정산 · 예측 판정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91700" y="1965960"/>
            <a:ext cx="1793747" cy="713232"/>
          </a:xfrm>
          <a:prstGeom prst="roundRect">
            <a:avLst>
              <a:gd name="adj" fmla="val 15384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74580" y="2011680"/>
            <a:ext cx="15194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정가 02:00~05:59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74580" y="2304288"/>
            <a:ext cx="15194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할인 없음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2852928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31520" y="3017520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1520" y="301752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2F6FAD"/>
                </a:solidFill>
                <a:latin typeface="Noto Sans KR"/>
              </a:rPr>
              <a:t>수요 신호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33832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11827"/>
                </a:solidFill>
                <a:latin typeface="Noto Sans KR"/>
              </a:rPr>
              <a:t>검색지수 × 0.15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402336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0~15% 할인. 많이 찾는 빵에 할인을 더해 첫 구매를 끌어옵니다.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46704" y="2852928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529584" y="3017520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29584" y="301752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7A5B00"/>
                </a:solidFill>
                <a:latin typeface="Noto Sans KR"/>
              </a:rPr>
              <a:t>원가 신호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29584" y="33832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11827"/>
                </a:solidFill>
                <a:latin typeface="Noto Sans KR"/>
              </a:rPr>
              <a:t>환율 (원/달러)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29584" y="402336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내리면 하락률×14 전부 환원(최대 +28%), 오르면 ×7 절반만 반영합니다.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44768" y="2852928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327648" y="3017520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27648" y="301752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0B6F55"/>
                </a:solidFill>
                <a:latin typeface="Noto Sans KR"/>
              </a:rPr>
              <a:t>안전장치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7648" y="33832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11827"/>
                </a:solidFill>
                <a:latin typeface="Noto Sans KR"/>
              </a:rPr>
              <a:t>0% ~ 38% 고정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2336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정가를 넘지 않고, 잠금·예측 쿠폰을 합쳐도 38% 이내입니다.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942832" y="2852928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125711" y="3017520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25711" y="301752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FFFFFF"/>
                </a:solidFill>
                <a:latin typeface="Noto Sans KR"/>
              </a:rPr>
              <a:t>총 할인율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25711" y="33832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Noto Sans KR"/>
              </a:rPr>
              <a:t>= clamp(검색 + 환율, 0, 38)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25711" y="402336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D5DBE8"/>
                </a:solidFill>
                <a:latin typeface="Noto Sans KR"/>
              </a:rPr>
              <a:t>판매가 = 정가 × (1 − 총 할인율), 10원 단위 반올림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할인율 분포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세션의 84%가 할인 20% 미만이고,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25% 이상 큰 할인은 3.8%뿐입니다.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평균 할인율 (91일 · 182세션)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11827"/>
                </a:solidFill>
                <a:latin typeface="Noto Sans KR"/>
              </a:rPr>
              <a:t>15.0%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2026.06.12 ~ 09.10 · 중앙값 13.5%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559552"/>
            <a:ext cx="15773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15.8%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943600"/>
            <a:ext cx="15590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오전장 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8588" y="5559552"/>
            <a:ext cx="15773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14.2%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8588" y="5943600"/>
            <a:ext cx="15590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오후장 평균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368" y="5559552"/>
            <a:ext cx="15773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4.6 ~ 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8" y="5943600"/>
            <a:ext cx="15590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최저 ~ 최고(상한)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6148" y="5559552"/>
            <a:ext cx="15773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6148" y="5943600"/>
            <a:ext cx="15590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25% 이상 세션 (7/182)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대부분의 세션은 얕은 할인이고, 깊은 할인은 드물게만 나옵니다.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9CA3AF"/>
                </a:solidFill>
                <a:latin typeface="Noto Sans KR"/>
              </a:rPr>
              <a:t>실제 가격 엔진(v1.0)에 한국은행 ECOS 원/달러 시가·종가와 일별 검색지수를 넣은 재현값 · 세션 = 하루 2회 × 91일 · 25% 이상 7세션 중 6세션은 38% 상한 · 검색지수는 6종 합산 단일 시계열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08 / 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1965960"/>
            <a:ext cx="6172200" cy="3154680"/>
          </a:xfrm>
          <a:prstGeom prst="roundRect">
            <a:avLst>
              <a:gd name="adj" fmla="val 405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084831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구간별 세션 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21214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4087C7"/>
                </a:solidFill>
                <a:latin typeface="Noto Sans KR"/>
              </a:rPr>
              <a:t>■ 오전장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212140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FF7A45"/>
                </a:solidFill>
                <a:latin typeface="Noto Sans KR"/>
              </a:rPr>
              <a:t>■ 오후장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531360"/>
            <a:ext cx="292608" cy="40640"/>
          </a:xfrm>
          <a:prstGeom prst="roundRect">
            <a:avLst>
              <a:gd name="adj" fmla="val 50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11904"/>
            <a:ext cx="475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97864" y="4531360"/>
            <a:ext cx="292608" cy="40640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6424" y="4311904"/>
            <a:ext cx="475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19" y="4645152"/>
            <a:ext cx="960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111827"/>
                </a:solidFill>
                <a:latin typeface="Noto Sans KR"/>
              </a:rPr>
              <a:t>5% 미만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10512" y="4206240"/>
            <a:ext cx="292608" cy="365760"/>
          </a:xfrm>
          <a:prstGeom prst="roundRect">
            <a:avLst>
              <a:gd name="adj" fmla="val 125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9072" y="3986783"/>
            <a:ext cx="475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39696" y="3840480"/>
            <a:ext cx="292608" cy="731520"/>
          </a:xfrm>
          <a:prstGeom prst="roundRect">
            <a:avLst>
              <a:gd name="adj" fmla="val 125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48255" y="3621024"/>
            <a:ext cx="475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73352" y="4645152"/>
            <a:ext cx="960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111827"/>
                </a:solidFill>
                <a:latin typeface="Noto Sans KR"/>
              </a:rPr>
              <a:t>5~10%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52344" y="3068320"/>
            <a:ext cx="292608" cy="1503680"/>
          </a:xfrm>
          <a:prstGeom prst="roundRect">
            <a:avLst>
              <a:gd name="adj" fmla="val 125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60903" y="2848864"/>
            <a:ext cx="475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37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81527" y="2946400"/>
            <a:ext cx="292608" cy="1625600"/>
          </a:xfrm>
          <a:prstGeom prst="roundRect">
            <a:avLst>
              <a:gd name="adj" fmla="val 125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90087" y="2726944"/>
            <a:ext cx="475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15184" y="4645152"/>
            <a:ext cx="960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111827"/>
                </a:solidFill>
                <a:latin typeface="Noto Sans KR"/>
              </a:rPr>
              <a:t>10~15%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94176" y="3556000"/>
            <a:ext cx="292608" cy="1016000"/>
          </a:xfrm>
          <a:prstGeom prst="roundRect">
            <a:avLst>
              <a:gd name="adj" fmla="val 125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02736" y="3336544"/>
            <a:ext cx="475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25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23360" y="3677920"/>
            <a:ext cx="292608" cy="894080"/>
          </a:xfrm>
          <a:prstGeom prst="roundRect">
            <a:avLst>
              <a:gd name="adj" fmla="val 125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0" y="3458463"/>
            <a:ext cx="475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57016" y="4645152"/>
            <a:ext cx="960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111827"/>
                </a:solidFill>
                <a:latin typeface="Noto Sans KR"/>
              </a:rPr>
              <a:t>15~20%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36008" y="4003040"/>
            <a:ext cx="292608" cy="568960"/>
          </a:xfrm>
          <a:prstGeom prst="roundRect">
            <a:avLst>
              <a:gd name="adj" fmla="val 125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44568" y="3783584"/>
            <a:ext cx="475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14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65192" y="4246880"/>
            <a:ext cx="292608" cy="325120"/>
          </a:xfrm>
          <a:prstGeom prst="roundRect">
            <a:avLst>
              <a:gd name="adj" fmla="val 125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73752" y="4027424"/>
            <a:ext cx="475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98848" y="4645152"/>
            <a:ext cx="960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111827"/>
                </a:solidFill>
                <a:latin typeface="Noto Sans KR"/>
              </a:rPr>
              <a:t>20~25%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577840" y="4368800"/>
            <a:ext cx="292608" cy="203200"/>
          </a:xfrm>
          <a:prstGeom prst="roundRect">
            <a:avLst>
              <a:gd name="adj" fmla="val 180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4149343"/>
            <a:ext cx="475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907024" y="4490720"/>
            <a:ext cx="292608" cy="81280"/>
          </a:xfrm>
          <a:prstGeom prst="roundRect">
            <a:avLst>
              <a:gd name="adj" fmla="val 45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815584" y="4271264"/>
            <a:ext cx="4754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111827"/>
                </a:solidFill>
                <a:latin typeface="Noto Sans KR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40680" y="4645152"/>
            <a:ext cx="960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111827"/>
                </a:solidFill>
                <a:latin typeface="Noto Sans KR"/>
              </a:rPr>
              <a:t>25% 이상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77240" y="4572000"/>
            <a:ext cx="5760720" cy="0"/>
          </a:xfrm>
          <a:prstGeom prst="line">
            <a:avLst/>
          </a:prstGeom>
          <a:ln w="190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903720" y="1965960"/>
            <a:ext cx="4736592" cy="3154680"/>
          </a:xfrm>
          <a:prstGeom prst="roundRect">
            <a:avLst>
              <a:gd name="adj" fmla="val 405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95744" y="2103120"/>
            <a:ext cx="804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구간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10144" y="210312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오전장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95944" y="210312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오후장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81744" y="2103120"/>
            <a:ext cx="5303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합계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21824" y="210312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비율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07624" y="210312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누적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040880" y="2468879"/>
            <a:ext cx="4297680" cy="0"/>
          </a:xfrm>
          <a:prstGeom prst="line">
            <a:avLst/>
          </a:prstGeom>
          <a:ln w="15875">
            <a:solidFill>
              <a:srgbClr val="1118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095744" y="2468879"/>
            <a:ext cx="804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5% 미만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10144" y="246887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95944" y="246887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81744" y="2468879"/>
            <a:ext cx="5303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21824" y="246887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707624" y="246887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1.1%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40880" y="2834639"/>
            <a:ext cx="429768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95744" y="2834639"/>
            <a:ext cx="804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5~10%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10144" y="283463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95944" y="283463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81744" y="2834639"/>
            <a:ext cx="5303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27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21824" y="283463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14.8%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07624" y="283463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15.9%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7040880" y="3200399"/>
            <a:ext cx="429768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7040880" y="3200399"/>
            <a:ext cx="4297680" cy="36576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095744" y="3200399"/>
            <a:ext cx="804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10~15%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10144" y="320039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37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695944" y="320039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40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81744" y="3200399"/>
            <a:ext cx="5303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77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21824" y="320039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42.3%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707624" y="320039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58.2%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7040880" y="3566159"/>
            <a:ext cx="429768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7095744" y="3566159"/>
            <a:ext cx="804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15~20%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10144" y="356615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95944" y="356615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22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81744" y="3566159"/>
            <a:ext cx="5303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47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21824" y="356615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25.8%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07624" y="3566159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84.1%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7040880" y="3931920"/>
            <a:ext cx="429768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7095744" y="3931920"/>
            <a:ext cx="804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20~25%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10144" y="393192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95944" y="393192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381744" y="3931920"/>
            <a:ext cx="5303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22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021824" y="393192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12.1%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707624" y="393192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96.2%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7040880" y="4297680"/>
            <a:ext cx="429768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7095744" y="4297680"/>
            <a:ext cx="804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25% 이상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010144" y="429768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695944" y="429768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381744" y="4297680"/>
            <a:ext cx="5303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21824" y="429768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3.8%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07624" y="429768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100.0%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40880" y="4663440"/>
            <a:ext cx="429768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7095744" y="4663440"/>
            <a:ext cx="8046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합계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10144" y="466344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91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95944" y="466344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91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381744" y="4663440"/>
            <a:ext cx="5303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182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21824" y="466344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100%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707624" y="4663440"/>
            <a:ext cx="5760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/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7040880" y="5029200"/>
            <a:ext cx="429768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마진율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할인은 대부분 얕은 구간에 몰려 있고,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깊은 할인은 상한 38%에서 멈춥니다.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최악 세션(38%)의 마진율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11827"/>
                </a:solidFill>
                <a:latin typeface="Noto Sans KR"/>
              </a:rPr>
              <a:t>+3.2%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정가 마진 40% 가정 · 마진 50%면 19.4%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5468112"/>
            <a:ext cx="1993391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>
                <a:solidFill>
                  <a:srgbClr val="9CA3AF"/>
                </a:solidFill>
                <a:latin typeface="Noto Sans KR"/>
              </a:rPr>
              <a:t>정가 마진 가정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5468112"/>
            <a:ext cx="158191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1">
                <a:solidFill>
                  <a:srgbClr val="9CA3AF"/>
                </a:solidFill>
                <a:latin typeface="Noto Sans KR"/>
              </a:rPr>
              <a:t>평균 할인 15%일 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5468112"/>
            <a:ext cx="158191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1">
                <a:solidFill>
                  <a:srgbClr val="9CA3AF"/>
                </a:solidFill>
                <a:latin typeface="Noto Sans KR"/>
              </a:rPr>
              <a:t>최악 38%일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5468112"/>
            <a:ext cx="149047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1">
                <a:solidFill>
                  <a:srgbClr val="9CA3AF"/>
                </a:solidFill>
                <a:latin typeface="Noto Sans KR"/>
              </a:rPr>
              <a:t>손익분기 판매량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9808" y="5671108"/>
            <a:ext cx="7086600" cy="0"/>
          </a:xfrm>
          <a:prstGeom prst="line">
            <a:avLst/>
          </a:prstGeom>
          <a:ln w="15875">
            <a:solidFill>
              <a:srgbClr val="1118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4671" y="5671108"/>
            <a:ext cx="1993391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111827"/>
                </a:solidFill>
                <a:latin typeface="Noto Sans KR"/>
              </a:rPr>
              <a:t>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1" y="5671108"/>
            <a:ext cx="158191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111827"/>
                </a:solidFill>
                <a:latin typeface="Noto Sans KR"/>
              </a:rPr>
              <a:t>29.4%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1" y="5671108"/>
            <a:ext cx="158191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111827"/>
                </a:solidFill>
                <a:latin typeface="Noto Sans KR"/>
              </a:rPr>
              <a:t>3.2%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5671108"/>
            <a:ext cx="149047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111827"/>
                </a:solidFill>
                <a:latin typeface="Noto Sans KR"/>
              </a:rPr>
              <a:t>+60%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9808" y="5874105"/>
            <a:ext cx="708660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49808" y="5874105"/>
            <a:ext cx="7086600" cy="202996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" y="5874105"/>
            <a:ext cx="1993391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111827"/>
                </a:solidFill>
                <a:latin typeface="Noto Sans KR"/>
              </a:rPr>
              <a:t>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7791" y="5874105"/>
            <a:ext cx="158191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111827"/>
                </a:solidFill>
                <a:latin typeface="Noto Sans KR"/>
              </a:rPr>
              <a:t>41.2%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1" y="5874105"/>
            <a:ext cx="158191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111827"/>
                </a:solidFill>
                <a:latin typeface="Noto Sans KR"/>
              </a:rPr>
              <a:t>19.4%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5874105"/>
            <a:ext cx="149047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111827"/>
                </a:solidFill>
                <a:latin typeface="Noto Sans KR"/>
              </a:rPr>
              <a:t>+43%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9808" y="6077102"/>
            <a:ext cx="708660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4671" y="6077102"/>
            <a:ext cx="1993391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111827"/>
                </a:solidFill>
                <a:latin typeface="Noto Sans KR"/>
              </a:rPr>
              <a:t>60%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07791" y="6077102"/>
            <a:ext cx="158191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111827"/>
                </a:solidFill>
                <a:latin typeface="Noto Sans KR"/>
              </a:rPr>
              <a:t>52.9%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1" y="6077102"/>
            <a:ext cx="158191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111827"/>
                </a:solidFill>
                <a:latin typeface="Noto Sans KR"/>
              </a:rPr>
              <a:t>35.5%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6077102"/>
            <a:ext cx="1490472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111827"/>
                </a:solidFill>
                <a:latin typeface="Noto Sans KR"/>
              </a:rPr>
              <a:t>+33%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49808" y="6280099"/>
            <a:ext cx="708660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정가 마진이 40% 이상이면 가장 깊은 할인 세션에서도 적자가 나지 않습니다.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9CA3AF"/>
                </a:solidFill>
                <a:latin typeface="Noto Sans KR"/>
              </a:rPr>
              <a:t>※ 실제 원가·마진 자료가 없어 정가 마진율 40/50/60%를 가정한 시나리오 (마진율 = (판매가 − 원가) ÷ 판매가, 원가는 정가 기준 고정) · 손익분기 판매량 = 할인율 ÷ (마진율 − 할인율)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09 / 15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1965960"/>
            <a:ext cx="6583680" cy="3154680"/>
          </a:xfrm>
          <a:prstGeom prst="roundRect">
            <a:avLst>
              <a:gd name="adj" fmla="val 405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2084831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할인율별 남는 마진율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212140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10A37F"/>
                </a:solidFill>
                <a:latin typeface="Noto Sans KR"/>
              </a:rPr>
              <a:t>■ 60%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212140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4087C7"/>
                </a:solidFill>
                <a:latin typeface="Noto Sans KR"/>
              </a:rPr>
              <a:t>■ 50%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0" y="21214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FF7A45"/>
                </a:solidFill>
                <a:latin typeface="Noto Sans KR"/>
              </a:rPr>
              <a:t>■ 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440" y="2514600"/>
            <a:ext cx="2788920" cy="21488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2532888"/>
            <a:ext cx="2788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2F6FAD"/>
                </a:solidFill>
                <a:latin typeface="Noto Sans KR"/>
              </a:rPr>
              <a:t>세션의 84%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234440" y="4663440"/>
            <a:ext cx="5577839" cy="0"/>
          </a:xfrm>
          <a:prstGeom prst="line">
            <a:avLst/>
          </a:prstGeom>
          <a:ln w="952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7240" y="457200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9CA3AF"/>
                </a:solidFill>
                <a:latin typeface="Noto Sans KR"/>
              </a:rPr>
              <a:t>0%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234440" y="4049485"/>
            <a:ext cx="5577839" cy="0"/>
          </a:xfrm>
          <a:prstGeom prst="line">
            <a:avLst/>
          </a:prstGeom>
          <a:ln w="952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77240" y="395804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9CA3AF"/>
                </a:solidFill>
                <a:latin typeface="Noto Sans KR"/>
              </a:rPr>
              <a:t>20%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234440" y="3435531"/>
            <a:ext cx="5577839" cy="0"/>
          </a:xfrm>
          <a:prstGeom prst="line">
            <a:avLst/>
          </a:prstGeom>
          <a:ln w="952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77240" y="334409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9CA3AF"/>
                </a:solidFill>
                <a:latin typeface="Noto Sans KR"/>
              </a:rPr>
              <a:t>40%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234440" y="2821577"/>
            <a:ext cx="5577839" cy="0"/>
          </a:xfrm>
          <a:prstGeom prst="line">
            <a:avLst/>
          </a:prstGeom>
          <a:ln w="952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77240" y="2730137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0">
                <a:solidFill>
                  <a:srgbClr val="9CA3AF"/>
                </a:solidFill>
                <a:latin typeface="Noto Sans KR"/>
              </a:rPr>
              <a:t>60%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09159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0">
                <a:solidFill>
                  <a:srgbClr val="9CA3AF"/>
                </a:solidFill>
                <a:latin typeface="Noto Sans KR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54580" y="4709159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0">
                <a:solidFill>
                  <a:srgbClr val="9CA3AF"/>
                </a:solidFill>
                <a:latin typeface="Noto Sans KR"/>
              </a:rPr>
              <a:t>10%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49040" y="4709159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0">
                <a:solidFill>
                  <a:srgbClr val="9CA3AF"/>
                </a:solidFill>
                <a:latin typeface="Noto Sans KR"/>
              </a:rPr>
              <a:t>20%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43499" y="4709159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0">
                <a:solidFill>
                  <a:srgbClr val="9CA3AF"/>
                </a:solidFill>
                <a:latin typeface="Noto Sans KR"/>
              </a:rPr>
              <a:t>30%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0468" y="470915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할인율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33388" y="2514600"/>
            <a:ext cx="0" cy="2148840"/>
          </a:xfrm>
          <a:prstGeom prst="line">
            <a:avLst/>
          </a:prstGeom>
          <a:ln w="12700">
            <a:solidFill>
              <a:srgbClr val="FF7A4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618988" y="2532888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FF7A45"/>
                </a:solidFill>
                <a:latin typeface="Noto Sans KR"/>
              </a:rPr>
              <a:t>상한 38%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234440" y="2821577"/>
            <a:ext cx="278892" cy="25059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513332" y="2846636"/>
            <a:ext cx="278892" cy="26104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92224" y="2872740"/>
            <a:ext cx="278892" cy="27214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071116" y="2899954"/>
            <a:ext cx="278892" cy="28397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350008" y="2928351"/>
            <a:ext cx="278892" cy="29660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28900" y="2958011"/>
            <a:ext cx="278891" cy="31008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07791" y="2989019"/>
            <a:ext cx="278893" cy="32450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186684" y="3021469"/>
            <a:ext cx="278892" cy="33995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465576" y="3055464"/>
            <a:ext cx="278892" cy="35654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744468" y="3091118"/>
            <a:ext cx="278892" cy="37436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023360" y="3128554"/>
            <a:ext cx="278892" cy="39356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302252" y="3167910"/>
            <a:ext cx="278892" cy="41427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581144" y="3209337"/>
            <a:ext cx="278892" cy="43667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860036" y="3253004"/>
            <a:ext cx="278891" cy="46093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5138927" y="3299097"/>
            <a:ext cx="278892" cy="48726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417819" y="3347823"/>
            <a:ext cx="278893" cy="51593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5696712" y="3399416"/>
            <a:ext cx="278892" cy="54720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975604" y="3454136"/>
            <a:ext cx="278892" cy="58139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254496" y="3512275"/>
            <a:ext cx="278892" cy="61891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533388" y="3574166"/>
            <a:ext cx="0" cy="0"/>
          </a:xfrm>
          <a:prstGeom prst="line">
            <a:avLst/>
          </a:prstGeom>
          <a:ln w="31750">
            <a:solidFill>
              <a:srgbClr val="10A3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3271265" y="2983402"/>
            <a:ext cx="109728" cy="109728"/>
          </a:xfrm>
          <a:prstGeom prst="ellipse">
            <a:avLst/>
          </a:prstGeom>
          <a:solidFill>
            <a:srgbClr val="FFFFFF"/>
          </a:solidFill>
          <a:ln>
            <a:solidFill>
              <a:srgbClr val="10A3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99282" y="280052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52.9%</a:t>
            </a:r>
          </a:p>
        </p:txBody>
      </p:sp>
      <p:sp>
        <p:nvSpPr>
          <p:cNvPr id="80" name="Oval 79"/>
          <p:cNvSpPr/>
          <p:nvPr/>
        </p:nvSpPr>
        <p:spPr>
          <a:xfrm>
            <a:off x="6478524" y="3519302"/>
            <a:ext cx="109728" cy="109728"/>
          </a:xfrm>
          <a:prstGeom prst="ellipse">
            <a:avLst/>
          </a:prstGeom>
          <a:solidFill>
            <a:srgbClr val="10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875020" y="3354710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35.5%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234440" y="3128554"/>
            <a:ext cx="278892" cy="31324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513332" y="3159878"/>
            <a:ext cx="278892" cy="32629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792224" y="3192507"/>
            <a:ext cx="278892" cy="34018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071116" y="3226525"/>
            <a:ext cx="278892" cy="35497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350008" y="3262022"/>
            <a:ext cx="278892" cy="37075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628900" y="3299097"/>
            <a:ext cx="278891" cy="38759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907791" y="3337856"/>
            <a:ext cx="278893" cy="40563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186684" y="3378419"/>
            <a:ext cx="278892" cy="42494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465576" y="3420913"/>
            <a:ext cx="278892" cy="44567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744468" y="3465480"/>
            <a:ext cx="278892" cy="46795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4023360" y="3512275"/>
            <a:ext cx="278892" cy="49195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302252" y="3561470"/>
            <a:ext cx="278892" cy="51785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581144" y="3613255"/>
            <a:ext cx="278892" cy="54583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4860036" y="3667838"/>
            <a:ext cx="278891" cy="57616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138927" y="3725454"/>
            <a:ext cx="278892" cy="60908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417819" y="3786362"/>
            <a:ext cx="278893" cy="64491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5696712" y="3850853"/>
            <a:ext cx="278892" cy="68399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975604" y="3919252"/>
            <a:ext cx="278892" cy="72675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6254496" y="3991927"/>
            <a:ext cx="278892" cy="77363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6533388" y="4069290"/>
            <a:ext cx="0" cy="0"/>
          </a:xfrm>
          <a:prstGeom prst="line">
            <a:avLst/>
          </a:prstGeom>
          <a:ln w="31750">
            <a:solidFill>
              <a:srgbClr val="4087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3271265" y="3344552"/>
            <a:ext cx="109728" cy="109728"/>
          </a:xfrm>
          <a:prstGeom prst="ellipse">
            <a:avLst/>
          </a:prstGeom>
          <a:solidFill>
            <a:srgbClr val="FFFFFF"/>
          </a:solidFill>
          <a:ln>
            <a:solidFill>
              <a:srgbClr val="408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399282" y="31616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41.2%</a:t>
            </a:r>
          </a:p>
        </p:txBody>
      </p:sp>
      <p:sp>
        <p:nvSpPr>
          <p:cNvPr id="104" name="Oval 103"/>
          <p:cNvSpPr/>
          <p:nvPr/>
        </p:nvSpPr>
        <p:spPr>
          <a:xfrm>
            <a:off x="6478524" y="4014426"/>
            <a:ext cx="109728" cy="109728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875020" y="384983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19.4%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234440" y="3435531"/>
            <a:ext cx="278892" cy="37589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513332" y="3473120"/>
            <a:ext cx="278892" cy="39155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792224" y="3512275"/>
            <a:ext cx="278892" cy="40822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071116" y="3553097"/>
            <a:ext cx="278892" cy="42596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350008" y="3595693"/>
            <a:ext cx="278892" cy="44489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628900" y="3640182"/>
            <a:ext cx="278891" cy="46512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907791" y="3686694"/>
            <a:ext cx="278893" cy="48675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186684" y="3735369"/>
            <a:ext cx="278892" cy="50993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465576" y="3786362"/>
            <a:ext cx="278892" cy="53480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744468" y="3839842"/>
            <a:ext cx="278892" cy="56155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023360" y="3895997"/>
            <a:ext cx="278892" cy="59034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302252" y="3955031"/>
            <a:ext cx="278892" cy="62141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581144" y="4017172"/>
            <a:ext cx="278892" cy="65500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4860036" y="4082672"/>
            <a:ext cx="278891" cy="69139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5138927" y="4151811"/>
            <a:ext cx="278892" cy="73090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417819" y="4224901"/>
            <a:ext cx="278893" cy="77389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5696712" y="4302290"/>
            <a:ext cx="278892" cy="82079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5975604" y="4384369"/>
            <a:ext cx="278892" cy="87210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6254496" y="4471579"/>
            <a:ext cx="278892" cy="92836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6533388" y="4564415"/>
            <a:ext cx="0" cy="0"/>
          </a:xfrm>
          <a:prstGeom prst="line">
            <a:avLst/>
          </a:prstGeom>
          <a:ln w="31750">
            <a:solidFill>
              <a:srgbClr val="FF7A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3271265" y="3705702"/>
            <a:ext cx="109728" cy="109728"/>
          </a:xfrm>
          <a:prstGeom prst="ellipse">
            <a:avLst/>
          </a:prstGeom>
          <a:solidFill>
            <a:srgbClr val="FFFFFF"/>
          </a:solidFill>
          <a:ln>
            <a:solidFill>
              <a:srgbClr val="FF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399282" y="352282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29.4%</a:t>
            </a:r>
          </a:p>
        </p:txBody>
      </p:sp>
      <p:sp>
        <p:nvSpPr>
          <p:cNvPr id="128" name="Oval 127"/>
          <p:cNvSpPr/>
          <p:nvPr/>
        </p:nvSpPr>
        <p:spPr>
          <a:xfrm>
            <a:off x="6478524" y="4509551"/>
            <a:ext cx="109728" cy="109728"/>
          </a:xfrm>
          <a:prstGeom prst="ellipse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875020" y="4344959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111827"/>
                </a:solidFill>
                <a:latin typeface="Noto Sans KR"/>
              </a:rPr>
              <a:t>3.2%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315200" y="1965960"/>
            <a:ext cx="4325112" cy="996696"/>
          </a:xfrm>
          <a:prstGeom prst="roundRect">
            <a:avLst>
              <a:gd name="adj" fmla="val 12844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7498079" y="2075688"/>
            <a:ext cx="105156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498079" y="2075688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111827"/>
                </a:solidFill>
                <a:latin typeface="Noto Sans KR"/>
              </a:rPr>
              <a:t>방어 ① 분포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498079" y="23317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84%가 20% 미만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98079" y="26243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D5DBE8"/>
                </a:solidFill>
                <a:latin typeface="Noto Sans KR"/>
              </a:rPr>
              <a:t>평균 할인 15.0% · 25% 이상 깊은 할인은 3.8%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315200" y="3044952"/>
            <a:ext cx="4325112" cy="996696"/>
          </a:xfrm>
          <a:prstGeom prst="roundRect">
            <a:avLst>
              <a:gd name="adj" fmla="val 12844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7498079" y="3154680"/>
            <a:ext cx="105156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79" y="3154680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2F6FAD"/>
                </a:solidFill>
                <a:latin typeface="Noto Sans KR"/>
              </a:rPr>
              <a:t>방어 ② 상한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79" y="341071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11827"/>
                </a:solidFill>
                <a:latin typeface="Noto Sans KR"/>
              </a:rPr>
              <a:t>38% 고정 · 정가 초과 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79" y="37033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마진 40% 가정에서도 최악 세션 마진 +3.2%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315200" y="4123944"/>
            <a:ext cx="4325112" cy="996696"/>
          </a:xfrm>
          <a:prstGeom prst="roundRect">
            <a:avLst>
              <a:gd name="adj" fmla="val 12844"/>
            </a:avLst>
          </a:prstGeom>
          <a:solidFill>
            <a:srgbClr val="E3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7498079" y="4233672"/>
            <a:ext cx="105156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79" y="4233672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0B6F55"/>
                </a:solidFill>
                <a:latin typeface="Noto Sans KR"/>
              </a:rPr>
              <a:t>방어 ③ 판매량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79" y="448970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11827"/>
                </a:solidFill>
                <a:latin typeface="Noto Sans KR"/>
              </a:rPr>
              <a:t>손익분기 +43%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498079" y="478231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평균 할인 기준, 마진 50% → +43% · 60% → +33%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MVP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첫 버전은 두 전략을 검증하는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기능만 담습니다.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반드시 포함(Must)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11827"/>
                </a:solidFill>
                <a:latin typeface="Noto Sans KR"/>
              </a:rPr>
              <a:t>6개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시세 · 잠금 · 보상 · 전환 · 신뢰 · 상한 가드레일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559552"/>
            <a:ext cx="213359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2~3주차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943600"/>
            <a:ext cx="21153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구현 — API·가격·참여·구매 이동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4847" y="5559552"/>
            <a:ext cx="213359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9/28 ~ 9/30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4847" y="5943600"/>
            <a:ext cx="21153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검증 — 오류·사용성 점검, 발표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9888" y="5559552"/>
            <a:ext cx="213359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6종 (승인 대기)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9888" y="5943600"/>
            <a:ext cx="21153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MVP 상품 수 — 대표 6종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상품 수 확정만 되면 구현·검증 일정에 바로 들어갑니다.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10 / 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965960"/>
            <a:ext cx="5394960" cy="3154680"/>
          </a:xfrm>
          <a:prstGeom prst="roundRect">
            <a:avLst>
              <a:gd name="adj" fmla="val 4057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2103120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10312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2F6FAD"/>
                </a:solidFill>
                <a:latin typeface="Noto Sans KR"/>
              </a:rPr>
              <a:t>MUST · 반드시 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4505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전략1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45059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111827"/>
                </a:solidFill>
                <a:latin typeface="Noto Sans KR"/>
              </a:rPr>
              <a:t>오전장·오후장 가격 확인</a:t>
            </a:r>
            <a:r>
              <a:rPr sz="900" b="0">
                <a:solidFill>
                  <a:srgbClr val="4B5563"/>
                </a:solidFill>
                <a:latin typeface="Noto Sans KR"/>
              </a:rPr>
              <a:t>   세션 상태 표시 · 상품 상세와 할인 구성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28803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C2410C"/>
                </a:solidFill>
                <a:latin typeface="Noto Sans KR"/>
              </a:rPr>
              <a:t>전략2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28803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111827"/>
                </a:solidFill>
                <a:latin typeface="Noto Sans KR"/>
              </a:rPr>
              <a:t>가격 잠금</a:t>
            </a:r>
            <a:r>
              <a:rPr sz="900" b="0">
                <a:solidFill>
                  <a:srgbClr val="4B5563"/>
                </a:solidFill>
                <a:latin typeface="Noto Sans KR"/>
              </a:rPr>
              <a:t>   오전장 하루 1회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31012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C2410C"/>
                </a:solidFill>
                <a:latin typeface="Noto Sans KR"/>
              </a:rPr>
              <a:t>전략2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31012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111827"/>
                </a:solidFill>
                <a:latin typeface="Noto Sans KR"/>
              </a:rPr>
              <a:t>오늘의 보상 고르기</a:t>
            </a:r>
            <a:r>
              <a:rPr sz="900" b="0">
                <a:solidFill>
                  <a:srgbClr val="4B5563"/>
                </a:solidFill>
                <a:latin typeface="Noto Sans KR"/>
              </a:rPr>
              <a:t>   안정형 / 공격형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73989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4B5563"/>
                </a:solidFill>
                <a:latin typeface="Noto Sans KR"/>
              </a:rPr>
              <a:t>전환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73989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111827"/>
                </a:solidFill>
                <a:latin typeface="Noto Sans KR"/>
              </a:rPr>
              <a:t>자사몰 이동·구매</a:t>
            </a:r>
            <a:r>
              <a:rPr sz="900" b="0">
                <a:solidFill>
                  <a:srgbClr val="4B5563"/>
                </a:solidFill>
                <a:latin typeface="Noto Sans KR"/>
              </a:rPr>
              <a:t>   원클릭 지향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16966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4B5563"/>
                </a:solidFill>
                <a:latin typeface="Noto Sans KR"/>
              </a:rPr>
              <a:t>신뢰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1696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111827"/>
                </a:solidFill>
                <a:latin typeface="Noto Sans KR"/>
              </a:rPr>
              <a:t>‘투자가 아닙니다’ 안내</a:t>
            </a:r>
            <a:r>
              <a:rPr sz="900" b="0">
                <a:solidFill>
                  <a:srgbClr val="4B5563"/>
                </a:solidFill>
                <a:latin typeface="Noto Sans KR"/>
              </a:rPr>
              <a:t>   가격 근거 배지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599431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4B5563"/>
                </a:solidFill>
                <a:latin typeface="Noto Sans KR"/>
              </a:rPr>
              <a:t>안전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4599431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111827"/>
                </a:solidFill>
                <a:latin typeface="Noto Sans KR"/>
              </a:rPr>
              <a:t>38% 상한 가드레일</a:t>
            </a:r>
            <a:r>
              <a:rPr sz="900" b="0">
                <a:solidFill>
                  <a:srgbClr val="4B5563"/>
                </a:solidFill>
                <a:latin typeface="Noto Sans KR"/>
              </a:rPr>
              <a:t>  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1965960"/>
            <a:ext cx="2834640" cy="3154680"/>
          </a:xfrm>
          <a:prstGeom prst="roundRect">
            <a:avLst>
              <a:gd name="adj" fmla="val 4516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55080" y="2103120"/>
            <a:ext cx="1371600" cy="219456"/>
          </a:xfrm>
          <a:prstGeom prst="roundRect">
            <a:avLst>
              <a:gd name="adj" fmla="val 5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10312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4A3600"/>
                </a:solidFill>
                <a:latin typeface="Noto Sans KR"/>
              </a:rPr>
              <a:t>SHOULD · 여력 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2487168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11827"/>
                </a:solidFill>
                <a:latin typeface="Noto Sans KR"/>
              </a:rPr>
              <a:t>가격 하락·지정가 이메일 알림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306324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B5563"/>
                </a:solidFill>
                <a:latin typeface="Noto Sans KR"/>
              </a:rPr>
              <a:t>가격이 내려가면 알려 주어 재방문을 돕습니다.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355080" y="3703320"/>
            <a:ext cx="2377440" cy="0"/>
          </a:xfrm>
          <a:prstGeom prst="line">
            <a:avLst/>
          </a:prstGeom>
          <a:ln w="12700">
            <a:solidFill>
              <a:srgbClr val="EAD9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355080" y="37947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운영 과제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114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B5563"/>
                </a:solidFill>
                <a:latin typeface="Noto Sans KR"/>
              </a:rPr>
              <a:t>화제성 콘텐츠 캘린더는 시스템이 아니라 지속 운영 프로세스로 관리합니다.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0" y="1965960"/>
            <a:ext cx="2496312" cy="3154680"/>
          </a:xfrm>
          <a:prstGeom prst="roundRect">
            <a:avLst>
              <a:gd name="adj" fmla="val 5128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372600" y="2103120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72600" y="21031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4B5563"/>
                </a:solidFill>
                <a:latin typeface="Noto Sans KR"/>
              </a:rPr>
              <a:t>이번 범위 제외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2487168"/>
            <a:ext cx="21488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• 도감·씰 수집 콘텐츠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0">
                <a:solidFill>
                  <a:srgbClr val="4B5563"/>
                </a:solidFill>
                <a:latin typeface="Noto Sans KR"/>
              </a:rPr>
              <a:t>• 매수가 기준 보상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0">
                <a:solidFill>
                  <a:srgbClr val="4B5563"/>
                </a:solidFill>
                <a:latin typeface="Noto Sans KR"/>
              </a:rPr>
              <a:t>• 막지스톡 안에서의 결제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0">
                <a:solidFill>
                  <a:srgbClr val="4B5563"/>
                </a:solidFill>
                <a:latin typeface="Noto Sans KR"/>
              </a:rPr>
              <a:t>• 막지스톡 자체 로그인·회원가입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050" b="0">
                <a:solidFill>
                  <a:srgbClr val="4B5563"/>
                </a:solidFill>
                <a:latin typeface="Noto Sans KR"/>
              </a:rPr>
              <a:t>• 38% 초과 이벤트성 할인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서비스 목표와 같은 순서로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측정합니다.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북극성 KPI · 현재 기준선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111827"/>
                </a:solidFill>
                <a:latin typeface="Noto Sans KR"/>
              </a:rPr>
              <a:t>미측정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STOCK→자사몰 전환율 · 베타 1주차에 기준선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57784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GUARDRAIL — 하나라도 초과하면 롤아웃 즉시 중단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050" b="0">
                <a:solidFill>
                  <a:srgbClr val="4B5563"/>
                </a:solidFill>
                <a:latin typeface="Noto Sans KR"/>
              </a:rPr>
              <a:t>총혜택 상한 위반 0 · 사행성 문구 0 · 표시·결제가 불일치 0 · 가격 계산 오류율 ≤ 0.1% · 쿠폰 중복 적용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목표값은 근거 없이 만들지 않고, 베타 1주차 실측 후 확정합니다.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11 / 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965960"/>
            <a:ext cx="3200400" cy="3154680"/>
          </a:xfrm>
          <a:prstGeom prst="roundRect">
            <a:avLst>
              <a:gd name="adj" fmla="val 4057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103120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103120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2F6FAD"/>
                </a:solidFill>
                <a:latin typeface="Noto Sans KR"/>
              </a:rPr>
              <a:t>북극성 KPI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4688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Noto Sans KR"/>
              </a:rPr>
              <a:t>STOCK → 자사몰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Noto Sans KR"/>
              </a:rPr>
              <a:t>전환율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52044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FFFFFF"/>
                </a:solidFill>
                <a:latin typeface="Noto Sans KR"/>
              </a:rPr>
              <a:t>가격 잠금·보상 선택을 완료한 세션 중 자사몰 구매까지 도달한 세션의 비율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240" y="4343400"/>
            <a:ext cx="2743200" cy="0"/>
          </a:xfrm>
          <a:prstGeom prst="line">
            <a:avLst/>
          </a:prstGeom>
          <a:ln w="12700">
            <a:solidFill>
              <a:srgbClr val="8FB5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7240" y="44348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Noto Sans KR"/>
              </a:rPr>
              <a:t>서비스 미출시로 현재 미측정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31920" y="1965960"/>
            <a:ext cx="7708392" cy="3154680"/>
          </a:xfrm>
          <a:prstGeom prst="roundRect">
            <a:avLst>
              <a:gd name="adj" fmla="val 405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23944" y="2103120"/>
            <a:ext cx="12161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9824" y="2103120"/>
            <a:ext cx="30449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지표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04504" y="2103120"/>
            <a:ext cx="15819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현재 기준선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96144" y="2103120"/>
            <a:ext cx="12618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목표값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069080" y="2670048"/>
            <a:ext cx="7543800" cy="0"/>
          </a:xfrm>
          <a:prstGeom prst="line">
            <a:avLst/>
          </a:prstGeom>
          <a:ln w="15875">
            <a:solidFill>
              <a:srgbClr val="1118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123944" y="2670048"/>
            <a:ext cx="12161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1순위 유입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9824" y="2670048"/>
            <a:ext cx="30449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방문자 수 · 신규 가입 · 자사몰 구매 이동률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4504" y="2670048"/>
            <a:ext cx="15819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신규가입 5월 40건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144" y="2670048"/>
            <a:ext cx="12618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베타 실측 후 확정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69080" y="3236976"/>
            <a:ext cx="754380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23944" y="3236976"/>
            <a:ext cx="12161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2순위 체류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9824" y="3236976"/>
            <a:ext cx="30449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익일 재방문율 · 세션 체류시간 · 가격 잠금 사용률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4504" y="3236976"/>
            <a:ext cx="15819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미측정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96144" y="3236976"/>
            <a:ext cx="12618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베타 실측 후 확정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069080" y="3803904"/>
            <a:ext cx="754380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123944" y="3803904"/>
            <a:ext cx="12161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2순위 전환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9824" y="3803904"/>
            <a:ext cx="30449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STOCK→자사몰 전환율 · 쿠폰 사용률 · 결제 완결률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4504" y="3803904"/>
            <a:ext cx="15819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결제 완결률 73.5%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6144" y="3803904"/>
            <a:ext cx="12618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기준선 확보 후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69080" y="4370832"/>
            <a:ext cx="754380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123944" y="4370832"/>
            <a:ext cx="12161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신뢰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9824" y="4370832"/>
            <a:ext cx="304495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안심 고지 열람률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4504" y="4370832"/>
            <a:ext cx="15819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미측정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96144" y="4370832"/>
            <a:ext cx="12618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111827"/>
                </a:solidFill>
                <a:latin typeface="Noto Sans KR"/>
              </a:rPr>
              <a:t>≥ 50%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9080" y="4937760"/>
            <a:ext cx="7543800" cy="0"/>
          </a:xfrm>
          <a:prstGeom prst="line">
            <a:avLst/>
          </a:prstGeom>
          <a:ln w="762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매출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KPI가 달성되면 매출은 이렇게 그려집니다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점유율 확대만으로 잡은 5개년 시나리오.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Base 시나리오 · 5년차 매출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11827"/>
                </a:solidFill>
                <a:latin typeface="Noto Sans KR"/>
              </a:rPr>
              <a:t>18.8억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1년차 5.7억 → 5년차 18.8억 (Worst 2.8억 ~ Best 35.3억)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559552"/>
            <a:ext cx="213359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13.6조원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943600"/>
            <a:ext cx="21153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TAM · 국내 베이커리 시장(2025)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4847" y="5559552"/>
            <a:ext cx="213359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2,100~2,650억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4847" y="5943600"/>
            <a:ext cx="21153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SAM · 전문점×온라인×2030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9888" y="5559552"/>
            <a:ext cx="213359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11827"/>
                </a:solidFill>
                <a:latin typeface="Noto Sans KR"/>
              </a:rPr>
              <a:t>0.5 ~ 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9888" y="5943600"/>
            <a:ext cx="21153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4B5563"/>
                </a:solidFill>
                <a:latin typeface="Noto Sans KR"/>
              </a:rPr>
              <a:t>SAM 대비 목표 점유율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시장이 커진다는 가정 없이, 점유율만으로 Base 18.8억을 그립니다.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9CA3AF"/>
                </a:solidFill>
                <a:latin typeface="Noto Sans KR"/>
              </a:rPr>
              <a:t>시장 성장률을 얹지 않고 점유율 확대만 반영 · 망넛이네(2018년 약 5.7억)·널담(2019년 약 9.9억) 초기 실적은 ‘성공 벤치마크’로만 참고, 확정 전망이 아님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12 / 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1965960"/>
            <a:ext cx="11091672" cy="502920"/>
          </a:xfrm>
          <a:prstGeom prst="roundRect">
            <a:avLst>
              <a:gd name="adj" fmla="val 21818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1965960"/>
            <a:ext cx="110916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111827"/>
                </a:solidFill>
                <a:latin typeface="Noto Sans KR"/>
              </a:rPr>
              <a:t>매출</a:t>
            </a:r>
            <a:r>
              <a:rPr sz="1400" b="0">
                <a:solidFill>
                  <a:srgbClr val="4087C7"/>
                </a:solidFill>
                <a:latin typeface="Noto Sans KR"/>
              </a:rPr>
              <a:t>   =   </a:t>
            </a:r>
            <a:r>
              <a:rPr sz="1400" b="1">
                <a:solidFill>
                  <a:srgbClr val="111827"/>
                </a:solidFill>
                <a:latin typeface="Noto Sans KR"/>
              </a:rPr>
              <a:t>유입(방문자)</a:t>
            </a:r>
            <a:r>
              <a:rPr sz="1400" b="0">
                <a:solidFill>
                  <a:srgbClr val="4087C7"/>
                </a:solidFill>
                <a:latin typeface="Noto Sans KR"/>
              </a:rPr>
              <a:t>   ×   </a:t>
            </a:r>
            <a:r>
              <a:rPr sz="1400" b="1">
                <a:solidFill>
                  <a:srgbClr val="111827"/>
                </a:solidFill>
                <a:latin typeface="Noto Sans KR"/>
              </a:rPr>
              <a:t>구매 전환율</a:t>
            </a:r>
            <a:r>
              <a:rPr sz="1400" b="0">
                <a:solidFill>
                  <a:srgbClr val="4087C7"/>
                </a:solidFill>
                <a:latin typeface="Noto Sans KR"/>
              </a:rPr>
              <a:t>   ×   </a:t>
            </a:r>
            <a:r>
              <a:rPr sz="1400" b="1">
                <a:solidFill>
                  <a:srgbClr val="111827"/>
                </a:solidFill>
                <a:latin typeface="Noto Sans KR"/>
              </a:rPr>
              <a:t>객단가 </a:t>
            </a:r>
            <a:r>
              <a:rPr sz="1000" b="0">
                <a:solidFill>
                  <a:srgbClr val="4B5563"/>
                </a:solidFill>
                <a:latin typeface="Noto Sans KR"/>
              </a:rPr>
              <a:t>(5월 2.32만원)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606040"/>
            <a:ext cx="11091672" cy="2514600"/>
          </a:xfrm>
          <a:prstGeom prst="roundRect">
            <a:avLst>
              <a:gd name="adj" fmla="val 509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697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시나리오별 연 매출 (억원)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73405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8FB5DA"/>
                </a:solidFill>
                <a:latin typeface="Noto Sans KR"/>
              </a:rPr>
              <a:t>■ 1년차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273405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4087C7"/>
                </a:solidFill>
                <a:latin typeface="Noto Sans KR"/>
              </a:rPr>
              <a:t>■ 5년차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4701540"/>
            <a:ext cx="731520" cy="53340"/>
          </a:xfrm>
          <a:prstGeom prst="roundRect">
            <a:avLst>
              <a:gd name="adj" fmla="val 50000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45920" y="4454651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1.2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4630420"/>
            <a:ext cx="731520" cy="124460"/>
          </a:xfrm>
          <a:prstGeom prst="roundRect">
            <a:avLst>
              <a:gd name="adj" fmla="val 44081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14600" y="438353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2.8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791456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Worst  (1년차 → 5년차)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554480" y="4754880"/>
            <a:ext cx="2148840" cy="0"/>
          </a:xfrm>
          <a:prstGeom prst="line">
            <a:avLst/>
          </a:prstGeom>
          <a:ln w="1587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937760" y="4501515"/>
            <a:ext cx="731520" cy="253365"/>
          </a:xfrm>
          <a:prstGeom prst="roundRect">
            <a:avLst>
              <a:gd name="adj" fmla="val 21654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0" y="4254626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5.7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06440" y="3919220"/>
            <a:ext cx="731520" cy="835660"/>
          </a:xfrm>
          <a:prstGeom prst="roundRect">
            <a:avLst>
              <a:gd name="adj" fmla="val 75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3560" y="367233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18.8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4791456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Base  (1년차 → 5년차)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663440" y="4754880"/>
            <a:ext cx="2148840" cy="0"/>
          </a:xfrm>
          <a:prstGeom prst="line">
            <a:avLst/>
          </a:prstGeom>
          <a:ln w="1587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046720" y="4314825"/>
            <a:ext cx="731520" cy="440055"/>
          </a:xfrm>
          <a:prstGeom prst="roundRect">
            <a:avLst>
              <a:gd name="adj" fmla="val 12467"/>
            </a:avLst>
          </a:prstGeom>
          <a:solidFill>
            <a:srgbClr val="BFD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0" y="4067937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9.9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15400" y="3185795"/>
            <a:ext cx="731520" cy="1569085"/>
          </a:xfrm>
          <a:prstGeom prst="roundRect">
            <a:avLst>
              <a:gd name="adj" fmla="val 7500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32520" y="2938907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11827"/>
                </a:solidFill>
                <a:latin typeface="Noto Sans KR"/>
              </a:rPr>
              <a:t>35.3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4791456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11827"/>
                </a:solidFill>
                <a:latin typeface="Noto Sans KR"/>
              </a:rPr>
              <a:t>Best  (1년차 → 5년차)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772400" y="4754880"/>
            <a:ext cx="2148840" cy="0"/>
          </a:xfrm>
          <a:prstGeom prst="line">
            <a:avLst/>
          </a:prstGeom>
          <a:ln w="1587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핵심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구조적 제약 하나와,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실행으로 관리 가능한 다섯 가지입니다.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핵심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11827"/>
                </a:solidFill>
                <a:latin typeface="Noto Sans KR"/>
              </a:rPr>
              <a:t>6개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구조적 1 · HIGH 3 · 관리중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57784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대응 원칙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00" b="0">
                <a:solidFill>
                  <a:srgbClr val="4B5563"/>
                </a:solidFill>
                <a:latin typeface="Noto Sans KR"/>
              </a:rPr>
              <a:t>총혜택 상한 38% 고정 · 표시가 = 결제가 일치 검증 · 할인 표시 법무 검토 · 3구간 모델 기준 백테스트 재실행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HIGH 3건(키워드·표시 불일치·법적)은 출시 전에 해소합니다.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13 / 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965960"/>
            <a:ext cx="3611880" cy="1517904"/>
          </a:xfrm>
          <a:prstGeom prst="roundRect">
            <a:avLst>
              <a:gd name="adj" fmla="val 843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14884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488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1">
                <a:solidFill>
                  <a:srgbClr val="FFFFFF"/>
                </a:solidFill>
                <a:latin typeface="Noto Sans KR"/>
              </a:rPr>
              <a:t>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399" y="2221991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399" y="2221991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FFFFFF"/>
                </a:solidFill>
                <a:latin typeface="Noto Sans KR"/>
              </a:rPr>
              <a:t>구조적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6517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STOCK ↔ 자사몰 구조적 분리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953512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RFP 요구사항 — 완전 해소 불가, 원클릭·자동인식으로 최소화만 가능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1965960"/>
            <a:ext cx="3611880" cy="1517904"/>
          </a:xfrm>
          <a:prstGeom prst="roundRect">
            <a:avLst>
              <a:gd name="adj" fmla="val 843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1416" y="214884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1416" y="21488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1">
                <a:solidFill>
                  <a:srgbClr val="FFFFFF"/>
                </a:solidFill>
                <a:latin typeface="Noto Sans KR"/>
              </a:rPr>
              <a:t>02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6" y="2221991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0296" y="2221991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FFFFFF"/>
                </a:solidFill>
                <a:latin typeface="Noto Sans KR"/>
              </a:rPr>
              <a:t>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1416" y="26517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검색 키워드 적합성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1416" y="2953512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백테스트는 모닝빵 1종 중심 — 나머지 상품 키워드 검증 필요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28431" y="1965960"/>
            <a:ext cx="3611880" cy="1517904"/>
          </a:xfrm>
          <a:prstGeom prst="roundRect">
            <a:avLst>
              <a:gd name="adj" fmla="val 843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11311" y="214884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1" y="21488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1">
                <a:solidFill>
                  <a:srgbClr val="FFFFFF"/>
                </a:solidFill>
                <a:latin typeface="Noto Sans KR"/>
              </a:rPr>
              <a:t>03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80192" y="2221991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80192" y="2221991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FFFFFF"/>
                </a:solidFill>
                <a:latin typeface="Noto Sans KR"/>
              </a:rPr>
              <a:t>HIGH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1" y="265176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표시·결제가 불일치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1" y="2953512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STOCK 표시가와 자사몰 결제가가 다르면 신뢰·전환 훼손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593591"/>
            <a:ext cx="3611880" cy="1517904"/>
          </a:xfrm>
          <a:prstGeom prst="roundRect">
            <a:avLst>
              <a:gd name="adj" fmla="val 843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3776472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77647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1">
                <a:solidFill>
                  <a:srgbClr val="FFFFFF"/>
                </a:solidFill>
                <a:latin typeface="Noto Sans KR"/>
              </a:rPr>
              <a:t>04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399" y="3849624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399" y="38496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FFFFFF"/>
                </a:solidFill>
                <a:latin typeface="Noto Sans KR"/>
              </a:rPr>
              <a:t>HIGH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279392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법적 위험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581144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기준가격·할인율·적용기간 표시가 실제와 다르면 표시광고법 저촉 소지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88536" y="3593591"/>
            <a:ext cx="3611880" cy="1517904"/>
          </a:xfrm>
          <a:prstGeom prst="roundRect">
            <a:avLst>
              <a:gd name="adj" fmla="val 843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471416" y="3776472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1416" y="377647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1">
                <a:solidFill>
                  <a:srgbClr val="FFFFFF"/>
                </a:solidFill>
                <a:latin typeface="Noto Sans KR"/>
              </a:rPr>
              <a:t>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40296" y="3849624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0296" y="38496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4A3600"/>
                </a:solidFill>
                <a:latin typeface="Noto Sans KR"/>
              </a:rPr>
              <a:t>관리중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71416" y="4279392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가격모델 전환 재검증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1416" y="4581144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3구간 모델로 바뀌어 91일 백테스트 재실행 필요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28431" y="3593591"/>
            <a:ext cx="3611880" cy="1517904"/>
          </a:xfrm>
          <a:prstGeom prst="roundRect">
            <a:avLst>
              <a:gd name="adj" fmla="val 843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211311" y="3776472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11311" y="377647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1">
                <a:solidFill>
                  <a:srgbClr val="FFFFFF"/>
                </a:solidFill>
                <a:latin typeface="Noto Sans KR"/>
              </a:rPr>
              <a:t>06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680192" y="3849624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680192" y="38496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4A3600"/>
                </a:solidFill>
                <a:latin typeface="Noto Sans KR"/>
              </a:rPr>
              <a:t>관리중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11311" y="4279392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Noto Sans KR"/>
              </a:rPr>
              <a:t>쿠폰 중복 적용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11311" y="4581144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잠금·보상 쿠폰 동시 적용 시 총혜택 상한(38%) 초과 가능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D"/>
                </a:solidFill>
                <a:latin typeface="Noto Sans KR"/>
              </a:rPr>
              <a:t>로드맵과 요청 사항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74980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>
                <a:solidFill>
                  <a:srgbClr val="111827"/>
                </a:solidFill>
                <a:latin typeface="Noto Sans KR"/>
              </a:rPr>
              <a:t>3단계로 구현하고,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00" b="1">
                <a:solidFill>
                  <a:srgbClr val="111827"/>
                </a:solidFill>
                <a:latin typeface="Noto Sans KR"/>
              </a:rPr>
              <a:t>대표님께는 세 가지를 요청드립니다.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75320" y="384048"/>
            <a:ext cx="3364992" cy="1371600"/>
          </a:xfrm>
          <a:prstGeom prst="roundRect">
            <a:avLst>
              <a:gd name="adj" fmla="val 9333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5029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요청 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73152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11827"/>
                </a:solidFill>
                <a:latin typeface="Noto Sans KR"/>
              </a:rPr>
              <a:t>3건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31673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B5563"/>
                </a:solidFill>
                <a:latin typeface="Noto Sans KR"/>
              </a:rPr>
              <a:t>상품 수 · 원가·마진 · 법무 검토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85232"/>
            <a:ext cx="7086600" cy="1078992"/>
          </a:xfrm>
          <a:prstGeom prst="roundRect">
            <a:avLst>
              <a:gd name="adj" fmla="val 10169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CA3AF"/>
                </a:solidFill>
                <a:latin typeface="Noto Sans KR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57784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향후 확장(설계 단계, 이번 구현 범위 아님)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00" b="0">
                <a:solidFill>
                  <a:srgbClr val="4B5563"/>
                </a:solidFill>
                <a:latin typeface="Noto Sans KR"/>
              </a:rPr>
              <a:t>Bakery ETF · FX Bakery · Bread Index · 연속 방문 스트릭 보상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5285232"/>
            <a:ext cx="3776472" cy="1078992"/>
          </a:xfrm>
          <a:prstGeom prst="roundRect">
            <a:avLst>
              <a:gd name="adj" fmla="val 10169"/>
            </a:avLst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5358384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DCEAF7"/>
                </a:solidFill>
                <a:latin typeface="Noto Sans KR"/>
              </a:rPr>
              <a:t>SO 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5778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</a:rPr>
              <a:t>세 가지가 정해지면 바로 구현·검증 단계로 들어갑니다.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9224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50" b="1">
                <a:solidFill>
                  <a:srgbClr val="4B5563"/>
                </a:solidFill>
                <a:latin typeface="Noto Sans KR"/>
              </a:rPr>
              <a:t>MAKJI STOCK  </a:t>
            </a:r>
            <a:r>
              <a:rPr sz="850" b="0">
                <a:solidFill>
                  <a:srgbClr val="9CA3AF"/>
                </a:solidFill>
                <a:latin typeface="Noto Sans KR"/>
              </a:rPr>
              <a:t>14 / 15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2212848"/>
            <a:ext cx="11091672" cy="0"/>
          </a:xfrm>
          <a:prstGeom prst="line">
            <a:avLst/>
          </a:prstGeom>
          <a:ln w="3810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48640" y="2084831"/>
            <a:ext cx="256032" cy="256032"/>
          </a:xfrm>
          <a:prstGeom prst="ellipse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1792" y="2157984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2468880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46888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2F6FAD"/>
                </a:solidFill>
                <a:latin typeface="Noto Sans KR"/>
              </a:rPr>
              <a:t>PHASE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243230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MVP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7889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Bread Market — 시세 · 비교 · 구매 이동</a:t>
            </a:r>
          </a:p>
        </p:txBody>
      </p:sp>
      <p:sp>
        <p:nvSpPr>
          <p:cNvPr id="22" name="Oval 21"/>
          <p:cNvSpPr/>
          <p:nvPr/>
        </p:nvSpPr>
        <p:spPr>
          <a:xfrm>
            <a:off x="4288536" y="2084831"/>
            <a:ext cx="256032" cy="256032"/>
          </a:xfrm>
          <a:prstGeom prst="ellipse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61688" y="2157984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8536" y="2468880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88536" y="246888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4A3600"/>
                </a:solidFill>
                <a:latin typeface="Noto Sans KR"/>
              </a:rPr>
              <a:t>PHASE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8655" y="243230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참여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27889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가격 잠금 · 보상 고르기 · 가격 알림</a:t>
            </a:r>
          </a:p>
        </p:txBody>
      </p:sp>
      <p:sp>
        <p:nvSpPr>
          <p:cNvPr id="28" name="Oval 27"/>
          <p:cNvSpPr/>
          <p:nvPr/>
        </p:nvSpPr>
        <p:spPr>
          <a:xfrm>
            <a:off x="8028431" y="2084831"/>
            <a:ext cx="256032" cy="256032"/>
          </a:xfrm>
          <a:prstGeom prst="ellipse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01583" y="2157984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868680" cy="219456"/>
          </a:xfrm>
          <a:prstGeom prst="roundRect">
            <a:avLst>
              <a:gd name="adj" fmla="val 50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8431" y="246888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FFFFFF"/>
                </a:solidFill>
                <a:latin typeface="Noto Sans KR"/>
              </a:rPr>
              <a:t>PHASE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243230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Noto Sans KR"/>
              </a:rPr>
              <a:t>연동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27889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4B5563"/>
                </a:solidFill>
                <a:latin typeface="Noto Sans KR"/>
              </a:rPr>
              <a:t>자사몰 실연동 — 판매가 · 쿠폰 · 구매 데이터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31012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9CA3AF"/>
                </a:solidFill>
                <a:latin typeface="Noto Sans KR"/>
              </a:rPr>
              <a:t>대표님께 요청드리는 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611880"/>
            <a:ext cx="3611880" cy="1508760"/>
          </a:xfrm>
          <a:prstGeom prst="roundRect">
            <a:avLst>
              <a:gd name="adj" fmla="val 8484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368503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4087C7"/>
                </a:solidFill>
                <a:latin typeface="Noto Sans KR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1605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111827"/>
                </a:solidFill>
                <a:latin typeface="Noto Sans KR"/>
              </a:rPr>
              <a:t>MVP 상품 수 확정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480560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B5563"/>
                </a:solidFill>
                <a:latin typeface="Noto Sans KR"/>
              </a:rPr>
              <a:t>대표 6종 기준으로 준비 중이며, 최종 승인이 필요합니다.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88536" y="3611880"/>
            <a:ext cx="3611880" cy="1508760"/>
          </a:xfrm>
          <a:prstGeom prst="roundRect">
            <a:avLst>
              <a:gd name="adj" fmla="val 8484"/>
            </a:avLst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71416" y="368503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C98F00"/>
                </a:solidFill>
                <a:latin typeface="Noto Sans KR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1416" y="41605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111827"/>
                </a:solidFill>
                <a:latin typeface="Noto Sans KR"/>
              </a:rPr>
              <a:t>실제 원가·마진율 공유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71416" y="4480560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B5563"/>
                </a:solidFill>
                <a:latin typeface="Noto Sans KR"/>
              </a:rPr>
              <a:t>지금은 40/50/60% 가정입니다. 실제 수치로 마진 방어를 정밀 검증합니다.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28431" y="3611880"/>
            <a:ext cx="3611880" cy="1508760"/>
          </a:xfrm>
          <a:prstGeom prst="roundRect">
            <a:avLst>
              <a:gd name="adj" fmla="val 8484"/>
            </a:avLst>
          </a:prstGeom>
          <a:solidFill>
            <a:srgbClr val="FF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11311" y="368503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7A45"/>
                </a:solidFill>
                <a:latin typeface="Noto Sans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1" y="41605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111827"/>
                </a:solidFill>
                <a:latin typeface="Noto Sans KR"/>
              </a:rPr>
              <a:t>할인 표시 법무 검토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1" y="4480560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B5563"/>
                </a:solidFill>
                <a:latin typeface="Noto Sans KR"/>
              </a:rPr>
              <a:t>기준가격·할인율·적용기간 표시가 표시광고법에 맞는지 사전 검토가 필요합니다.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8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4087C7"/>
                </a:solidFill>
                <a:latin typeface="Noto Sans KR"/>
              </a:rPr>
              <a:t>●  </a:t>
            </a:r>
            <a:r>
              <a:rPr sz="1300" b="1">
                <a:solidFill>
                  <a:srgbClr val="111827"/>
                </a:solidFill>
                <a:latin typeface="Noto Sans KR"/>
              </a:rPr>
              <a:t>MAKJI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41148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9CA3AF"/>
                </a:solidFill>
                <a:latin typeface="Noto Sans KR"/>
              </a:rPr>
              <a:t>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94560"/>
            <a:ext cx="1097280" cy="219456"/>
          </a:xfrm>
          <a:prstGeom prst="roundRect">
            <a:avLst>
              <a:gd name="adj" fmla="val 50000"/>
            </a:avLst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2F6FAD"/>
                </a:solidFill>
                <a:latin typeface="Noto Sans KR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0604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111827"/>
                </a:solidFill>
                <a:latin typeface="Noto Sans KR"/>
              </a:rPr>
              <a:t>가격이 움직인다는 사실 자체가,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400" b="1">
                <a:solidFill>
                  <a:srgbClr val="4087C7"/>
                </a:solidFill>
                <a:latin typeface="Noto Sans KR"/>
              </a:rPr>
              <a:t>다시 찾는 이유</a:t>
            </a:r>
            <a:r>
              <a:rPr sz="4400" b="1">
                <a:solidFill>
                  <a:srgbClr val="111827"/>
                </a:solidFill>
                <a:latin typeface="Noto Sans KR"/>
              </a:rPr>
              <a:t>가 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4B5563"/>
                </a:solidFill>
                <a:latin typeface="Noto Sans KR"/>
              </a:rPr>
              <a:t>질문과 의견을 듣겠습니다.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172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Noto Sans KR"/>
              </a:rPr>
              <a:t>빵값연구소   |   MAKJI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