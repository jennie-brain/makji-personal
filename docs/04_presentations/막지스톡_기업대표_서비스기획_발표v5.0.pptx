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[30초] 오늘 말씀드릴 것은 세 가지입니다. 시장에 기회가 있고, 우리는 그 기회를 ‘가격’으로 잡으려 하며, 그 방식이 마진을 지킨다는 것입니다. 마지막에 세 가지 요청을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온라인 베이커리 시장은 2021년 3,200억에서 2025년 6,250억으로 커졌습니다(연평균 +18%). 신세계푸드의 온라인 베이커리 매출도 2023년 255억에서 2025년 850억으로 3.3배가 됐습니다. 같은 시장의 저당·고단백 브랜드 널담은 2025년 매출이 전년 대비 104% 늘었습니다. 온라인 수요는 커지고 있고, 유사 업체는 이미 그 수요를 가져가고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막지는 저당·무설탕·글루텐프리 웰니스 베이커리이고, B2B 공급으로 제품력을 검증했습니다. 이제 자사몰(B2C)로 확장 중입니다. 그런데 5월 자사몰 데이터를 보면 로그인은 오전 8~10시에 25.6%가 몰렸는데 결제금액은 8.0%뿐이고, 저녁 20~24시에는 로그인 20.0%인데 결제금액이 28.4%입니다. 아침에 둘러보고 저녁에 삽니다. 관심이 생긴 순간과 구매하는 순간 사이가 벌어져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그래서 서비스 목표는 두 단계입니다. 첫째 자사몰 유입을 늘리는 것이 최우선입니다. 광고를 켠 날에만 팔리는 구조가 아니라 고객이 스스로 찾아오게 합니다. 둘째 체류시간을 늘리고, 가격을 탐색한 고객이 구매까지 이어지는 전환율을 높입니다. 유입에서 구매까지 한 걸음에 이어지도록 구상했습니다.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목표를 이루는 전략은 두 가지입니다. 하나, 가격 자체를 콘텐츠로 만들어 매일 오게 한다. 둘, 고객이 직접 고르는 혜택으로 참여와 주도성을 준다. 이 둘을 묶은 것이 막지스톡입니다. 빵값을 주식시장처럼 하루 두 번 열고, 그 안에서 고객이 자기 방식대로 혜택을 고릅니다. 경쟁 6곳은 모두 고정 가격·고정 혜택이라 이 조합을 쓰는 곳이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아침 6시 오전장이 열려 시세를 보고, 마음에 드는 빵 하나를 잠급니다. 오후 4시 오후장에서 잠금이 정산되고 자사몰에서 결제합니다. 다음 날 6시에는 예측 결과를 확인하러 다시 옵니다. 5월 로그인은 오전 8~10시에, 결제는 저녁 20~24시에 몰렸는데 6시와 16시는 그 두 시점 직전입니다. 세 기능 — 오늘의 시세, 가격 잠금, 오늘의 보상 고르기 — 이 하루를 잇습니다.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고객은 세 부류입니다. 가격이 마음에 들고 바로 결제할 수 있는 즉시 구매형, 가격은 좋은데 결제는 나중에 할 가격 확보형, 오후에 더 싸지길 기다리는 관망형입니다. 잠금은 가격 확보형의 상승 위험을 없애 주고, 예측은 관망형이 내일 다시 오게 만듭니다. 세 부류 모두 결제는 자사몰에서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가격은 임의의 세일이 아니라 공개된 산식입니다. 검색지수는 수요 신호로 최대 15% 할인을 더하고, 환율은 원가 신호로 내리면 하락률의 14배를 전부 돌려주고 오르면 7배, 절반만 반영합니다. 합계는 0에서 38% 사이로 고정되어 정가를 넘지 않습니다. 모닝롤을 예로 들면 정가 4,500원이 평균 할인 15%에서 3,830원, 최대 할인 38%에서 2,790원입니다. 나머지 5종도 같은 산식입니다.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이 가격 엔진을 실제 환율과 검색지수로 91일 돌려 봤습니다. 하루 두 번, 182개 세션의 평균 할인율은 15%(오전장 15.8%, 오후장 14.2%)입니다. 세션의 84%가 20% 미만이고, 25% 이상 큰 할인은 7번, 3.8%뿐입니다. 이 분포가 다음 장의 마진 방어의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 30초] 걱정되는 것은 마진입니다. 할인은 얕은 구간에 몰려 있고, 합계 38%가 상한이라 더 깊어지지 않습니다. 정가 마진이 40%라고 가정해도 가장 깊은 할인 세션의 마진은 3.2%로 흑자입니다. 평균 할인 15%에서는 마진율이 29~53%로 유지됩니다. 손익분기 판매량은 평균 할인 기준으로 마진 50%면 +43%, 60%면 +33%, 40%면 +60%입니다. 다만 실제 원가·마진 자료가 없어 40/50/60% 가정이라는 점, 실제 수치를 주시면 정밀 검증하겠다는 점을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첫 버전은 두 전략을 검증하는 기능만 담습니다. 반드시 포함하는 것은 시세 확인, 가격 잠금, 보상 고르기, 자사몰 전환, ‘투자가 아닙니다’ 안내, 38% 상한 가드레일입니다. 여력이 되면 가격 하락 이메일 알림을 넣습니다. 도감·씰, 매수가 기준 보상, 막지스톡 안의 결제는 이번에 하지 않습니다. 구현은 2~3주차, 검증은 9월 28~30일이고, 상품 수(대표 6종 기준)만 확정되면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KPI는 서비스 목표와 같은 순서입니다. 북극성 지표는 STOCK에서 잠금·보상을 고른 세션이 자사몰 구매까지 가는 비율이고, 아직 서비스 전이라 미측정입니다. 베타 첫 주에 기준선을 잡습니다. 5월 기준으로는 신규 가입 40건, 결제 완결률 73.5%가 있습니다. 목표 숫자를 근거 없이 정하지 않는다는 원칙이라 ‘베타 실측 후 확정’이라고 적었습니다. 가드레일은 하나라도 넘으면 즉시 중단합니다.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KPI가 달성됐을 때의 매출입니다. 매출은 유입 × 전환율 × 객단가이고 5월 객단가는 2.32만 원입니다. 시장 규모 TAM 13.6조, SAM 2,100~2,650억에서 시장이 성장한다는 가정은 넣지 않고 점유율만 0.5%에서 3%로 넓혔습니다. Base는 1년차 5.7억에서 5년차 18.8억, Worst 2.8억, Best 35.3억입니다. 망넛이네와 널담의 초기 실적은 확정 전망이 아니라 성공 벤치마크로만 참고했습니다.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[1분] 리스크는 여섯 가지입니다. 막지스톡과 자사몰 결제 시스템이 분리된 것은 RFP가 정한 구조라 없앨 수 없고, 원클릭·자동 인식으로 줄이기만 합니다. HIGH는 키워드 적합성, 표시가·결제가 불일치, 법적 위험 세 가지입니다. 나머지 둘은 관리 중입니다. 총혜택 상한 38%, 표시가=결제가 검증, 법무 검토, 백테스트 재실행으로 대응합니다.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[1분 + 요청] 로드맵은 3단계입니다. 1단계 MVP는 시세·비교·구매 이동, 2단계는 잠금·보상 고르기·알림, 3단계는 자사몰 실연동입니다. 오늘 요청드릴 것은 세 가지입니다. 하나, MVP 상품 수 확정. 둘, 실제 원가·마진율 공유 — 지금은 40/50/60% 가정이라 실제 수치로 마진 방어를 정밀 검증하겠습니다. 셋, 할인 표시에 대한 법무 검토입니다.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[Q&amp;A] 예상 질문은 발표 스토리라인 문서의 ‘예상 질문과 답변’을 참고하세요.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4087C7"/>
                </a:solidFill>
                <a:latin typeface="Noto Sans KR"/>
              </a:rPr>
              <a:t>●  </a:t>
            </a:r>
            <a:r>
              <a:rPr sz="1300" b="1">
                <a:solidFill>
                  <a:srgbClr val="111827"/>
                </a:solidFill>
                <a:latin typeface="Noto Sans KR"/>
              </a:rPr>
              <a:t>MAKJI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BUSINESS PROPOSAL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1">
                <a:solidFill>
                  <a:srgbClr val="111827"/>
                </a:solidFill>
                <a:latin typeface="Noto Sans KR"/>
              </a:rPr>
              <a:t>MAKJI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8000" b="1">
                <a:solidFill>
                  <a:srgbClr val="4087C7"/>
                </a:solidFill>
                <a:latin typeface="Noto Sans KR"/>
              </a:rPr>
              <a:t>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B5563"/>
                </a:solidFill>
                <a:latin typeface="Noto Sans KR"/>
              </a:rPr>
              <a:t>웰니스 베이커리 막지의 B2C 확장 —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>
                <a:solidFill>
                  <a:srgbClr val="4B5563"/>
                </a:solidFill>
                <a:latin typeface="Noto Sans KR"/>
              </a:rPr>
              <a:t>매일 두 번 움직이는 빵값으로 자사몰의 방문과 구매를 만듭니다.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빵값연구소  |  기업 대표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6172200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시장 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온라인 베이커리 시장은 4년 만에 2배 가까이 커졌고,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유사 업체도 빠르게 성장하고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성장하는 온라인 시장 — 이 수요를 어떻게 가져올지가 우리의 과제입니다.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CA3AF"/>
                </a:solidFill>
                <a:latin typeface="Noto Sans KR"/>
              </a:rPr>
              <a:t>출처: aT 온라인 베이커리 시장 규모(매일경제 2026.03.23) · 널담 2025 매출 약 330억, 2026 목표 800억(플래텀·메트로서울 2026.01) · 2024는 역산 추정, 2023은 내부 시장분석 · 널담 매출에는 오프라인 유통 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국내 온라인 베이커리 시장 (억원)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127269"/>
            <a:ext cx="1097280" cy="1130530"/>
          </a:xfrm>
          <a:prstGeom prst="roundRect">
            <a:avLst>
              <a:gd name="adj" fmla="val 4166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8085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3,200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6459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350029"/>
            <a:ext cx="1097280" cy="1907770"/>
          </a:xfrm>
          <a:prstGeom prst="roundRect">
            <a:avLst>
              <a:gd name="adj" fmla="val 4166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3020845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5,400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5349240"/>
            <a:ext cx="16459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049731"/>
            <a:ext cx="1097280" cy="2208068"/>
          </a:xfrm>
          <a:prstGeom prst="roundRect">
            <a:avLst>
              <a:gd name="adj" fmla="val 4166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720547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6,250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49240"/>
            <a:ext cx="16459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5257800"/>
            <a:ext cx="4846320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88720" y="26974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69748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Noto Sans KR"/>
              </a:rPr>
              <a:t>+95%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6974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2021 →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31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널담 연 매출 (억원)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848765"/>
            <a:ext cx="868680" cy="409034"/>
          </a:xfrm>
          <a:prstGeom prst="roundRect">
            <a:avLst>
              <a:gd name="adj" fmla="val 11177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519581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145.6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349240"/>
            <a:ext cx="1417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4802693"/>
            <a:ext cx="868680" cy="455106"/>
          </a:xfrm>
          <a:prstGeom prst="roundRect">
            <a:avLst>
              <a:gd name="adj" fmla="val 10045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59" y="4473509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≈162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5349240"/>
            <a:ext cx="1417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59" y="5586984"/>
            <a:ext cx="1417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9CA3AF"/>
                </a:solidFill>
                <a:latin typeface="Noto Sans KR"/>
              </a:rPr>
              <a:t>역산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4330730"/>
            <a:ext cx="868680" cy="927069"/>
          </a:xfrm>
          <a:prstGeom prst="roundRect">
            <a:avLst>
              <a:gd name="adj" fmla="val 5263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4001546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≈330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349240"/>
            <a:ext cx="1417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35640" y="3010359"/>
            <a:ext cx="868680" cy="2247440"/>
          </a:xfrm>
          <a:prstGeom prst="roundRect">
            <a:avLst>
              <a:gd name="adj" fmla="val 5263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1319" y="2681175"/>
            <a:ext cx="141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800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19" y="5349240"/>
            <a:ext cx="14173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19" y="5586984"/>
            <a:ext cx="1417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9CA3AF"/>
                </a:solidFill>
                <a:latin typeface="Noto Sans KR"/>
              </a:rPr>
              <a:t>목표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0" y="5257800"/>
            <a:ext cx="5394960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58000" y="26974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69748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Noto Sans KR"/>
              </a:rPr>
              <a:t>+104%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6974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2025 전년 대비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우리의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웰니스 베이커리 막지는 B2C 자사몰로 확장하고 있는데,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방문하는 시간과 구매하는 시간이 어긋납니다.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관심이 생긴 순간부터 구매까지, 한 걸음에 이어지는 구조가 필요합니다.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CA3AF"/>
                </a:solidFill>
                <a:latin typeface="Noto Sans KR"/>
              </a:rPr>
              <a:t>출처: 막지 자사몰 5월 시간별 분석 (로그인 90회 · 결제금액 기준, 단일상품 막지 ZERO 카스테라)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03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9CA3AF"/>
                </a:solidFill>
                <a:latin typeface="Noto Sans KR"/>
              </a:rPr>
              <a:t>B2B 제품 공급</a:t>
            </a:r>
            <a:r>
              <a:rPr sz="1300" b="1">
                <a:solidFill>
                  <a:srgbClr val="4087C7"/>
                </a:solidFill>
                <a:latin typeface="Noto Sans KR"/>
              </a:rPr>
              <a:t>   →   </a:t>
            </a:r>
            <a:r>
              <a:rPr sz="1300" b="1">
                <a:solidFill>
                  <a:srgbClr val="2F6FAD"/>
                </a:solidFill>
                <a:latin typeface="Noto Sans KR"/>
              </a:rPr>
              <a:t>B2C 자사몰 확장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103120"/>
            <a:ext cx="2862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4087C7"/>
                </a:solidFill>
                <a:latin typeface="Noto Sans KR"/>
              </a:rPr>
              <a:t>■ 로그인 비중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31720"/>
            <a:ext cx="2862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FF7A45"/>
                </a:solidFill>
                <a:latin typeface="Noto Sans KR"/>
              </a:rPr>
              <a:t>■ 결제금액 비중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202228"/>
            <a:ext cx="1143000" cy="1872691"/>
          </a:xfrm>
          <a:prstGeom prst="roundRect">
            <a:avLst>
              <a:gd name="adj" fmla="val 4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79074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111827"/>
                </a:solidFill>
                <a:latin typeface="Noto Sans KR"/>
              </a:rPr>
              <a:t>25.6%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489704"/>
            <a:ext cx="1143000" cy="585216"/>
          </a:xfrm>
          <a:prstGeom prst="roundRect">
            <a:avLst>
              <a:gd name="adj" fmla="val 781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078224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111827"/>
                </a:solidFill>
                <a:latin typeface="Noto Sans KR"/>
              </a:rPr>
              <a:t>8.0%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8464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11827"/>
                </a:solidFill>
                <a:latin typeface="Noto Sans KR"/>
              </a:rPr>
              <a:t>오전 8~10시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7725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9CA3AF"/>
                </a:solidFill>
                <a:latin typeface="Noto Sans KR"/>
              </a:rPr>
              <a:t>아침에 둘러보고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611880"/>
            <a:ext cx="1143000" cy="1463039"/>
          </a:xfrm>
          <a:prstGeom prst="roundRect">
            <a:avLst>
              <a:gd name="adj" fmla="val 4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111827"/>
                </a:solidFill>
                <a:latin typeface="Noto Sans KR"/>
              </a:rPr>
              <a:t>20.0%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997403"/>
            <a:ext cx="1143000" cy="2077516"/>
          </a:xfrm>
          <a:prstGeom prst="roundRect">
            <a:avLst>
              <a:gd name="adj" fmla="val 4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585923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111827"/>
                </a:solidFill>
                <a:latin typeface="Noto Sans KR"/>
              </a:rPr>
              <a:t>28.4%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18464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11827"/>
                </a:solidFill>
                <a:latin typeface="Noto Sans KR"/>
              </a:rPr>
              <a:t>저녁 20~24시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7725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9CA3AF"/>
                </a:solidFill>
                <a:latin typeface="Noto Sans KR"/>
              </a:rPr>
              <a:t>저녁에 삽니다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5074920"/>
            <a:ext cx="10543032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서비스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목표는 두 단계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유입이 먼저, 그다음이 체류와 전환입니다.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유입 후 구매까지 한 걸음에 이어지도록 구상했습니다.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04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>
                <a:solidFill>
                  <a:srgbClr val="4087C7"/>
                </a:solidFill>
                <a:latin typeface="Noto Sans K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44144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11827"/>
                </a:solidFill>
                <a:latin typeface="Noto Sans KR"/>
              </a:rPr>
              <a:t>자사몰 유입 증가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광고를 켠 날에만 팔리는 구조에서 벗어나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고객이 스스로 찾아오게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1">
                <a:solidFill>
                  <a:srgbClr val="FF7A45"/>
                </a:solidFill>
                <a:latin typeface="Noto Sans K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44144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111827"/>
                </a:solidFill>
                <a:latin typeface="Noto Sans KR"/>
              </a:rPr>
              <a:t>체류시간 ↑ · 전환율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9718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가격을 확인·비교하며 머무르고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탐색한 뒤 자사몰 구매까지 이어지게 합니다.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4160520"/>
            <a:ext cx="10543032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22960" y="4718304"/>
            <a:ext cx="182880" cy="182880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6360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유입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4617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3611879" y="4718304"/>
            <a:ext cx="182880" cy="182880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46360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체류 · 가격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617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718304"/>
            <a:ext cx="182880" cy="182880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6360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탐색 · 지금 살까?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617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9189719" y="4718304"/>
            <a:ext cx="182880" cy="182880"/>
          </a:xfrm>
          <a:prstGeom prst="ellips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46360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구매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세부 전략과 솔루션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두 가지 전략을 하나로 묶은 솔루션이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‘막지스톡’입니다.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하나의 서비스로 유입·체류·전환을 동시에 개선합니다.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05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1">
                <a:solidFill>
                  <a:srgbClr val="4087C7"/>
                </a:solidFill>
                <a:latin typeface="Noto Sans K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9572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111827"/>
                </a:solidFill>
                <a:latin typeface="Noto Sans KR"/>
              </a:rPr>
              <a:t>가격 자체를 콘텐츠로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2608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매일 두 번 바뀌는 빵값이 ‘오늘은 얼마일까?’라는 방문 이유가 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1">
                <a:solidFill>
                  <a:srgbClr val="FF7A45"/>
                </a:solidFill>
                <a:latin typeface="Noto Sans K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39572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111827"/>
                </a:solidFill>
                <a:latin typeface="Noto Sans KR"/>
              </a:rPr>
              <a:t>고객이 직접 고르는 혜택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92608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잠금 또는 보상 고르기 — 내가 원하는 방식으로 혜택을 받고, 주도성을 느낍니다.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794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>
                <a:solidFill>
                  <a:srgbClr val="4087C7"/>
                </a:solidFill>
                <a:latin typeface="Noto Sans KR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4600" b="1">
                <a:solidFill>
                  <a:srgbClr val="4087C7"/>
                </a:solidFill>
                <a:latin typeface="Noto Sans KR"/>
              </a:rPr>
              <a:t>MAKJI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>
                <a:solidFill>
                  <a:srgbClr val="4B5563"/>
                </a:solidFill>
                <a:latin typeface="Noto Sans KR"/>
              </a:rPr>
              <a:t>빵값을 주식시장처럼 — 하루 두 번 열리는 시세를 보고, 내 방식대로 혜택을 골라 자사몰에서 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046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경쟁 6곳 중 가격 변동 자체를 콘텐츠로 쓰는 곳은 아직 없습니다.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서비스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하루가 이렇게 돌아갑니다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세 가지 기능이 하루를 잇습니다.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선택은 언제나 고객 몫이고, 잠금 때문에 손해 보는 경우는 없습니다.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06 / 16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2697480"/>
            <a:ext cx="9464040" cy="0"/>
          </a:xfrm>
          <a:prstGeom prst="line">
            <a:avLst/>
          </a:prstGeom>
          <a:ln w="317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243584" y="2569464"/>
            <a:ext cx="256032" cy="256032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06:00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246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오전장 개장 · 시세 확인</a:t>
            </a:r>
          </a:p>
        </p:txBody>
      </p:sp>
      <p:sp>
        <p:nvSpPr>
          <p:cNvPr id="11" name="Oval 10"/>
          <p:cNvSpPr/>
          <p:nvPr/>
        </p:nvSpPr>
        <p:spPr>
          <a:xfrm>
            <a:off x="3611879" y="2569464"/>
            <a:ext cx="256032" cy="256032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5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오전장 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5" y="3246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가격 잠금 (하루 1회)</a:t>
            </a:r>
          </a:p>
        </p:txBody>
      </p:sp>
      <p:sp>
        <p:nvSpPr>
          <p:cNvPr id="14" name="Oval 13"/>
          <p:cNvSpPr/>
          <p:nvPr/>
        </p:nvSpPr>
        <p:spPr>
          <a:xfrm>
            <a:off x="5980176" y="2569464"/>
            <a:ext cx="256032" cy="256032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16:00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246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오후장 개장 · 잠금 정산</a:t>
            </a:r>
          </a:p>
        </p:txBody>
      </p:sp>
      <p:sp>
        <p:nvSpPr>
          <p:cNvPr id="17" name="Oval 16"/>
          <p:cNvSpPr/>
          <p:nvPr/>
        </p:nvSpPr>
        <p:spPr>
          <a:xfrm>
            <a:off x="8348471" y="2569464"/>
            <a:ext cx="256032" cy="256032"/>
          </a:xfrm>
          <a:prstGeom prst="ellips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구매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3246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막지 자사몰에서 결제</a:t>
            </a:r>
          </a:p>
        </p:txBody>
      </p:sp>
      <p:sp>
        <p:nvSpPr>
          <p:cNvPr id="20" name="Oval 19"/>
          <p:cNvSpPr/>
          <p:nvPr/>
        </p:nvSpPr>
        <p:spPr>
          <a:xfrm>
            <a:off x="10716767" y="2569464"/>
            <a:ext cx="256032" cy="256032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47504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익일 06:00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7504" y="3246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예측 결과 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343400"/>
            <a:ext cx="457200" cy="45720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11827"/>
                </a:solidFill>
                <a:latin typeface="Noto Sans KR"/>
              </a:rPr>
              <a:t>오늘의 시세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B5563"/>
                </a:solidFill>
                <a:latin typeface="Noto Sans KR"/>
              </a:rPr>
              <a:t>6종의 가격과 할인율을 하루 두 번 공개합니다.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343400"/>
            <a:ext cx="457200" cy="45720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11827"/>
                </a:solidFill>
                <a:latin typeface="Noto Sans KR"/>
              </a:rPr>
              <a:t>가격 잠금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9834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B5563"/>
                </a:solidFill>
                <a:latin typeface="Noto Sans KR"/>
              </a:rPr>
              <a:t>오전가를 하루 1개 잠그면, 오후에 올라도 그 가격입니다.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4343400"/>
            <a:ext cx="457200" cy="4572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4526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11827"/>
                </a:solidFill>
                <a:latin typeface="Noto Sans KR"/>
              </a:rPr>
              <a:t>오늘의 보상 고르기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9834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B5563"/>
                </a:solidFill>
                <a:latin typeface="Noto Sans KR"/>
              </a:rPr>
              <a:t>안정형은 즉시 확정 쿠폰, 공격형은 내일 예측에 도전합니다.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사용자 여정 — 구매 의사별 행동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고객은 세 부류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각자 가장 유리한 구매 방식을 고를 수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잠금과 예측은 구매를 미루는 장치가 아니라 가장 유리한 방식을 보장하는 무기입니다.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07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마켓 방문  </a:t>
            </a:r>
            <a:r>
              <a:rPr sz="1200" b="1">
                <a:solidFill>
                  <a:srgbClr val="2F6FAD"/>
                </a:solidFill>
                <a:latin typeface="Noto Sans KR"/>
              </a:rPr>
              <a:t>오늘의 가격 확인   4,500원 → 3,200원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3657600" cy="777240"/>
          </a:xfrm>
          <a:prstGeom prst="roundRect">
            <a:avLst>
              <a:gd name="adj" fmla="val 16470"/>
            </a:avLst>
          </a:prstGeom>
          <a:solidFill>
            <a:srgbClr val="E6FAF3"/>
          </a:solidFill>
          <a:ln w="15875">
            <a:solidFill>
              <a:srgbClr val="20C9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87F5B"/>
                </a:solidFill>
                <a:latin typeface="Noto Sans KR"/>
              </a:rPr>
              <a:t>즉시 구매형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087F5B"/>
                </a:solidFill>
                <a:latin typeface="Noto Sans KR"/>
              </a:rPr>
              <a:t>이 가격 완벽해!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517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오늘 가격으로 즉시 구매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651760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761488"/>
            <a:ext cx="2679192" cy="557784"/>
          </a:xfrm>
          <a:prstGeom prst="roundRect">
            <a:avLst>
              <a:gd name="adj" fmla="val 4918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761488"/>
            <a:ext cx="267919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Noto Sans KR"/>
              </a:rPr>
              <a:t>오늘가로 즉시 결제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75887"/>
            <a:ext cx="3657600" cy="777240"/>
          </a:xfrm>
          <a:prstGeom prst="roundRect">
            <a:avLst>
              <a:gd name="adj" fmla="val 16470"/>
            </a:avLst>
          </a:prstGeom>
          <a:solidFill>
            <a:srgbClr val="FFF1E0"/>
          </a:solidFill>
          <a:ln w="15875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75887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8470D"/>
                </a:solidFill>
                <a:latin typeface="Noto Sans KR"/>
              </a:rPr>
              <a:t>가격 확보형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B8470D"/>
                </a:solidFill>
                <a:latin typeface="Noto Sans KR"/>
              </a:rPr>
              <a:t>가격은 좋은데 결제는 이따가!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75887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75887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오전가 잠금 후 이따가 구매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675887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785615"/>
            <a:ext cx="2679192" cy="557784"/>
          </a:xfrm>
          <a:prstGeom prst="roundRect">
            <a:avLst>
              <a:gd name="adj" fmla="val 4918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785615"/>
            <a:ext cx="267919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Noto Sans KR"/>
              </a:rPr>
              <a:t>잠근 가격으로 안심 결제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00016"/>
            <a:ext cx="3657600" cy="777240"/>
          </a:xfrm>
          <a:prstGeom prst="roundRect">
            <a:avLst>
              <a:gd name="adj" fmla="val 16470"/>
            </a:avLst>
          </a:prstGeom>
          <a:solidFill>
            <a:srgbClr val="E6F3FF"/>
          </a:solidFill>
          <a:ln w="15875">
            <a:solidFill>
              <a:srgbClr val="339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700016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864AB"/>
                </a:solidFill>
                <a:latin typeface="Noto Sans KR"/>
              </a:rPr>
              <a:t>관망·기대형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1864AB"/>
                </a:solidFill>
                <a:latin typeface="Noto Sans KR"/>
              </a:rPr>
              <a:t>오후장에 더 싸지면 살래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00016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700016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내일 가격 예측 참여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700016"/>
            <a:ext cx="457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4809744"/>
            <a:ext cx="2679192" cy="557784"/>
          </a:xfrm>
          <a:prstGeom prst="roundRect">
            <a:avLst>
              <a:gd name="adj" fmla="val 4918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809744"/>
            <a:ext cx="267919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Noto Sans KR"/>
              </a:rPr>
              <a:t>쿠폰 적용해 최적가 결제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가격 결정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하루 세 구간, 두 개의 신호.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가격은 공개된 산식으로만 움직입니다.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산식은 공개하고, 정가를 넘지 않으며, 상한은 38%로 고정합니다.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08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4347210" cy="566928"/>
          </a:xfrm>
          <a:prstGeom prst="roundRect">
            <a:avLst>
              <a:gd name="adj" fmla="val 19354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07289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Noto Sans KR"/>
              </a:rPr>
              <a:t>오전장  06:00 ~ 15:59</a:t>
            </a:r>
            <a:r>
              <a:rPr sz="1000" b="0">
                <a:solidFill>
                  <a:srgbClr val="E6EEF7"/>
                </a:solidFill>
                <a:latin typeface="Noto Sans KR"/>
              </a:rPr>
              <a:t>   전일 종가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5890" y="2240280"/>
            <a:ext cx="4347210" cy="566928"/>
          </a:xfrm>
          <a:prstGeom prst="roundRect">
            <a:avLst>
              <a:gd name="adj" fmla="val 19354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8770" y="2240280"/>
            <a:ext cx="407289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Noto Sans KR"/>
              </a:rPr>
              <a:t>오후장  16:00 ~ 익일 01:59</a:t>
            </a:r>
            <a:r>
              <a:rPr sz="1000" b="0">
                <a:solidFill>
                  <a:srgbClr val="E6EEF7"/>
                </a:solidFill>
                <a:latin typeface="Noto Sans KR"/>
              </a:rPr>
              <a:t>   당일 시가 기준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8820" y="2240280"/>
            <a:ext cx="1711451" cy="566928"/>
          </a:xfrm>
          <a:prstGeom prst="roundRect">
            <a:avLst>
              <a:gd name="adj" fmla="val 19354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1699" y="2240280"/>
            <a:ext cx="14371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4B5563"/>
                </a:solidFill>
                <a:latin typeface="Noto Sans KR"/>
              </a:rPr>
              <a:t>정가  02:00~05:59</a:t>
            </a:r>
            <a:r>
              <a:rPr sz="1000" b="0">
                <a:solidFill>
                  <a:srgbClr val="4B5563"/>
                </a:solidFill>
                <a:latin typeface="Noto Sans KR"/>
              </a:rPr>
              <a:t>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111827"/>
                </a:solidFill>
                <a:latin typeface="Noto Sans KR"/>
              </a:rPr>
              <a:t>총 할인율  =  </a:t>
            </a:r>
            <a:r>
              <a:rPr sz="2600" b="1">
                <a:solidFill>
                  <a:srgbClr val="2F6FAD"/>
                </a:solidFill>
                <a:latin typeface="Noto Sans KR"/>
              </a:rPr>
              <a:t>검색 할인</a:t>
            </a:r>
            <a:r>
              <a:rPr sz="2600" b="1">
                <a:solidFill>
                  <a:srgbClr val="9CA3AF"/>
                </a:solidFill>
                <a:latin typeface="Noto Sans KR"/>
              </a:rPr>
              <a:t>  +  </a:t>
            </a:r>
            <a:r>
              <a:rPr sz="2600" b="1">
                <a:solidFill>
                  <a:srgbClr val="FF7A45"/>
                </a:solidFill>
                <a:latin typeface="Noto Sans KR"/>
              </a:rPr>
              <a:t>환율 조정</a:t>
            </a:r>
            <a:r>
              <a:rPr sz="1600" b="1">
                <a:solidFill>
                  <a:srgbClr val="9CA3AF"/>
                </a:solidFill>
                <a:latin typeface="Noto Sans KR"/>
              </a:rPr>
              <a:t>     (0% ~ 38%)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검색지수 × 0.15 (최대 15%)   ·   환율 하락은 ×14 전부 환원, 상승은 ×7 절반만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예시 · 막지 제로 모닝롤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정가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3892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4B5563"/>
                </a:solidFill>
                <a:latin typeface="Noto Sans KR"/>
              </a:rPr>
              <a:t>4,500원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074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8463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평균 할인 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13892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2F6FAD"/>
                </a:solidFill>
                <a:latin typeface="Noto Sans KR"/>
              </a:rPr>
              <a:t>3,830원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074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8463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최대 할인 38%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13892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FF7A45"/>
                </a:solidFill>
                <a:latin typeface="Noto Sans KR"/>
              </a:rPr>
              <a:t>2,790원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할인율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세션의 84%가 할인 20% 미만이고,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25% 이상 큰 할인은 3.8%뿐입니다.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대부분은 얕은 할인이고, 깊은 할인은 드물게만 나옵니다.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CA3AF"/>
                </a:solidFill>
                <a:latin typeface="Noto Sans KR"/>
              </a:rPr>
              <a:t>실제 가격 엔진(v1.0)에 한국은행 ECOS 원/달러 시가·종가와 일별 검색지수를 넣은 재현값 (2026.06.12~09.10, 하루 2세션 × 91일) · 25% 이상 7세션 중 6세션은 상한 38% · 검색지수는 6종 합산 단일 시계열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09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7451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평균 </a:t>
            </a:r>
            <a:r>
              <a:rPr sz="2600" b="1">
                <a:solidFill>
                  <a:srgbClr val="2F6FAD"/>
                </a:solidFill>
                <a:latin typeface="Noto Sans KR"/>
              </a:rPr>
              <a:t>15.0%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39572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오전장 15.8% · 오후장 14.2%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087C7"/>
                </a:solidFill>
                <a:latin typeface="Noto Sans KR"/>
              </a:rPr>
              <a:t>■ 오전장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031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FF7A45"/>
                </a:solidFill>
                <a:latin typeface="Noto Sans KR"/>
              </a:rPr>
              <a:t>■ 오후장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81448"/>
            <a:ext cx="502920" cy="47752"/>
          </a:xfrm>
          <a:prstGeom prst="roundRect">
            <a:avLst>
              <a:gd name="adj" fmla="val 5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70712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09928" y="4981448"/>
            <a:ext cx="502920" cy="47752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470712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5% 미만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6752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1.1%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43784" y="4599432"/>
            <a:ext cx="502920" cy="429768"/>
          </a:xfrm>
          <a:prstGeom prst="roundRect">
            <a:avLst>
              <a:gd name="adj" fmla="val 851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52344" y="4325112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4169663"/>
            <a:ext cx="502920" cy="859536"/>
          </a:xfrm>
          <a:prstGeom prst="roundRect">
            <a:avLst>
              <a:gd name="adj" fmla="val 727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3895344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0904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5~10%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0904" y="536752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14.8%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44568" y="3262376"/>
            <a:ext cx="502920" cy="1766824"/>
          </a:xfrm>
          <a:prstGeom prst="roundRect">
            <a:avLst>
              <a:gd name="adj" fmla="val 727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298805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37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1496" y="3119120"/>
            <a:ext cx="502920" cy="1910080"/>
          </a:xfrm>
          <a:prstGeom prst="roundRect">
            <a:avLst>
              <a:gd name="adj" fmla="val 727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2844800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10~15%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536752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42.3%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3835400"/>
            <a:ext cx="502920" cy="1193800"/>
          </a:xfrm>
          <a:prstGeom prst="roundRect">
            <a:avLst>
              <a:gd name="adj" fmla="val 727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2" y="3561080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80" y="3978656"/>
            <a:ext cx="502920" cy="1050544"/>
          </a:xfrm>
          <a:prstGeom prst="roundRect">
            <a:avLst>
              <a:gd name="adj" fmla="val 727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70433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15~20%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2472" y="536752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25.8%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46136" y="4360672"/>
            <a:ext cx="502920" cy="668528"/>
          </a:xfrm>
          <a:prstGeom prst="roundRect">
            <a:avLst>
              <a:gd name="adj" fmla="val 727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54696" y="4086352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13064" y="4647184"/>
            <a:ext cx="502920" cy="382016"/>
          </a:xfrm>
          <a:prstGeom prst="roundRect">
            <a:avLst>
              <a:gd name="adj" fmla="val 9574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1624" y="4372864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63256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20~25%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3256" y="536752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12.1%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4790440"/>
            <a:ext cx="502920" cy="238760"/>
          </a:xfrm>
          <a:prstGeom prst="roundRect">
            <a:avLst>
              <a:gd name="adj" fmla="val 15319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4516120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13848" y="4933696"/>
            <a:ext cx="502920" cy="95504"/>
          </a:xfrm>
          <a:prstGeom prst="roundRect">
            <a:avLst>
              <a:gd name="adj" fmla="val 38297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22408" y="4659376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512064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25% 이상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36752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3.8%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2960" y="5029200"/>
            <a:ext cx="10543032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51560" y="2724912"/>
            <a:ext cx="6263640" cy="0"/>
          </a:xfrm>
          <a:prstGeom prst="line">
            <a:avLst/>
          </a:prstGeom>
          <a:ln w="19050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51560" y="2395728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2F6FAD"/>
                </a:solidFill>
                <a:latin typeface="Noto Sans KR"/>
              </a:rPr>
              <a:t>84%  (153 / 182 세션)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마진율 방어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할인은 대부분 얕은 구간에 몰려 있고,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깊은 할인은 상한 38%에서 멈춥니다.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정가 마진 40% 이상이면 가장 깊은 할인에서도 적자가 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CA3AF"/>
                </a:solidFill>
                <a:latin typeface="Noto Sans KR"/>
              </a:rPr>
              <a:t>※ 실제 원가·마진 자료가 없어 정가 마진율 40/50/60%를 가정한 시나리오입니다 (마진율 = (판매가 − 원가) ÷ 판매가, 원가는 정가 기준 고정)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48840"/>
            <a:ext cx="3931920" cy="30632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19456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세션의 84%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5212080"/>
            <a:ext cx="7863839" cy="0"/>
          </a:xfrm>
          <a:prstGeom prst="line">
            <a:avLst/>
          </a:prstGeom>
          <a:ln w="762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51114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4336868"/>
            <a:ext cx="7863839" cy="0"/>
          </a:xfrm>
          <a:prstGeom prst="line">
            <a:avLst/>
          </a:prstGeom>
          <a:ln w="762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42362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20%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54480" y="3461657"/>
            <a:ext cx="7863839" cy="0"/>
          </a:xfrm>
          <a:prstGeom prst="line">
            <a:avLst/>
          </a:prstGeom>
          <a:ln w="762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336107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40%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54480" y="2586445"/>
            <a:ext cx="7863839" cy="0"/>
          </a:xfrm>
          <a:prstGeom prst="line">
            <a:avLst/>
          </a:prstGeom>
          <a:ln w="762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248586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2852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399" y="52852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52852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9" y="52852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52852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38%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528523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4B5563"/>
                </a:solidFill>
                <a:latin typeface="Noto Sans KR"/>
              </a:rPr>
              <a:t>← 할인율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25128" y="2148840"/>
            <a:ext cx="0" cy="3063240"/>
          </a:xfrm>
          <a:prstGeom prst="line">
            <a:avLst/>
          </a:prstGeom>
          <a:ln w="12700">
            <a:solidFill>
              <a:srgbClr val="FF7A4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54480" y="2586445"/>
            <a:ext cx="393192" cy="35723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47672" y="2622168"/>
            <a:ext cx="393192" cy="37212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40864" y="2659380"/>
            <a:ext cx="393192" cy="38794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34056" y="2698174"/>
            <a:ext cx="393192" cy="40482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127248" y="2738656"/>
            <a:ext cx="393191" cy="42281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20439" y="2780937"/>
            <a:ext cx="393192" cy="44202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13631" y="2825139"/>
            <a:ext cx="393193" cy="46259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06824" y="2871398"/>
            <a:ext cx="393192" cy="48461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700016" y="2919859"/>
            <a:ext cx="393192" cy="50825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93208" y="2970684"/>
            <a:ext cx="393192" cy="53367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86400" y="3024051"/>
            <a:ext cx="393192" cy="56103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79592" y="3080154"/>
            <a:ext cx="393191" cy="59056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272783" y="3139210"/>
            <a:ext cx="393193" cy="62249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665976" y="3201459"/>
            <a:ext cx="393192" cy="65706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59168" y="3267165"/>
            <a:ext cx="393191" cy="69461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52359" y="3336626"/>
            <a:ext cx="393193" cy="73548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45552" y="3410174"/>
            <a:ext cx="393192" cy="78004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38744" y="3488178"/>
            <a:ext cx="393192" cy="82880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631936" y="3571058"/>
            <a:ext cx="393192" cy="88227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25128" y="3659285"/>
            <a:ext cx="0" cy="0"/>
          </a:xfrm>
          <a:prstGeom prst="line">
            <a:avLst/>
          </a:prstGeom>
          <a:ln w="34925">
            <a:solidFill>
              <a:srgbClr val="10A3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4439412" y="2831335"/>
            <a:ext cx="128016" cy="128016"/>
          </a:xfrm>
          <a:prstGeom prst="ellipse">
            <a:avLst/>
          </a:prstGeom>
          <a:solidFill>
            <a:srgbClr val="FFFFFF"/>
          </a:solidFill>
          <a:ln>
            <a:solidFill>
              <a:srgbClr val="10A3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11980" y="2584447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11827"/>
                </a:solidFill>
                <a:latin typeface="Noto Sans KR"/>
              </a:rPr>
              <a:t>52.9%</a:t>
            </a:r>
          </a:p>
        </p:txBody>
      </p:sp>
      <p:sp>
        <p:nvSpPr>
          <p:cNvPr id="47" name="Oval 46"/>
          <p:cNvSpPr/>
          <p:nvPr/>
        </p:nvSpPr>
        <p:spPr>
          <a:xfrm>
            <a:off x="8961119" y="3595277"/>
            <a:ext cx="128016" cy="128016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53144" y="3540413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11827"/>
                </a:solidFill>
                <a:latin typeface="Noto Sans KR"/>
              </a:rPr>
              <a:t>35.5%</a:t>
            </a:r>
            <a:r>
              <a:rPr sz="1050" b="1">
                <a:solidFill>
                  <a:srgbClr val="10A37F"/>
                </a:solidFill>
                <a:latin typeface="Noto Sans KR"/>
              </a:rPr>
              <a:t>   마진 60%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54480" y="3024051"/>
            <a:ext cx="393192" cy="44654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947672" y="3068705"/>
            <a:ext cx="393192" cy="46514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340864" y="3115219"/>
            <a:ext cx="393192" cy="48493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734056" y="3163712"/>
            <a:ext cx="393192" cy="50602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127248" y="3214314"/>
            <a:ext cx="393191" cy="52851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520439" y="3267165"/>
            <a:ext cx="393192" cy="55253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913631" y="3322418"/>
            <a:ext cx="393193" cy="57824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06824" y="3380242"/>
            <a:ext cx="393192" cy="60576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700016" y="3440818"/>
            <a:ext cx="393192" cy="63532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093208" y="3504350"/>
            <a:ext cx="393192" cy="66708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86400" y="3571058"/>
            <a:ext cx="393192" cy="70129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879592" y="3641187"/>
            <a:ext cx="393191" cy="73820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272783" y="3715007"/>
            <a:ext cx="393193" cy="77811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665976" y="3792818"/>
            <a:ext cx="393192" cy="82133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059168" y="3874951"/>
            <a:ext cx="393191" cy="86826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452359" y="3961777"/>
            <a:ext cx="393193" cy="91934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845552" y="4053711"/>
            <a:ext cx="393192" cy="97506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38744" y="4151217"/>
            <a:ext cx="393192" cy="103600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631936" y="4254817"/>
            <a:ext cx="393192" cy="110284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025128" y="4365101"/>
            <a:ext cx="0" cy="0"/>
          </a:xfrm>
          <a:prstGeom prst="line">
            <a:avLst/>
          </a:prstGeom>
          <a:ln w="34925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439412" y="3346166"/>
            <a:ext cx="128016" cy="128016"/>
          </a:xfrm>
          <a:prstGeom prst="ellipse">
            <a:avLst/>
          </a:prstGeom>
          <a:solidFill>
            <a:srgbClr val="FFFFFF"/>
          </a:solidFill>
          <a:ln>
            <a:solidFill>
              <a:srgbClr val="408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11980" y="309927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11827"/>
                </a:solidFill>
                <a:latin typeface="Noto Sans KR"/>
              </a:rPr>
              <a:t>41.2%</a:t>
            </a:r>
          </a:p>
        </p:txBody>
      </p:sp>
      <p:sp>
        <p:nvSpPr>
          <p:cNvPr id="71" name="Oval 70"/>
          <p:cNvSpPr/>
          <p:nvPr/>
        </p:nvSpPr>
        <p:spPr>
          <a:xfrm>
            <a:off x="8961119" y="4301093"/>
            <a:ext cx="128016" cy="128016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53144" y="424622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11827"/>
                </a:solidFill>
                <a:latin typeface="Noto Sans KR"/>
              </a:rPr>
              <a:t>19.4%</a:t>
            </a:r>
            <a:r>
              <a:rPr sz="1050" b="1">
                <a:solidFill>
                  <a:srgbClr val="4087C7"/>
                </a:solidFill>
                <a:latin typeface="Noto Sans KR"/>
              </a:rPr>
              <a:t>   마진 50%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554480" y="3461657"/>
            <a:ext cx="393192" cy="53584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947672" y="3515241"/>
            <a:ext cx="393192" cy="55817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340864" y="3571058"/>
            <a:ext cx="393192" cy="58192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734056" y="3629250"/>
            <a:ext cx="393192" cy="60723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127248" y="3689973"/>
            <a:ext cx="393191" cy="63421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520439" y="3753394"/>
            <a:ext cx="393192" cy="66304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913631" y="3819698"/>
            <a:ext cx="393193" cy="69387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306824" y="3889085"/>
            <a:ext cx="393192" cy="72692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00016" y="3961777"/>
            <a:ext cx="393192" cy="76238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093208" y="4038015"/>
            <a:ext cx="393192" cy="80050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486400" y="4118065"/>
            <a:ext cx="393192" cy="84155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879592" y="4202220"/>
            <a:ext cx="393191" cy="88584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272783" y="4290804"/>
            <a:ext cx="393193" cy="93373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665976" y="4384177"/>
            <a:ext cx="393192" cy="98560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059168" y="4482737"/>
            <a:ext cx="393191" cy="104191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452359" y="4586928"/>
            <a:ext cx="393193" cy="110321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845552" y="4697249"/>
            <a:ext cx="393192" cy="117007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238744" y="4814256"/>
            <a:ext cx="393192" cy="124320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31936" y="4938576"/>
            <a:ext cx="393192" cy="132340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025128" y="5070916"/>
            <a:ext cx="0" cy="0"/>
          </a:xfrm>
          <a:prstGeom prst="line">
            <a:avLst/>
          </a:prstGeom>
          <a:ln w="34925">
            <a:solidFill>
              <a:srgbClr val="FF7A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4439412" y="3860996"/>
            <a:ext cx="128016" cy="128016"/>
          </a:xfrm>
          <a:prstGeom prst="ellipse">
            <a:avLst/>
          </a:prstGeom>
          <a:solidFill>
            <a:srgbClr val="FFFFFF"/>
          </a:solidFill>
          <a:ln>
            <a:solidFill>
              <a:srgbClr val="F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11980" y="361410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11827"/>
                </a:solidFill>
                <a:latin typeface="Noto Sans KR"/>
              </a:rPr>
              <a:t>29.4%</a:t>
            </a:r>
          </a:p>
        </p:txBody>
      </p:sp>
      <p:sp>
        <p:nvSpPr>
          <p:cNvPr id="95" name="Oval 94"/>
          <p:cNvSpPr/>
          <p:nvPr/>
        </p:nvSpPr>
        <p:spPr>
          <a:xfrm>
            <a:off x="8961119" y="5006908"/>
            <a:ext cx="128016" cy="128016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53144" y="495204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11827"/>
                </a:solidFill>
                <a:latin typeface="Noto Sans KR"/>
              </a:rPr>
              <a:t>3.2%</a:t>
            </a:r>
            <a:r>
              <a:rPr sz="1050" b="1">
                <a:solidFill>
                  <a:srgbClr val="FF7A45"/>
                </a:solidFill>
                <a:latin typeface="Noto Sans KR"/>
              </a:rPr>
              <a:t>   마진 40%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54780" y="55412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2F6FAD"/>
                </a:solidFill>
                <a:latin typeface="Noto Sans KR"/>
              </a:rPr>
              <a:t>평균 15%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MVP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첫 버전은 두 전략을 검증하는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기능만 담습니다.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구현 2~3주 · 검증 9/28~9/30 — 상품 수만 확정되면 바로 착수합니다.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2F6FAD"/>
                </a:solidFill>
                <a:latin typeface="Noto Sans KR"/>
              </a:rPr>
              <a:t>포함 (Must)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전략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51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오전장·오후장 가격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C2410C"/>
                </a:solidFill>
                <a:latin typeface="Noto Sans KR"/>
              </a:rPr>
              <a:t>전략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08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가격 잠금 (오전장 하루 1회)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C2410C"/>
                </a:solidFill>
                <a:latin typeface="Noto Sans KR"/>
              </a:rPr>
              <a:t>전략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66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오늘의 보상 고르기 (안정형 / 공격형)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9CA3AF"/>
                </a:solidFill>
                <a:latin typeface="Noto Sans KR"/>
              </a:rPr>
              <a:t>전환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023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자사몰 이동·구매 (원클릭 지향)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9CA3AF"/>
                </a:solidFill>
                <a:latin typeface="Noto Sans KR"/>
              </a:rPr>
              <a:t>신뢰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80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‘투자가 아닙니다’ 안내 · 가격 근거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9CA3AF"/>
                </a:solidFill>
                <a:latin typeface="Noto Sans KR"/>
              </a:rPr>
              <a:t>안전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937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38% 상한 가드레일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03720" y="2331720"/>
            <a:ext cx="0" cy="301752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0" y="2240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9CA3AF"/>
                </a:solidFill>
                <a:latin typeface="Noto Sans KR"/>
              </a:rPr>
              <a:t>이번 범위 제외 · 여력 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6517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2F6FAD"/>
                </a:solidFill>
                <a:latin typeface="Noto Sans KR"/>
              </a:rPr>
              <a:t>여력 시 · 가격 하락 이메일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089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B5563"/>
                </a:solidFill>
                <a:latin typeface="Noto Sans KR"/>
              </a:rPr>
              <a:t>도감·씰 수집 콘텐츠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5661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B5563"/>
                </a:solidFill>
                <a:latin typeface="Noto Sans KR"/>
              </a:rPr>
              <a:t>매수가 기준 보상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0233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B5563"/>
                </a:solidFill>
                <a:latin typeface="Noto Sans KR"/>
              </a:rPr>
              <a:t>막지스톡 안에서의 결제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4805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B5563"/>
                </a:solidFill>
                <a:latin typeface="Noto Sans KR"/>
              </a:rPr>
              <a:t>막지스톡 자체 로그인·회원가입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서비스 목표와 같은 순서로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측정합니다.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목표값은 근거 없이 만들지 않고, 베타 1주차 실측 후 확정합니다.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CA3AF"/>
                </a:solidFill>
                <a:latin typeface="Noto Sans KR"/>
              </a:rPr>
              <a:t>GUARDRAIL(하나라도 초과 시 롤아웃 중단): 총혜택 상한 위반 0 · 사행성 문구 0 · 표시·결제가 불일치 0 · 가격 계산 오류율 ≤ 0.1% · 쿠폰 중복 적용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북극성 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11827"/>
                </a:solidFill>
                <a:latin typeface="Noto Sans KR"/>
              </a:rPr>
              <a:t>STOCK → 자사몰 전환율</a:t>
            </a:r>
            <a:r>
              <a:rPr sz="1300" b="0">
                <a:solidFill>
                  <a:srgbClr val="9CA3AF"/>
                </a:solidFill>
                <a:latin typeface="Noto Sans KR"/>
              </a:rPr>
              <a:t>     현재 미측정 · 베타 1주차에 기준선 확보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291840"/>
            <a:ext cx="10543032" cy="0"/>
          </a:xfrm>
          <a:prstGeom prst="line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520440"/>
            <a:ext cx="1280160" cy="365760"/>
          </a:xfrm>
          <a:prstGeom prst="roundRect">
            <a:avLst>
              <a:gd name="adj" fmla="val 44999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1순위 유입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2044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111827"/>
                </a:solidFill>
                <a:latin typeface="Noto Sans KR"/>
              </a:rPr>
              <a:t>방문자 수 · 신규 가입 · 자사몰 구매 이동률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520440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0">
                <a:solidFill>
                  <a:srgbClr val="9CA3AF"/>
                </a:solidFill>
                <a:latin typeface="Noto Sans KR"/>
              </a:rPr>
              <a:t>신규가입 5월 40건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06240"/>
            <a:ext cx="1280160" cy="365760"/>
          </a:xfrm>
          <a:prstGeom prst="roundRect">
            <a:avLst>
              <a:gd name="adj" fmla="val 44999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7A5B00"/>
                </a:solidFill>
                <a:latin typeface="Noto Sans KR"/>
              </a:rPr>
              <a:t>2순위 체류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0624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111827"/>
                </a:solidFill>
                <a:latin typeface="Noto Sans KR"/>
              </a:rPr>
              <a:t>익일 재방문율 · 체류시간 · 가격 잠금 사용률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206240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0">
                <a:solidFill>
                  <a:srgbClr val="9CA3AF"/>
                </a:solidFill>
                <a:latin typeface="Noto Sans KR"/>
              </a:rPr>
              <a:t>미측정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1280160" cy="365760"/>
          </a:xfrm>
          <a:prstGeom prst="roundRect">
            <a:avLst>
              <a:gd name="adj" fmla="val 44999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B6451B"/>
                </a:solidFill>
                <a:latin typeface="Noto Sans KR"/>
              </a:rPr>
              <a:t>2순위 전환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89204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111827"/>
                </a:solidFill>
                <a:latin typeface="Noto Sans KR"/>
              </a:rPr>
              <a:t>STOCK→자사몰 전환율 · 쿠폰 사용률 · 결제 완결률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92040"/>
            <a:ext cx="2587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0">
                <a:solidFill>
                  <a:srgbClr val="9CA3AF"/>
                </a:solidFill>
                <a:latin typeface="Noto Sans KR"/>
              </a:rPr>
              <a:t>결제 완결률 73.5%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매출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KPI가 달성되면 매출은 이렇게 그려집니다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점유율 확대만으로 잡은 5개년 시나리오.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시장이 커진다는 가정 없이, 점유율만으로 Base 18.8억을 그립니다.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CA3AF"/>
                </a:solidFill>
                <a:latin typeface="Noto Sans KR"/>
              </a:rPr>
              <a:t>TAM 13.6조원(국내 베이커리 2025) · SAM 2,100~2,650억(전문점×온라인×2030) · 목표 점유율 0.5~3% · 시장 성장률 미반영 · 망넛이네(2018 약 5.7억)·널담(2019 약 9.9억) 초기 실적은 벤치마크로만 참고, 확정 전망 아님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65960"/>
            <a:ext cx="6245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4B5563"/>
                </a:solidFill>
                <a:latin typeface="Noto Sans KR"/>
              </a:rPr>
              <a:t>매출 = 유입 × 구매 전환율 × 객단가 </a:t>
            </a:r>
            <a:r>
              <a:rPr sz="1000" b="1">
                <a:solidFill>
                  <a:srgbClr val="9CA3AF"/>
                </a:solidFill>
                <a:latin typeface="Noto Sans KR"/>
              </a:rPr>
              <a:t>(5월 2.32만원)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8FB5DA"/>
                </a:solidFill>
                <a:latin typeface="Noto Sans KR"/>
              </a:rPr>
              <a:t>■ 1년차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087C7"/>
                </a:solidFill>
                <a:latin typeface="Noto Sans KR"/>
              </a:rPr>
              <a:t>■ 5년차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5260848"/>
            <a:ext cx="1005840" cy="88392"/>
          </a:xfrm>
          <a:prstGeom prst="roundRect">
            <a:avLst>
              <a:gd name="adj" fmla="val 50000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895087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1.2억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142992"/>
            <a:ext cx="1005840" cy="206248"/>
          </a:xfrm>
          <a:prstGeom prst="roundRect">
            <a:avLst>
              <a:gd name="adj" fmla="val 22167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477723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2.8억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46811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Worst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63039" y="5349240"/>
            <a:ext cx="2743201" cy="0"/>
          </a:xfrm>
          <a:prstGeom prst="line">
            <a:avLst/>
          </a:prstGeom>
          <a:ln w="1587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0640" y="4929378"/>
            <a:ext cx="1005840" cy="419861"/>
          </a:xfrm>
          <a:prstGeom prst="roundRect">
            <a:avLst>
              <a:gd name="adj" fmla="val 10889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59" y="4563617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5.7억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964431"/>
            <a:ext cx="1005840" cy="1384808"/>
          </a:xfrm>
          <a:prstGeom prst="roundRect">
            <a:avLst>
              <a:gd name="adj" fmla="val 4545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3598671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2F6FAD"/>
                </a:solidFill>
                <a:latin typeface="Noto Sans KR"/>
              </a:rPr>
              <a:t>18.8억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546811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Base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46320" y="5349240"/>
            <a:ext cx="2743200" cy="0"/>
          </a:xfrm>
          <a:prstGeom prst="line">
            <a:avLst/>
          </a:prstGeom>
          <a:ln w="1587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03920" y="4620005"/>
            <a:ext cx="1005840" cy="729234"/>
          </a:xfrm>
          <a:prstGeom prst="roundRect">
            <a:avLst>
              <a:gd name="adj" fmla="val 6269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254245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9.9억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749041"/>
            <a:ext cx="1005840" cy="2600198"/>
          </a:xfrm>
          <a:prstGeom prst="roundRect">
            <a:avLst>
              <a:gd name="adj" fmla="val 4545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38328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35.3억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46811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Best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0" y="5349240"/>
            <a:ext cx="2743200" cy="0"/>
          </a:xfrm>
          <a:prstGeom prst="line">
            <a:avLst/>
          </a:prstGeom>
          <a:ln w="1587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핵심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구조적 제약 하나와,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실행으로 관리 가능한 다섯 가지입니다.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HIGH 3건은 출시 전에 해소합니다.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CA3AF"/>
                </a:solidFill>
                <a:latin typeface="Noto Sans KR"/>
              </a:rPr>
              <a:t>대응 원칙: 총혜택 상한 38% 고정 · 표시가 = 결제가 일치 검증 · 할인 표시 법무 검토 · 3구간 모델 기준 백테스트 재실행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14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9CA3AF"/>
                </a:solidFill>
                <a:latin typeface="Noto Sans K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591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STOCK ↔ 자사몰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432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RFP 요구 구조 — 원클릭으로 최소화만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4048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4048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Noto Sans KR"/>
              </a:rPr>
              <a:t>구조적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9CA3AF"/>
                </a:solidFill>
                <a:latin typeface="Noto Sans K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10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검색 키워드 적합성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백테스트는 모닝빵 1종 중심 — 나머지 검증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564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34564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Noto Sans KR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9CA3AF"/>
                </a:solidFill>
                <a:latin typeface="Noto Sans K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62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표시·결제가 불일치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846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다르면 신뢰·전환이 훼손됨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45079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45079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Noto Sans KR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77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9CA3AF"/>
                </a:solidFill>
                <a:latin typeface="Noto Sans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591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법적 위험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7432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할인 표시가 실제와 다르면 표시광고법 소지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24160" y="24048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0" y="24048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Noto Sans KR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29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9CA3AF"/>
                </a:solidFill>
                <a:latin typeface="Noto Sans K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410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가격모델 전환 재검증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794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3구간 모델로 바뀌어 백테스트 재실행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24160" y="345643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0" y="34564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4A3600"/>
                </a:solidFill>
                <a:latin typeface="Noto Sans KR"/>
              </a:rPr>
              <a:t>관리중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480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9CA3AF"/>
                </a:solidFill>
                <a:latin typeface="Noto Sans KR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4622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쿠폰 중복 적용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46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9CA3AF"/>
                </a:solidFill>
                <a:latin typeface="Noto Sans KR"/>
              </a:rPr>
              <a:t>동시 적용 시 총혜택 상한 초과 가능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45079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45079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4A3600"/>
                </a:solidFill>
                <a:latin typeface="Noto Sans KR"/>
              </a:rPr>
              <a:t>관리중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로드맵과 요청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3단계로 구현하고,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대표님께는 세 가지를 요청드립니다.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70448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5989320"/>
            <a:ext cx="6611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세 가지가 정해지면 바로 구현·검증 단계로 들어갑니다.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9CA3AF"/>
                </a:solidFill>
                <a:latin typeface="Noto Sans KR"/>
              </a:rPr>
              <a:t>향후 확장(설계 단계, 이번 구현 범위 아님): Bakery ETF · FX Bakery · Bread Index · 연속 방문 스트릭 보상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9CA3AF"/>
                </a:solidFill>
                <a:latin typeface="Noto Sans KR"/>
              </a:rPr>
              <a:t>15 / 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514600"/>
            <a:ext cx="10543032" cy="0"/>
          </a:xfrm>
          <a:prstGeom prst="line">
            <a:avLst/>
          </a:prstGeom>
          <a:ln w="317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2960" y="2386584"/>
            <a:ext cx="256032" cy="256032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PHASE 1  </a:t>
            </a:r>
            <a:r>
              <a:rPr sz="1600" b="1">
                <a:solidFill>
                  <a:srgbClr val="111827"/>
                </a:solidFill>
                <a:latin typeface="Noto Sans KR"/>
              </a:rP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272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시세 · 비교 · 구매 이동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2386584"/>
            <a:ext cx="256032" cy="256032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PHASE 2  </a:t>
            </a:r>
            <a:r>
              <a:rPr sz="1600" b="1">
                <a:solidFill>
                  <a:srgbClr val="111827"/>
                </a:solidFill>
                <a:latin typeface="Noto Sans KR"/>
              </a:rPr>
              <a:t>참여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1272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가격 잠금 · 보상 고르기 · 알림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0" y="2386584"/>
            <a:ext cx="256032" cy="256032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788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PHASE 3  </a:t>
            </a:r>
            <a:r>
              <a:rPr sz="1600" b="1">
                <a:solidFill>
                  <a:srgbClr val="111827"/>
                </a:solidFill>
                <a:latin typeface="Noto Sans KR"/>
              </a:rPr>
              <a:t>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1272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자사몰 실연동 · 쿠폰 · 구매 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D"/>
                </a:solidFill>
                <a:latin typeface="Noto Sans KR"/>
              </a:rPr>
              <a:t>요청 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976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11827"/>
                </a:solidFill>
                <a:latin typeface="Noto Sans KR"/>
              </a:rPr>
              <a:t>MVP 상품 수 확정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29768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대표 6종 기준으로 준비 중 · 최종 승인 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2803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F5B301"/>
                </a:solidFill>
                <a:latin typeface="Noto Sans K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2803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11827"/>
                </a:solidFill>
                <a:latin typeface="Noto Sans KR"/>
              </a:rPr>
              <a:t>실제 원가·마진율 공유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82803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지금은 40/50/60% 가정 · 실제 수치로 정밀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FF7A45"/>
                </a:solidFill>
                <a:latin typeface="Noto Sans K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35838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11827"/>
                </a:solidFill>
                <a:latin typeface="Noto Sans KR"/>
              </a:rPr>
              <a:t>할인 표시 법무 검토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5358384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기준가격·할인율·적용기간 표시가 표시광고법에 맞는지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4087C7"/>
                </a:solidFill>
                <a:latin typeface="Noto Sans KR"/>
              </a:rPr>
              <a:t>●  </a:t>
            </a:r>
            <a:r>
              <a:rPr sz="1300" b="1">
                <a:solidFill>
                  <a:srgbClr val="111827"/>
                </a:solidFill>
                <a:latin typeface="Noto Sans KR"/>
              </a:rPr>
              <a:t>MAKJI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11827"/>
                </a:solidFill>
                <a:latin typeface="Noto Sans KR"/>
              </a:rPr>
              <a:t>가격이 움직인다는 사실 자체가,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400" b="1">
                <a:solidFill>
                  <a:srgbClr val="4087C7"/>
                </a:solidFill>
                <a:latin typeface="Noto Sans KR"/>
              </a:rPr>
              <a:t>다시 찾는 이유</a:t>
            </a:r>
            <a:r>
              <a:rPr sz="4400" b="1">
                <a:solidFill>
                  <a:srgbClr val="111827"/>
                </a:solidFill>
                <a:latin typeface="Noto Sans KR"/>
              </a:rPr>
              <a:t>가 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4B5563"/>
                </a:solidFill>
                <a:latin typeface="Noto Sans KR"/>
              </a:rPr>
              <a:t>질문과 의견을 듣겠습니다.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빵값연구소  |  MAKJI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