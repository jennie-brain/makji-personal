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B79D0"/>
          </a:solidFill>
          <a:ln w="10160">
            <a:solidFill>
              <a:srgbClr val="0B7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53035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100" b="1">
                <a:solidFill>
                  <a:srgbClr val="0B79D0"/>
                </a:solidFill>
                <a:latin typeface="맑은 고딕"/>
              </a:defRPr>
            </a:pPr>
            <a:r>
              <a:t>MAKJI · BUSINESS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6675120" cy="1325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3800" b="1">
                <a:solidFill>
                  <a:srgbClr val="10233B"/>
                </a:solidFill>
                <a:latin typeface="맑은 고딕"/>
              </a:defRPr>
            </a:pPr>
            <a:r>
              <a:t>MAKJI</a:t>
            </a:r>
            <a:br/>
            <a:r>
              <a:t>STOCK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907792"/>
            <a:ext cx="621792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600" b="0">
                <a:solidFill>
                  <a:srgbClr val="344D67"/>
                </a:solidFill>
                <a:latin typeface="맑은 고딕"/>
              </a:defRPr>
            </a:pPr>
            <a:r>
              <a:t>검색수요와 환율로 매일 달라지는 빵값,</a:t>
            </a:r>
            <a:br/>
            <a:r>
              <a:t>가격 확인을 재방문과 자사몰 구매로 연결합니다.</a:t>
            </a:r>
          </a:p>
        </p:txBody>
      </p:sp>
      <p:pic>
        <p:nvPicPr>
          <p:cNvPr id="6" name="Picture 5" descr="Makji_logo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868680"/>
            <a:ext cx="347472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4892040"/>
            <a:ext cx="65836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0">
                <a:solidFill>
                  <a:srgbClr val="5F7186"/>
                </a:solidFill>
                <a:latin typeface="맑은 고딕"/>
              </a:defRPr>
            </a:pPr>
            <a:r>
              <a:t>기업 대표 보고   |   빵값연구소   |   2026.09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79D0"/>
          </a:solidFill>
          <a:ln w="10160">
            <a:solidFill>
              <a:srgbClr val="0B7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2103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MAKJI 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11480"/>
            <a:ext cx="3154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01 · 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32104"/>
            <a:ext cx="228600" cy="27432"/>
          </a:xfrm>
          <a:prstGeom prst="rect">
            <a:avLst/>
          </a:prstGeom>
          <a:solidFill>
            <a:srgbClr val="42A5F5"/>
          </a:solidFill>
          <a:ln w="101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731520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한 장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744200" cy="9326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500" b="1">
                <a:solidFill>
                  <a:srgbClr val="10233B"/>
                </a:solidFill>
                <a:latin typeface="맑은 고딕"/>
              </a:defRPr>
            </a:pPr>
            <a:r>
              <a:t>매일 달라지는 빵값이,</a:t>
            </a:r>
            <a:br/>
            <a:r>
              <a:t>매일 다시 찾는 막지를 만듭니다.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57400"/>
            <a:ext cx="5312664" cy="1993391"/>
          </a:xfrm>
          <a:prstGeom prst="roundRect">
            <a:avLst/>
          </a:prstGeom>
          <a:solidFill>
            <a:srgbClr val="F4FB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“오늘 사는 게 더 이득일까?”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매일 달라지는 가격은 확인하는 재미와 놓치고 싶지 않은 마음을 만듭니다. 고객은 가격을 비교하고, 예측하고, 다시 확인하는 능동적인 경험을 갖습니다.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57400"/>
            <a:ext cx="5312664" cy="199339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상품 노출을 방문 습관과 구매 기회로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고정된 상품 진열에 ‘오늘의 가격’이라는 콘텐츠를 더해 반복 노출을 만들고, 광고 유입을 상품 탐색과 자사몰 구매로 연결합니다.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197096"/>
            <a:ext cx="5312664" cy="199339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 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iPhone 17 프로토타입 교체 영역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79D0"/>
          </a:solidFill>
          <a:ln w="10160">
            <a:solidFill>
              <a:srgbClr val="0B7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2103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MAKJI 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11480"/>
            <a:ext cx="3154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02 ·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32104"/>
            <a:ext cx="228600" cy="27432"/>
          </a:xfrm>
          <a:prstGeom prst="rect">
            <a:avLst/>
          </a:prstGeom>
          <a:solidFill>
            <a:srgbClr val="42A5F5"/>
          </a:solidFill>
          <a:ln w="101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731520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744200" cy="9326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500" b="1">
                <a:solidFill>
                  <a:srgbClr val="10233B"/>
                </a:solidFill>
                <a:latin typeface="맑은 고딕"/>
              </a:defRPr>
            </a:pPr>
            <a:r>
              <a:t>사업성부터 실행 조건까지</a:t>
            </a:r>
            <a:br/>
            <a:r>
              <a:t>여섯 가지 질문에 답합니다.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57400"/>
            <a:ext cx="10771632" cy="3520440"/>
          </a:xfrm>
          <a:prstGeom prst="roundRect">
            <a:avLst/>
          </a:prstGeom>
          <a:solidFill>
            <a:srgbClr val="F4FB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핵심 내용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목차의 항목을 클릭하면 해당 슬라이드로 이동합니다.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79D0"/>
          </a:solidFill>
          <a:ln w="10160">
            <a:solidFill>
              <a:srgbClr val="0B7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2103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MAKJI 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11480"/>
            <a:ext cx="3154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03 ·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32104"/>
            <a:ext cx="228600" cy="27432"/>
          </a:xfrm>
          <a:prstGeom prst="rect">
            <a:avLst/>
          </a:prstGeom>
          <a:solidFill>
            <a:srgbClr val="42A5F5"/>
          </a:solidFill>
          <a:ln w="101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731520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기획 배경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744200" cy="9326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500" b="1">
                <a:solidFill>
                  <a:srgbClr val="10233B"/>
                </a:solidFill>
                <a:latin typeface="맑은 고딕"/>
              </a:defRPr>
            </a:pPr>
            <a:r>
              <a:t>고정된 상품과 가격만으로는</a:t>
            </a:r>
            <a:br/>
            <a:r>
              <a:t>매일 다시 방문할 이유가 부족합니다.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57400"/>
            <a:ext cx="5312664" cy="199339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현재의 한계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• 고정된 가격과 상품 진열은 다음 날 다시 확인해야 할 새로운 정보가 적음</a:t>
            </a:r>
            <a:br/>
            <a:r>
              <a:t>• 광고 유입 이후 둘러볼 콘텐츠와 재방문 장치가 부족함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57400"/>
            <a:ext cx="5312664" cy="1993391"/>
          </a:xfrm>
          <a:prstGeom prst="roundRect">
            <a:avLst/>
          </a:prstGeom>
          <a:solidFill>
            <a:srgbClr val="F4FB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외부 연구가 보여주는 가능성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182명 현장실험에서는 시간 제한 프로모션이 각성을 높여 실제 충동구매로 이어졌고, 501명 조사에서도 시간 제한·가격 할인이 구매행동에 유의한 영향을 보였습니다.</a:t>
            </a:r>
            <a:br/>
            <a:r>
              <a:t>MAKJI의 재방문 효과는 아직 가설이며 MVP 행동 데이터로 검증합니다.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197096"/>
            <a:ext cx="5312664" cy="1993391"/>
          </a:xfrm>
          <a:prstGeom prst="roundRect">
            <a:avLst/>
          </a:prstGeom>
          <a:solidFill>
            <a:srgbClr val="0B79D0"/>
          </a:solidFill>
          <a:ln w="10160">
            <a:solidFill>
              <a:srgbClr val="0B7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 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EAF7FF"/>
                </a:solidFill>
                <a:latin typeface="맑은 고딕"/>
              </a:defRPr>
            </a:pPr>
            <a:r>
              <a:t>가격을 확인하는 재미와 구매 긴급성을</a:t>
            </a:r>
            <a:br/>
            <a:r>
              <a:t>다음 방문과 구매 기회로 전환합니다.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236208"/>
            <a:ext cx="99669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50" b="0">
                <a:solidFill>
                  <a:srgbClr val="5F7186"/>
                </a:solidFill>
                <a:latin typeface="맑은 고딕"/>
              </a:defRPr>
            </a:pPr>
            <a:r>
              <a:t>근거 · Wu et al.(2020), 현장실험 n=182 · Online promotion effects under time limitation(2023), 설문 n=501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79D0"/>
          </a:solidFill>
          <a:ln w="10160">
            <a:solidFill>
              <a:srgbClr val="0B7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2103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MAKJI 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11480"/>
            <a:ext cx="3154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04 ·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32104"/>
            <a:ext cx="228600" cy="27432"/>
          </a:xfrm>
          <a:prstGeom prst="rect">
            <a:avLst/>
          </a:prstGeom>
          <a:solidFill>
            <a:srgbClr val="42A5F5"/>
          </a:solidFill>
          <a:ln w="101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731520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744200" cy="9326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500" b="1">
                <a:solidFill>
                  <a:srgbClr val="10233B"/>
                </a:solidFill>
                <a:latin typeface="맑은 고딕"/>
              </a:defRPr>
            </a:pPr>
            <a:r>
              <a:t>매일 아침 환율로 기본 할인을 정하고,</a:t>
            </a:r>
            <a:br/>
            <a:r>
              <a:t>빵별 검색관심을 더해 오늘만의 가격을 보여줍니다.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57400"/>
            <a:ext cx="3493008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환율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057400"/>
            <a:ext cx="3493008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검색수요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2057400"/>
            <a:ext cx="3493008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오늘 가격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483863"/>
            <a:ext cx="3493008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상품 탐색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3483863"/>
            <a:ext cx="3493008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자사몰 구매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3483863"/>
            <a:ext cx="3493008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시세 확인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1</a:t>
            </a:r>
            <a:br/>
            <a:r>
              <a:t>오늘 가격과 변동 이유를 한눈에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910327"/>
            <a:ext cx="3493008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비교·참여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2</a:t>
            </a:r>
            <a:br/>
            <a:r>
              <a:t>가격 추이와 내일 가격 예측으로 체류 확대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4910327"/>
            <a:ext cx="3493008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구매 전환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3</a:t>
            </a:r>
            <a:br/>
            <a:r>
              <a:t>관심 상품을 자사몰 상세 페이지로 연결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79D0"/>
          </a:solidFill>
          <a:ln w="10160">
            <a:solidFill>
              <a:srgbClr val="0B7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2103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MAKJI 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11480"/>
            <a:ext cx="3154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05 · CUSTOMER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32104"/>
            <a:ext cx="228600" cy="27432"/>
          </a:xfrm>
          <a:prstGeom prst="rect">
            <a:avLst/>
          </a:prstGeom>
          <a:solidFill>
            <a:srgbClr val="42A5F5"/>
          </a:solidFill>
          <a:ln w="101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731520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사용자 여정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744200" cy="9326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500" b="1">
                <a:solidFill>
                  <a:srgbClr val="10233B"/>
                </a:solidFill>
                <a:latin typeface="맑은 고딕"/>
              </a:defRPr>
            </a:pPr>
            <a:r>
              <a:t>광고 유입에서 가격 확인,</a:t>
            </a:r>
            <a:br/>
            <a:r>
              <a:t>자사몰 구매와 다음 날 재방문까지 이어집니다.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57400"/>
            <a:ext cx="5312664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01 유입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57400"/>
            <a:ext cx="5312664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02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483863"/>
            <a:ext cx="5312664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03 판단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483863"/>
            <a:ext cx="5312664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04 전환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910327"/>
            <a:ext cx="5312664" cy="1280159"/>
          </a:xfrm>
          <a:prstGeom prst="roundRect">
            <a:avLst/>
          </a:prstGeom>
          <a:solidFill>
            <a:srgbClr val="F4FB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재방문 장치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• 내일 가격 상승·하락 예측</a:t>
            </a:r>
            <a:br/>
            <a:r>
              <a:t>• 다음 날 결과 확인과 쿠폰</a:t>
            </a:r>
            <a:br/>
            <a:r>
              <a:t>• 데일리 뉴스·운세·게임 콘텐츠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910327"/>
            <a:ext cx="5312664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서비스 역할 분담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MAKJI STOCK</a:t>
            </a:r>
            <a:br/>
            <a:r>
              <a:t>— 가격 확인·비교·참여</a:t>
            </a:r>
            <a:br/>
            <a:r>
              <a:t>막지 자사몰</a:t>
            </a:r>
            <a:br/>
            <a:r>
              <a:t>— 상품·장바구니·주문·결제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79D0"/>
          </a:solidFill>
          <a:ln w="10160">
            <a:solidFill>
              <a:srgbClr val="0B7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2103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MAKJI 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11480"/>
            <a:ext cx="3154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06 ·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32104"/>
            <a:ext cx="228600" cy="27432"/>
          </a:xfrm>
          <a:prstGeom prst="rect">
            <a:avLst/>
          </a:prstGeom>
          <a:solidFill>
            <a:srgbClr val="42A5F5"/>
          </a:solidFill>
          <a:ln w="101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731520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주요 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744200" cy="9326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500" b="1">
                <a:solidFill>
                  <a:srgbClr val="10233B"/>
                </a:solidFill>
                <a:latin typeface="맑은 고딕"/>
              </a:defRPr>
            </a:pPr>
            <a:r>
              <a:t>프로토타입은 세 개의 핵심 화면으로 설계합니다.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57400"/>
            <a:ext cx="5312664" cy="199339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HOME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오늘의 시장 브리핑과 콘텐츠 선택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57400"/>
            <a:ext cx="5312664" cy="1993391"/>
          </a:xfrm>
          <a:prstGeom prst="roundRect">
            <a:avLst/>
          </a:prstGeom>
          <a:solidFill>
            <a:srgbClr val="F4FB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BREAD MARKET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5개 상품의 오늘 가격·변화·구매 이동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197096"/>
            <a:ext cx="5312664" cy="199339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EVENT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가격 예측·결과 확인·데일리 참여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79D0"/>
          </a:solidFill>
          <a:ln w="10160">
            <a:solidFill>
              <a:srgbClr val="0B7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2103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MAKJI 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11480"/>
            <a:ext cx="3154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07 · PRICING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32104"/>
            <a:ext cx="228600" cy="27432"/>
          </a:xfrm>
          <a:prstGeom prst="rect">
            <a:avLst/>
          </a:prstGeom>
          <a:solidFill>
            <a:srgbClr val="42A5F5"/>
          </a:solidFill>
          <a:ln w="101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731520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가격 결정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744200" cy="9326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500" b="1">
                <a:solidFill>
                  <a:srgbClr val="10233B"/>
                </a:solidFill>
                <a:latin typeface="맑은 고딕"/>
              </a:defRPr>
            </a:pPr>
            <a:r>
              <a:t>환율이 가격을 움직이고,</a:t>
            </a:r>
            <a:br/>
            <a:r>
              <a:t>검색수요가 상품별 혜택을 더합니다.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57400"/>
            <a:ext cx="10771632" cy="777240"/>
          </a:xfrm>
          <a:prstGeom prst="roundRect">
            <a:avLst/>
          </a:prstGeom>
          <a:solidFill>
            <a:srgbClr val="17395F"/>
          </a:solidFill>
          <a:ln w="10160">
            <a:solidFill>
              <a:srgbClr val="173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/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총할인율 = min(38%p, 환율할인 + 검색쿠폰)</a:t>
            </a:r>
            <a:br/>
            <a:r>
              <a:t>할인은 전일 가격이 아닌 정가에 적용하며 복리로 누적하지 않습니다.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999232"/>
            <a:ext cx="5312664" cy="3310128"/>
          </a:xfrm>
          <a:prstGeom prst="roundRect">
            <a:avLst/>
          </a:prstGeom>
          <a:solidFill>
            <a:srgbClr val="F4FB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0.28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• 0.28</a:t>
            </a:r>
            <a:br/>
            <a:r>
              <a:t>— 총 38%p 중 환율에 배정한 최대 28%p를 소수로 표현</a:t>
            </a:r>
            <a:br/>
            <a:r>
              <a:t>• ×50</a:t>
            </a:r>
            <a:br/>
            <a:r>
              <a:t>— 작은 일일 환율 변동을 체감 가능한 할인폭으로 확대하는 초기 마케팅 계수</a:t>
            </a:r>
            <a:br/>
            <a:r>
              <a:t>• 환율 상승 시 소비자 가격을 올리지 않고 환율할인을 0%p로 제한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999232"/>
            <a:ext cx="5312664" cy="3310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0.1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• 0.1</a:t>
            </a:r>
            <a:br/>
            <a:r>
              <a:t>— 지수 100을 최대 10%p 쿠폰으로 변환하는 계수</a:t>
            </a:r>
            <a:br/>
            <a:r>
              <a:t>• 상품별 관심도를 오늘의 추가 혜택으로 반영</a:t>
            </a:r>
            <a:br/>
            <a:r>
              <a:t>• 현재 검증은 모닝빵 1종이므로 나머지 4종의 키워드 적합성 검증 필요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79D0"/>
          </a:solidFill>
          <a:ln w="10160">
            <a:solidFill>
              <a:srgbClr val="0B7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2103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MAKJI 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11480"/>
            <a:ext cx="3154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08 · DATA TIMING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32104"/>
            <a:ext cx="228600" cy="27432"/>
          </a:xfrm>
          <a:prstGeom prst="rect">
            <a:avLst/>
          </a:prstGeom>
          <a:solidFill>
            <a:srgbClr val="42A5F5"/>
          </a:solidFill>
          <a:ln w="101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731520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데이터 시점과 예외 처리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744200" cy="9326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500" b="1">
                <a:solidFill>
                  <a:srgbClr val="10233B"/>
                </a:solidFill>
                <a:latin typeface="맑은 고딕"/>
              </a:defRPr>
            </a:pPr>
            <a:r>
              <a:t>당일 가격은 이미 확정된 데이터만 사용합니다.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57400"/>
            <a:ext cx="5312664" cy="1993391"/>
          </a:xfrm>
          <a:prstGeom prst="roundRect">
            <a:avLst/>
          </a:prstGeom>
          <a:solidFill>
            <a:srgbClr val="0B79D0"/>
          </a:solidFill>
          <a:ln w="10160">
            <a:solidFill>
              <a:srgbClr val="0B7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환율 하락률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EAF7FF"/>
                </a:solidFill>
                <a:latin typeface="맑은 고딕"/>
              </a:defRPr>
            </a:pPr>
            <a:r>
              <a:t>(직전 영업일 환율 − 최신 확정 환율)</a:t>
            </a:r>
            <a:br/>
            <a:r>
              <a:t>÷ 직전 영업일 환율 × 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57400"/>
            <a:ext cx="5312664" cy="199339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매일 09:00 반영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D-1 검색량지수와 최신 확정 USD/KRW 매매기준율을 사용합니다. 표시일과 환율 기준일을 분리해 기록합니다.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197096"/>
            <a:ext cx="5312664" cy="1993391"/>
          </a:xfrm>
          <a:prstGeom prst="roundRect">
            <a:avLst/>
          </a:prstGeom>
          <a:solidFill>
            <a:srgbClr val="F4FB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외환시장 비영업일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새 환율이 없으면 직전 영업일에 산출된 환율 하락률을 이월합니다. 검색량은 계속 바뀌므로 최종 가격은 고정되지 않습니다.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79D0"/>
          </a:solidFill>
          <a:ln w="10160">
            <a:solidFill>
              <a:srgbClr val="0B7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2103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MAKJI 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11480"/>
            <a:ext cx="3154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09 · CALCULATION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32104"/>
            <a:ext cx="228600" cy="27432"/>
          </a:xfrm>
          <a:prstGeom prst="rect">
            <a:avLst/>
          </a:prstGeom>
          <a:solidFill>
            <a:srgbClr val="42A5F5"/>
          </a:solidFill>
          <a:ln w="101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731520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실제 계산 예시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744200" cy="9326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500" b="1">
                <a:solidFill>
                  <a:srgbClr val="10233B"/>
                </a:solidFill>
                <a:latin typeface="맑은 고딕"/>
              </a:defRPr>
            </a:pPr>
            <a:r>
              <a:t>두 데이터가 하나의 오늘 가격으로 합쳐집니다.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57400"/>
            <a:ext cx="5312664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환율 하락률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57400"/>
            <a:ext cx="5312664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환율 계수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483863"/>
            <a:ext cx="5312664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환율할인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483863"/>
            <a:ext cx="5312664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검색쿠폰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910327"/>
            <a:ext cx="5312664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 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38%p 상한 이내이므로 그대로 적용합니다.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910327"/>
            <a:ext cx="5312664" cy="1280159"/>
          </a:xfrm>
          <a:prstGeom prst="roundRect">
            <a:avLst/>
          </a:prstGeom>
          <a:solidFill>
            <a:srgbClr val="0B79D0"/>
          </a:solidFill>
          <a:ln w="10160">
            <a:solidFill>
              <a:srgbClr val="0B7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 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EAF7FF"/>
                </a:solidFill>
                <a:latin typeface="맑은 고딕"/>
              </a:defRPr>
            </a:pPr>
            <a:r>
              <a:t>정가 × (1 − 18.62%) · 원 단위 계산 예시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236208"/>
            <a:ext cx="99669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50" b="0">
                <a:solidFill>
                  <a:srgbClr val="5F7186"/>
                </a:solidFill>
                <a:latin typeface="맑은 고딕"/>
              </a:defRPr>
            </a:pPr>
            <a:r>
              <a:t>출처 · 막지스톡 할인율 산식 검증.xlsx, 2026.06.13 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79D0"/>
          </a:solidFill>
          <a:ln w="10160">
            <a:solidFill>
              <a:srgbClr val="0B7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2103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MAKJI 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11480"/>
            <a:ext cx="3154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10 · 91-DAY BACKTEST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32104"/>
            <a:ext cx="228600" cy="27432"/>
          </a:xfrm>
          <a:prstGeom prst="rect">
            <a:avLst/>
          </a:prstGeom>
          <a:solidFill>
            <a:srgbClr val="42A5F5"/>
          </a:solidFill>
          <a:ln w="101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731520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실데이터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744200" cy="9326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500" b="1">
                <a:solidFill>
                  <a:srgbClr val="10233B"/>
                </a:solidFill>
                <a:latin typeface="맑은 고딕"/>
              </a:defRPr>
            </a:pPr>
            <a:r>
              <a:t>평소 할인은 12%p 안팎,</a:t>
            </a:r>
            <a:br/>
            <a:r>
              <a:t>고할인은 드문 이벤트로 나타났습니다.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57400"/>
            <a:ext cx="5312664" cy="1993391"/>
          </a:xfrm>
          <a:prstGeom prst="roundRect">
            <a:avLst/>
          </a:prstGeom>
          <a:solidFill>
            <a:srgbClr val="F4FB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중앙값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절반의 날은 12%p 이하, 절반은 이상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57400"/>
            <a:ext cx="5312664" cy="199339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평균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일부 고할인일 영향으로 중앙값보다 0.5%p 높음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197096"/>
            <a:ext cx="5312664" cy="199339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최대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38%p 상한까지 7.1%p 여유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197096"/>
            <a:ext cx="5312664" cy="199339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상한 도달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관측 기간에는 38%p 미도달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236208"/>
            <a:ext cx="99669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50" b="0">
                <a:solidFill>
                  <a:srgbClr val="5F7186"/>
                </a:solidFill>
                <a:latin typeface="맑은 고딕"/>
              </a:defRPr>
            </a:pPr>
            <a:r>
              <a:t>출처 · 막지스톡 할인율 산식 검증.xlsx · 관측 결과는 수익성 검증을 의미하지 않음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79D0"/>
          </a:solidFill>
          <a:ln w="10160">
            <a:solidFill>
              <a:srgbClr val="0B7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2103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MAKJI 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11480"/>
            <a:ext cx="3154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11 ·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32104"/>
            <a:ext cx="228600" cy="27432"/>
          </a:xfrm>
          <a:prstGeom prst="rect">
            <a:avLst/>
          </a:prstGeom>
          <a:solidFill>
            <a:srgbClr val="42A5F5"/>
          </a:solidFill>
          <a:ln w="101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731520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결과 해석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744200" cy="9326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500" b="1">
                <a:solidFill>
                  <a:srgbClr val="10233B"/>
                </a:solidFill>
                <a:latin typeface="맑은 고딕"/>
              </a:defRPr>
            </a:pPr>
            <a:r>
              <a:t>91일 중 절반은 할인율이 12%p 이하였고,</a:t>
            </a:r>
            <a:br/>
            <a:r>
              <a:t>가격 변화의 97%는 환율이 만들었습니다.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57400"/>
            <a:ext cx="5312664" cy="4133087"/>
          </a:xfrm>
          <a:prstGeom prst="roundRect">
            <a:avLst/>
          </a:prstGeom>
          <a:solidFill>
            <a:srgbClr val="F4FB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중앙값 12.0%p의 의미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고할인 하루에 덜 흔들리는 대표값입니다. 정가 4,500원이라면 약 3,960원으로, 소비자가 평소 접할 가격 수준을 설명합니다.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57400"/>
            <a:ext cx="5312664" cy="413308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중앙값이 증명하지 않는 것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구매 전환, 재방문, 최적 할인율, 원가·마진을 증명하지 않습니다. 사업 성과와 수익성 지표를 별도로 확인해야 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236208"/>
            <a:ext cx="99669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50" b="0">
                <a:solidFill>
                  <a:srgbClr val="5F7186"/>
                </a:solidFill>
                <a:latin typeface="맑은 고딕"/>
              </a:defRPr>
            </a:pPr>
            <a:r>
              <a:t>출처 · 막지스톡 할인율 산식 검증.xlsx · 모닝빵 단일 키워드 표본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79D0"/>
          </a:solidFill>
          <a:ln w="10160">
            <a:solidFill>
              <a:srgbClr val="0B7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2103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MAKJI 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11480"/>
            <a:ext cx="3154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13 ·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32104"/>
            <a:ext cx="228600" cy="27432"/>
          </a:xfrm>
          <a:prstGeom prst="rect">
            <a:avLst/>
          </a:prstGeom>
          <a:solidFill>
            <a:srgbClr val="42A5F5"/>
          </a:solidFill>
          <a:ln w="101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731520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핵심 리스크와 대응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744200" cy="9326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500" b="1">
                <a:solidFill>
                  <a:srgbClr val="10233B"/>
                </a:solidFill>
                <a:latin typeface="맑은 고딕"/>
              </a:defRPr>
            </a:pPr>
            <a:r>
              <a:t>산식은 작동하지만,</a:t>
            </a:r>
            <a:br/>
            <a:r>
              <a:t>출시 전 세 가지 증명이 더 필요합니다.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57400"/>
            <a:ext cx="5312664" cy="199339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전 상품 검색키워드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백테스트는 모닝빵 1종 기준. 저검색량 상품은 쿠폰이 거의 0%p가 될 수 있습니다.</a:t>
            </a:r>
            <a:br/>
            <a:r>
              <a:t>MAKJI STOCK 표시가격과 카페24 결제가격이 다르면 고객 신뢰와 전환이 훼손됩니다.</a:t>
            </a:r>
            <a:br/>
            <a:r>
              <a:t>기준가격·할인율·적용기간·거래조건이 실제와 다르거나 불명확하면 거짓·과장 또는 기만 표시로 판단될 수 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57400"/>
            <a:ext cx="5312664" cy="1993391"/>
          </a:xfrm>
          <a:prstGeom prst="roundRect">
            <a:avLst/>
          </a:prstGeom>
          <a:solidFill>
            <a:srgbClr val="F4FB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출시 전 대응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• 5종 검색어 묶음과 지수 분포 검증</a:t>
            </a:r>
            <a:br/>
            <a:r>
              <a:t>• 카페24 자동할인 또는 동적 판매가 연동 확정</a:t>
            </a:r>
            <a:br/>
            <a:r>
              <a:t>• 기준가격·할인 구성·적용일·데이터 기준을 화면에 명시</a:t>
            </a:r>
            <a:br/>
            <a:r>
              <a:t>• 데이터 오류·결측·휴장일 예외 테스트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197096"/>
            <a:ext cx="5312664" cy="199339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법무·표시 검토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출시 전 할인율 산정 근거와 기준가격 표시가 실제 결제조건과 일치하는지 법무 검토를 거칩니다. 소비자가 계약 전에 가격과 거래조건을 정확히 이해할 수 있도록 고지합니다.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236208"/>
            <a:ext cx="99669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50" b="0">
                <a:solidFill>
                  <a:srgbClr val="5F7186"/>
                </a:solidFill>
                <a:latin typeface="맑은 고딕"/>
              </a:defRPr>
            </a:pPr>
            <a:r>
              <a:t>참고 · 표시광고법 제3조 · 전자상거래법 제13조 · 최종 판단은 기업 법무 검토 필요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79D0"/>
          </a:solidFill>
          <a:ln w="10160">
            <a:solidFill>
              <a:srgbClr val="0B7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2103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MAKJI 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11480"/>
            <a:ext cx="3154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14 ·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32104"/>
            <a:ext cx="228600" cy="27432"/>
          </a:xfrm>
          <a:prstGeom prst="rect">
            <a:avLst/>
          </a:prstGeom>
          <a:solidFill>
            <a:srgbClr val="42A5F5"/>
          </a:solidFill>
          <a:ln w="101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731520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MVP 구현 계획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744200" cy="9326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500" b="1">
                <a:solidFill>
                  <a:srgbClr val="10233B"/>
                </a:solidFill>
                <a:latin typeface="맑은 고딕"/>
              </a:defRPr>
            </a:pPr>
            <a:r>
              <a:t>Bread Market의 가격 계산과 구매 연결부터 완결합니다.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57400"/>
            <a:ext cx="3493008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외부 데이터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057400"/>
            <a:ext cx="3493008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계산 서버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2057400"/>
            <a:ext cx="3493008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기록·표시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483863"/>
            <a:ext cx="3493008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구매 연결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3483863"/>
            <a:ext cx="3493008" cy="1280159"/>
          </a:xfrm>
          <a:prstGeom prst="roundRect">
            <a:avLst/>
          </a:prstGeom>
          <a:solidFill>
            <a:srgbClr val="F4FB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데이터·산식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1</a:t>
            </a:r>
            <a:br/>
            <a:r>
              <a:t>5종 키워드, 환율 소스, 결측·비영업일 규칙 확정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3483863"/>
            <a:ext cx="3493008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가격 경험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2</a:t>
            </a:r>
            <a:br/>
            <a:r>
              <a:t>상품별 오늘 가격·구성·추이와 자사몰 CTA 구현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910327"/>
            <a:ext cx="3493008" cy="128015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검증 운영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3</a:t>
            </a:r>
            <a:br/>
            <a:r>
              <a:t>방문·탐색·구매 이동·실제 결제 데이터를 연결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79D0"/>
          </a:solidFill>
          <a:ln w="10160">
            <a:solidFill>
              <a:srgbClr val="0B7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2103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MAKJI 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11480"/>
            <a:ext cx="3154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15 · MEASUREMENT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832104"/>
            <a:ext cx="228600" cy="27432"/>
          </a:xfrm>
          <a:prstGeom prst="rect">
            <a:avLst/>
          </a:prstGeom>
          <a:solidFill>
            <a:srgbClr val="42A5F5"/>
          </a:solidFill>
          <a:ln w="101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731520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0" b="1">
                <a:solidFill>
                  <a:srgbClr val="0B79D0"/>
                </a:solidFill>
                <a:latin typeface="맑은 고딕"/>
              </a:defRPr>
            </a:pPr>
            <a:r>
              <a:t>성과 측정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10744200" cy="9326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500" b="1">
                <a:solidFill>
                  <a:srgbClr val="10233B"/>
                </a:solidFill>
                <a:latin typeface="맑은 고딕"/>
              </a:defRPr>
            </a:pPr>
            <a:r>
              <a:t>고객 행동과 가격 안전성을</a:t>
            </a:r>
            <a:br/>
            <a:r>
              <a:t>서로 다른 지표로 관리합니다.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55664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57400"/>
            <a:ext cx="5312664" cy="1993391"/>
          </a:xfrm>
          <a:prstGeom prst="roundRect">
            <a:avLst/>
          </a:prstGeom>
          <a:solidFill>
            <a:srgbClr val="F4FB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 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• 익일 재방문율</a:t>
            </a:r>
            <a:br/>
            <a:r>
              <a:t>• 상품 상세 조회율</a:t>
            </a:r>
            <a:br/>
            <a:r>
              <a:t>• 자사몰 구매 이동률</a:t>
            </a:r>
            <a:br/>
            <a:r>
              <a:t>• 예측 참여율·참여자 재방문율</a:t>
            </a:r>
            <a:br/>
            <a:r>
              <a:t>• 실제 구매 전환율·쿠폰 사용률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57400"/>
            <a:ext cx="5312664" cy="199339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 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• 평균·중앙 할인율과 일별 변동폭</a:t>
            </a:r>
            <a:br/>
            <a:r>
              <a:t>• 20%p 초과 일수와 38%p 상한 도달일수</a:t>
            </a:r>
            <a:br/>
            <a:r>
              <a:t>• MAKJI STOCK 표시가격과 실제 결제가격 일치율</a:t>
            </a:r>
            <a:br/>
            <a:r>
              <a:t>• 데이터 결측·산식 실패 건수</a:t>
            </a:r>
            <a:br/>
            <a:r>
              <a:t>• 가격·할인조건 고지 누락 건수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197096"/>
            <a:ext cx="5312664" cy="199339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3736" rIns="173736" tIns="137160" bIns="137160"/>
          <a:lstStyle/>
          <a:p>
            <a:pPr algn="ctr">
              <a:defRPr sz="1400" b="1">
                <a:solidFill>
                  <a:srgbClr val="17395F"/>
                </a:solidFill>
                <a:latin typeface="맑은 고딕"/>
              </a:defRPr>
            </a:pPr>
            <a:r>
              <a:t>측정의 목적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050">
                <a:solidFill>
                  <a:srgbClr val="5F7186"/>
                </a:solidFill>
                <a:latin typeface="맑은 고딕"/>
              </a:defRPr>
            </a:pPr>
            <a:r>
              <a:t>오늘 가격을 확인하기 위한 방문이 상품 탐색과 자사몰 구매로 이어지는지 확인합니다.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B79D0"/>
          </a:solidFill>
          <a:ln w="10160">
            <a:solidFill>
              <a:srgbClr val="0B7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53035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100" b="1">
                <a:solidFill>
                  <a:srgbClr val="0B79D0"/>
                </a:solidFill>
                <a:latin typeface="맑은 고딕"/>
              </a:defRPr>
            </a:pPr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6675120" cy="1325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3100" b="1">
                <a:solidFill>
                  <a:srgbClr val="10233B"/>
                </a:solidFill>
                <a:latin typeface="맑은 고딕"/>
              </a:defRPr>
            </a:pPr>
            <a:r>
              <a:t>매일 달라지는 빵값이,</a:t>
            </a:r>
            <a:br/>
            <a:r>
              <a:t>매일 다시 찾는 막지를 만듭니다.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907792"/>
            <a:ext cx="621792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600" b="0">
                <a:solidFill>
                  <a:srgbClr val="344D67"/>
                </a:solidFill>
                <a:latin typeface="맑은 고딕"/>
              </a:defRPr>
            </a:pPr>
            <a:r>
              <a:t>질문과 의견을 듣겠습니다.</a:t>
            </a:r>
          </a:p>
        </p:txBody>
      </p:sp>
      <p:pic>
        <p:nvPicPr>
          <p:cNvPr id="6" name="Picture 5" descr="Makji_logo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868680"/>
            <a:ext cx="347472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45952" y="6455664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900" b="0">
                <a:solidFill>
                  <a:srgbClr val="5F7186"/>
                </a:solidFill>
                <a:latin typeface="맑은 고딕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MAKJI STOCK 기업 대표 서비스 기획 발표 v0.1</dc:title>
  <dc:subject>HTML 원본 기반 수정 가능한 PowerPoint</dc:subject>
  <dc:creator>MAKJI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