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45초</a:t>
            </a:r>
          </a:p>
          <a:p/>
          <a:p>
            <a:r>
              <a:t>대표님께 제안드리는 것은 막지의 제품을 소비자가 매일 만나는 경험입니다. RFP가 요청한 시장 데이터와 참여형 기능을 실제 앱으로 구현했습니다. 오늘은 어떻게 고객을 데려오고, 어떤 순간에 구매를 돕고, 어떤 지표로 사업성을 확인할지 순서대로 말씀드리겠습니다.</a:t>
            </a:r>
          </a:p>
          <a:p/>
          <a:p>
            <a:r>
              <a:t>근거 / 범위</a:t>
            </a:r>
          </a:p>
          <a:p>
            <a:r>
              <a:t>근거: SWEETNSWITZ | MAKJI RFP (2026.09), pp. 4–7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50초</a:t>
            </a:r>
          </a:p>
          <a:p/>
          <a:p>
            <a:r>
              <a:t>건강한 식품을 찾는 고객에게는 제품의 성분과 맛, 먹는 상황이 중요합니다. PwC의 아시아태평양 조사에서는 건강상 이점이 브랜드 변경 이유로 나타납니다. 이를 막지에 적용하면 상품 정보를 직접 확인하는 고객에게 오늘의 가격과 혜택을 연결하는 경험을 제안할 수 있습니다. 높은 가격을 지불하는 한국 소비자가 증가한다는 주장은 별도의 국내 근거가 필요하므로 이번 자료에서는 검증 가설로 다룹니다. 다음 장에서는 막지의 출발점을 보겠습니다.</a:t>
            </a:r>
          </a:p>
          <a:p/>
          <a:p>
            <a:r>
              <a:t>근거 / 범위</a:t>
            </a:r>
          </a:p>
          <a:p>
            <a:r>
              <a:t>https://www.pwc.com/gx/en/industries/consumer-markets/publications/voice-of-the-consumer-survey-2025-asia-pacific.html</a:t>
            </a:r>
          </a:p>
          <a:p>
            <a:r>
              <a:t>조사: 2025년, 아시아태평양 6,325명. 화면의 3단계는 제안 서비스의 고객 행동 가설.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50초</a:t>
            </a:r>
          </a:p>
          <a:p/>
          <a:p>
            <a:r>
              <a:t>막지는 생산과 기술 기반을 갖추고 소비자 시장 접점을 키우는 단계입니다. 원본 RFP는 8월 28일 온라인 판매 개시와 데이터 축적 초기임을 명시합니다. 대화에서 전달받은 자료 범위는 한 달, 한 제품 중심입니다. 기존 발표의 5월 지표는 이 기록과 기간 관계를 먼저 확인해야 하므로 확정 성과로 사용하지 않았습니다. 이번 실사용 검증에서 방문과 구매를 연결해 의사결정에 쓸 데이터를 만들겠습니다.</a:t>
            </a:r>
          </a:p>
          <a:p/>
          <a:p>
            <a:r>
              <a:t>근거 / 범위</a:t>
            </a:r>
          </a:p>
          <a:p>
            <a:r>
              <a:t>근거: SWEETNSWITZ | MAKJI RFP (2026.09), pp. 4–7</a:t>
            </a:r>
          </a:p>
          <a:p>
            <a:r>
              <a:t>한 달·한 제품: 사용자 제공 맥락. 기존 발표 수치는 원본 대조 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70초</a:t>
            </a:r>
          </a:p>
          <a:p/>
          <a:p>
            <a:r>
              <a:t>지금 보시는 화면이 실제 배포된 앱입니다. 상단에서는 오늘의 전체 가격 흐름을 보고, 아래에서는 상품별 가격과 그래프를 확인합니다. 고객은 금융 지식을 익힐 필요 없이 오늘 어떤 빵을 살지 탐색할 수 있습니다. 6종의 가격을 묶은 막지지수는 현재 가격 흐름을 보여 줍니다. RFP가 제안한 매출·만족도 기반 종합 브랜드지수는 후속 설계 범위입니다. 화면 링크를 누르면 실제 앱으로 이동할 수 있습니다.</a:t>
            </a:r>
          </a:p>
          <a:p/>
          <a:p>
            <a:r>
              <a:t>근거 / 범위</a:t>
            </a:r>
          </a:p>
          <a:p>
            <a:r>
              <a:t>https://makji-stock.vercel.app/market</a:t>
            </a:r>
          </a:p>
          <a:p>
            <a:r>
              <a:t>2026.09.28 화면 캡처. 실제 화면 수치는 캡처 시점 값. 코드: README.md, lib/bread-market, components/bread-market.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60초</a:t>
            </a:r>
          </a:p>
          <a:p/>
          <a:p>
            <a:r>
              <a:t>새로운 고객은 SNS 콘텐츠와 광고 등 외부 접점에서 만나게 됩니다. 오늘의 빵 시세를 매일 갱신 가능한 콘텐츠 소재로 활용하고, 관심을 가진 고객이 마켓에 도착하면 여러 제품을 탐색하게 합니다. 서비스 운영과 함께 유입 채널, 소재, 예산을 정해야 방문 규모가 만들어집니다. 제품 이미지와 문구는 RFP에 따라 기업이 승인한 자산을 사용합니다. 이 장의 소재 운영은 제안이며 자동 콘텐츠 발행 기능이 구현됐다는 뜻은 아닙니다.</a:t>
            </a:r>
          </a:p>
          <a:p/>
          <a:p>
            <a:r>
              <a:t>근거 / 범위</a:t>
            </a:r>
          </a:p>
          <a:p>
            <a:r>
              <a:t>근거: SWEETNSWITZ | MAKJI RFP (2026.09), pp. 4–7</a:t>
            </a:r>
          </a:p>
          <a:p>
            <a:r>
              <a:t>RFP의 상품 콘텐츠 사전 승인 조건 준수. 유입 효과는 베타 검증 대상.</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65초</a:t>
            </a:r>
          </a:p>
          <a:p/>
          <a:p>
            <a:r>
              <a:t>세 가지 흐름을 고객의 상황에 맞춰 설계했습니다. 처음 접하는 고객은 시세 화면으로 여러 빵을 발견합니다. 구매 의사가 있는 고객은 바로 받는 쿠폰이나 오전가 잠금으로 결정을 이어 갑니다. 가격과 제품을 다시 살펴볼 고객은 내일 예측에 참여하고 다음 날 결과를 확인합니다. 이 유형은 기존 고객 데이터로 확정된 집단이므로 보시면 안 되고, 운영에서 검증할 행동 가설입니다. 기능별 참여와 실제 주문을 연결해 어떤 길이 유효한지 확인합니다.</a:t>
            </a:r>
          </a:p>
          <a:p/>
          <a:p>
            <a:r>
              <a:t>근거 / 범위</a:t>
            </a:r>
          </a:p>
          <a:p>
            <a:r>
              <a:t>구현 기준: MakjiStock 3571a21 · reward-policy.ts / sheets.tsx · 2026.09.28 확인</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55초</a:t>
            </a:r>
          </a:p>
          <a:p/>
          <a:p>
            <a:r>
              <a:t>앱에서 안정형이라고 부르는 기능은 바로 받는 쿠폰입니다. 오전에는 7에서 10퍼센트, 오후에는 5에서 7퍼센트 중 해당 회차의 값이 표시됩니다. 쿠폰은 발급 시점 판매가를 기준으로 원화 금액으로 계산하며 3시간 동안 사용합니다. 고객에게 현재 혜택과 사용 시간을 분명히 보여 주고 구매로 이어지는지를 검증하겠습니다. 안정형과 공격형은 하루 한 회차에서 선택하는 방식이며, 모든 혜택을 단순 합산해 약속하지 않습니다.</a:t>
            </a:r>
          </a:p>
          <a:p/>
          <a:p>
            <a:r>
              <a:t>근거 / 범위</a:t>
            </a:r>
          </a:p>
          <a:p>
            <a:r>
              <a:t>구현 기준: MakjiStock 3571a21 · reward-policy.ts / sheets.tsx · 2026.09.28 확인</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70초</a:t>
            </a:r>
          </a:p>
          <a:p/>
          <a:p>
            <a:r>
              <a:t>잠금은 아침의 관심을 오후 구매로 이어 주는 기능입니다. 예시로 오전 3천 원을 잠갔다고 보겠습니다. 오후에 3천2백 원이 되면 차액 2백 원 쿠폰으로 잠금가를 맞춥니다. 오후에 2천9백 원이 되면 현재 가격으로 구매합니다. 차액은 보호 구간에 쓰는 할인코드이고 사용 이후 재구매 전용 적립금이라는 설명은 현재 코드와 맞지 않습니다. 주말 잠금은 코드에서 제한합니다. 공휴일 달력과 데이터 미확정 처리, 실몰 적용 조건은 출시 점검에 포함합니다.</a:t>
            </a:r>
          </a:p>
          <a:p/>
          <a:p>
            <a:r>
              <a:t>근거 / 범위</a:t>
            </a:r>
          </a:p>
          <a:p>
            <a:r>
              <a:t>lib/bread-market/reward-policy.ts: lockOpensOn, lockProtection, lockAppliedPriceWon</a:t>
            </a:r>
          </a:p>
          <a:p>
            <a:r>
              <a:t>lib/locks/lock-codes.ts</a:t>
            </a:r>
          </a:p>
          <a:p>
            <a:r>
              <a:t>모든 금액은 기능 설명용 가정.</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60초</a:t>
            </a:r>
          </a:p>
          <a:p/>
          <a:p>
            <a:r>
              <a:t>내일 예측은 다음 방문 시간을 기억하게 만드는 기능입니다. 제출 시각과 관계없이 다음 날 오전 6시 가격으로 판정합니다. 적중하거나 가격이 같으면 5에서 13퍼센트 중 제출 때 정해진 보상이 발급되고, 결과 전에는 보상률이 공개되지 않습니다. 미적중일 때 쿠폰은 발급되지 않습니다. 발급 후 사용 시간은 24시간입니다. 예측 참여 자체와 재방문, 이후 주문을 각각 확인해 재미가 구매 경험으로 연결되는지 보겠습니다.</a:t>
            </a:r>
          </a:p>
          <a:p/>
          <a:p>
            <a:r>
              <a:t>근거 / 범위</a:t>
            </a:r>
          </a:p>
          <a:p>
            <a:r>
              <a:t>구현 기준: MakjiStock 3571a21 · reward-policy.ts / sheets.tsx · 2026.09.28 확인</a:t>
            </a:r>
          </a:p>
          <a:p>
            <a:r>
              <a:t>lib/predictions/schedule.ts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60초</a:t>
            </a:r>
          </a:p>
          <a:p/>
          <a:p>
            <a:r>
              <a:t>할인은 코드에서 범위를 관리합니다. 상품 시세 할인은 최대 25퍼센트이며 보상 쿠폰을 포함한 정책 상한은 38퍼센트입니다. 쿠폰은 발급 시점 판매가에 보상률을 적용하고 10원 단위로 내림합니다. 이 상한이 수익을 보장하는 것은 아니므로 상품별 원가와 배송 부담을 넣어 남는 금액을 계산합니다. 실몰의 다른 쿠폰 중복 여부와 옵션 가격을 확인하고 운영을 승인합니다. 구현된 연결 코드와 실몰 가동 준비는 단계별로 점검하겠습니다.</a:t>
            </a:r>
          </a:p>
          <a:p/>
          <a:p>
            <a:r>
              <a:t>근거 / 범위</a:t>
            </a:r>
          </a:p>
          <a:p>
            <a:r>
              <a:t>구현 기준: MakjiStock 3571a21 · reward-policy.ts / sheets.tsx · 2026.09.28 확인</a:t>
            </a:r>
          </a:p>
          <a:p>
            <a:r>
              <a:t>config/pricing-products.json / lib/cafe24/discount-code.ts</a:t>
            </a:r>
          </a:p>
          <a:p>
            <a:r>
              <a:t>휴장·데이터 미확정에는 세션 가격 생성이 지연·보류될 수 있음.</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65초</a:t>
            </a:r>
          </a:p>
          <a:p/>
          <a:p>
            <a:r>
              <a:t>대표님께는 네 가지 숫자를 보고드리겠습니다. 얼마나 왔는지, 몇 명이 샀는지, 일주일 안에 얼마나 돌아왔는지, 주문 후 얼마가 남았는지입니다. 구매는 자사몰 이동 클릭과 구분해 실제 주문 완료로 측정합니다. 현재 코드에는 자사몰 결제와 방문자를 잇는 연결이 추가로 필요하다는 주석이 있습니다. 그래서 첫 주에 추적 링크와 주문 대조 방식을 점검합니다. 순매출은 할인과 취소·환불을 반영한 금액이고 같은 할인 비용을 다시 차감하지 않습니다. 최종적으로 광고비와 추가 운영비까지 반영한 증분 이익을 판단합니다.</a:t>
            </a:r>
          </a:p>
          <a:p/>
          <a:p>
            <a:r>
              <a:t>근거 / 범위</a:t>
            </a:r>
          </a:p>
          <a:p>
            <a:r>
              <a:t>RFP 평가 지표: 재방문율·구매전환율·객단가</a:t>
            </a:r>
          </a:p>
          <a:p>
            <a:r>
              <a:t>components/bread-market/sheets.tsx 177행 인근: 구매 연결 범위</a:t>
            </a:r>
          </a:p>
          <a:p>
            <a:r>
              <a:t>7일 코호트는 관찰기간이 완성된 고객만 계산, 동일 브라우저 기준 식별 한계 기록.</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75초</a:t>
            </a:r>
          </a:p>
          <a:p/>
          <a:p>
            <a:r>
              <a:t>이 숫자는 기업의 확정 매출 목표가 아니라 목표 협의를 위한 계산 예시입니다. 기준 시나리오는 월 만 명이 방문하고 3퍼센트가 구매해 300명의 구매자를 만드는 조건입니다. 구매자당 월평균 1.1회면 330건이고 주문당 순매출 2만4천 원을 곱하면 792만 원입니다. 방문자 기준으로 시작했으므로 구매 전환율을 한 번만 곱합니다. 객단가는 취소·환불과 할인이 반영된 실현값으로 바꿔 넣겠습니다. 이 월 수준이 12개월 유지되는 단순 환산은 9,504만 원이며 첫해 매출 예측은 아닙니다. 실제 연간 계획은 월별 고객 유입과 성장 속도로 합산해야 합니다.</a:t>
            </a:r>
          </a:p>
          <a:p/>
          <a:p>
            <a:r>
              <a:t>근거 / 범위</a:t>
            </a:r>
          </a:p>
          <a:p>
            <a:r>
              <a:t>가정 계산: 5000*.02*1*24000=2400000; 10000*.03*1.1*24000=7920000; 20000*.04*1.2*26000=24960000</a:t>
            </a:r>
          </a:p>
          <a:p>
            <a:r>
              <a:t>순매출 집계 시 VAT·배송비 포함 기준을 회계 기준과 일치시킴.</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55초</a:t>
            </a:r>
          </a:p>
          <a:p/>
          <a:p>
            <a:r>
              <a:t>여기서는 세 약어를 쉬운 말로 설명하겠습니다. 전체 온라인 베이커리 기회에서 막지가 판매할 수 있는 고객 범위를 정하고, 그중 예산과 공급으로 확보할 매출 목표를 계산합니다. SOM은 기간을 정한 매출 목표로 표현하며 방문자 수나 재방문율과 같은 운영 지표는 별도로 연결합니다. 현재는 품목 정의와 공식 통계가 확정되지 않아 시장규모 금액을 임의로 넣지 않았습니다. 기업이 보유한 시장 자료와 실제 판매 조건을 반영해 앞 장의 시나리오를 확정할 수 있습니다.</a:t>
            </a:r>
          </a:p>
          <a:p/>
          <a:p>
            <a:r>
              <a:t>근거 / 범위</a:t>
            </a:r>
          </a:p>
          <a:p>
            <a:r>
              <a:t>TAM/SAM/SOM: 같은 지역·기간·매출 단위 유지. SAM은 TAM의 하위 범위, SOM은 SAM 내 실행 가능 범위. 12개월 목표는 월별 순매출 합산. 목표는 기업 협의 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65초</a:t>
            </a:r>
          </a:p>
          <a:p/>
          <a:p>
            <a:r>
              <a:t>RFP의 개발 프로젝트는 9월 30일에 마무리됩니다. 제안하는 6주는 이후 실제 운영을 검증하는 기간입니다. 첫 주에는 상품 원가와 실몰 연동, 주문 측정을 맞춥니다. 2주차부터 5주차까지 채널별 유입과 참여를 운영하고 6주차에 성과를 판단합니다. 같은 채널의 유입을 두 경험으로 배정하면 채널 차이의 영향을 줄일 수 있습니다. 공용 상품 가격이 자동 변경되는 구조이므로 기존몰 고객도 같은 시세 가격에 노출될 수 있습니다. 따라서 이 설계는 시세 정책 전체의 효과와 참여 화면의 효과를 구분해서 해석해야 합니다. 표본 규모는 예산과 첫 주 전환율을 확인해 결정하고, 표본이 작으면 방향성 확인으로 평가합니다.</a:t>
            </a:r>
          </a:p>
          <a:p/>
          <a:p>
            <a:r>
              <a:t>근거 / 범위</a:t>
            </a:r>
          </a:p>
          <a:p>
            <a:r>
              <a:t>베타 설계 제안. 구매·재방문 집계 창을 고정하고, 공용 Cafe24 가격이 대조군에 노출되는 영향을 기록. 실험 전 목표·판단 기준 합의.</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55초</a:t>
            </a:r>
          </a:p>
          <a:p/>
          <a:p>
            <a:r>
              <a:t>마지막으로 세 가지를 요청드립니다. 첫째, 어느 상품과 실몰 범위로 검증할지 정합니다. 둘째, 고객 유입과 혜택, 운영에 사용할 예산 한도를 정합니다. 셋째, 목표 매출과 재방문, 수익을 어떤 수준에서 확대 판단할지 함께 정합니다. 구현된 화면과 가격·보상 코드를 시작점으로 사용하되, 기업의 상품 승인과 실몰 점검을 거쳐 운영합니다. 담당자가 정해지면 첫 주에 측정과 비용 기준을 확정하고 6주 뒤 운영 결과를 보고드리겠습니다.</a:t>
            </a:r>
          </a:p>
          <a:p/>
          <a:p>
            <a:r>
              <a:t>근거 / 범위</a:t>
            </a:r>
          </a:p>
          <a:p>
            <a:r>
              <a:t>근거: SWEETNSWITZ | MAKJI RFP (2026.09), pp. 4–7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0초</a:t>
            </a:r>
          </a:p>
          <a:p/>
          <a:p>
            <a:r>
              <a:t>질문: RFP의 확장 항목을 모두 구현했나요? Bread Market을 구현 대상으로 제시하고 나머지는 설계 및 단계적 확장 범위로 다룹니다. 현재 가격 지수와 RFP의 종합 브랜드지수는 정의가 다릅니다. 이 발표는 개인화 추천 성능이 검증됐다고 주장하지 않습니다.</a:t>
            </a:r>
          </a:p>
          <a:p/>
          <a:p>
            <a:r>
              <a:t>근거 / 범위</a:t>
            </a:r>
          </a:p>
          <a:p>
            <a:r>
              <a:t>근거: SWEETNSWITZ | MAKJI RFP (2026.09), pp. 4–7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0초</a:t>
            </a:r>
          </a:p>
          <a:p/>
          <a:p>
            <a:r>
              <a:t>질문: 할인하면 회사에 얼마나 남나요? SKU별 원가표와 배송 부담, 결제 수수료를 입력해야 답할 수 있습니다. 순매출은 할인 후 금액이므로 할인액을 다시 빼지 않습니다. 쿠폰 발급과 실제 사용은 따로 기록합니다. 할인 상한은 수익 보장의 근거로 사용하지 않습니다. 동일 기간·채널·노출 조건의 비교가 필요하며, 재고 소진과 품절 영향도 함께 해석합니다.</a:t>
            </a:r>
          </a:p>
          <a:p/>
          <a:p>
            <a:r>
              <a:t>근거 / 범위</a:t>
            </a:r>
          </a:p>
          <a:p>
            <a:r>
              <a:t>필요 자료: SKU 원가표, 취소·환불 포함 주문, 쿠폰 사용, 광고 집행, 추가 운영비.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0초</a:t>
            </a:r>
          </a:p>
          <a:p/>
          <a:p>
            <a:r>
              <a:t>추가 질문: 매일 방문이 꼭 매일 구매인가요? 재방문과 구매 빈도는 별도 지표로 봅니다. / 주말·공휴일에는 어떻게 되나요? 주말 잠금 제한과 가격 데이터 보류 조건을 확인하고 고객 안내를 맞춥니다. / 무엇을 승인하면 되나요? 상품 범위, 예산, 담당자, 판단 기준입니다. / 성공 기준은 언제 정하나요? 첫 주 기준값 확인 후 본 운영 전에 합의합니다.</a:t>
            </a:r>
          </a:p>
          <a:p/>
          <a:p>
            <a:r>
              <a:t>근거 / 범위</a:t>
            </a:r>
          </a:p>
          <a:p>
            <a:r>
              <a:t>원본 RFP, 코드, 원가·주문·광고·이벤트 데이터 필요.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시간: 0초</a:t>
            </a:r>
          </a:p>
          <a:p/>
          <a:p>
            <a:r>
              <a:t>시장 출처는 건강·가치·편의의 선택 맥락을 설명하는 참고 자료입니다. 한국 소비자의 프리미엄 지불 증가나 국내 시장규모를 입증하는 자료로 확장하지 않습니다. 기존 발표의 5월 수치와 원본 RFP의 8월 판매 개시 기록은 분석 범위를 확인한 뒤 활용합니다. 로컬 코드와 현재 배포 화면은 각각 확인했으며 배포 커밋 동일성까지 보증하지 않습니다.</a:t>
            </a:r>
          </a:p>
          <a:p/>
          <a:p>
            <a:r>
              <a:t>근거 / 범위</a:t>
            </a:r>
          </a:p>
          <a:p>
            <a:r>
              <a:t>https://www.pwc.com/gx/en/industries/consumer-markets/publications/voice-of-the-consumer-survey-2025-asia-pacific.html</a:t>
            </a:r>
          </a:p>
          <a:p>
            <a:r>
              <a:t>https://makji-stock.vercel.app/market</a:t>
            </a:r>
          </a:p>
          <a:p>
            <a:r>
              <a:t>https://github.com/maybeaj/MakjiStock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akji-stock.vercel.app/market"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936"/>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01  성장 목표</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FFFFFF"/>
                </a:solidFill>
                <a:latin typeface="Noto Sans KR"/>
              </a:defRPr>
            </a:pPr>
            <a:r>
              <a:t>오늘의 빵 시세가</a:t>
            </a:r>
          </a:p>
          <a:p>
            <a:pPr>
              <a:spcAft>
                <a:spcPts val="900"/>
              </a:spcAft>
              <a:defRPr sz="3100" b="1">
                <a:solidFill>
                  <a:srgbClr val="FFFFFF"/>
                </a:solidFill>
                <a:latin typeface="Noto Sans KR"/>
              </a:defRPr>
            </a:pPr>
            <a:r>
              <a:t>내일의 방문 이유가 됩니다.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C7CDCE"/>
                </a:solidFill>
                <a:latin typeface="Noto Sans KR"/>
              </a:defRPr>
            </a:pPr>
            <a:r>
              <a:t>MAKJI STOCK  |  소비자와 매일 만나는 B2C 성장 제안</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B0B8C7"/>
                </a:solidFill>
                <a:latin typeface="Noto Sans KR"/>
              </a:defRPr>
            </a:pPr>
            <a:r>
              <a:t>근거: SWEETNSWITZ | MAKJI RFP (2026.09), pp. 4–7</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01</a:t>
            </a:r>
          </a:p>
        </p:txBody>
      </p:sp>
      <p:sp>
        <p:nvSpPr>
          <p:cNvPr id="8" name="TextBox 7"/>
          <p:cNvSpPr txBox="1"/>
          <p:nvPr/>
        </p:nvSpPr>
        <p:spPr>
          <a:xfrm>
            <a:off x="731520" y="3474720"/>
            <a:ext cx="3383280" cy="594360"/>
          </a:xfrm>
          <a:prstGeom prst="rect">
            <a:avLst/>
          </a:prstGeom>
          <a:noFill/>
        </p:spPr>
        <p:txBody>
          <a:bodyPr wrap="square" lIns="0" rIns="0" tIns="0" bIns="0">
            <a:spAutoFit/>
          </a:bodyPr>
          <a:lstStyle/>
          <a:p>
            <a:pPr>
              <a:spcAft>
                <a:spcPts val="900"/>
              </a:spcAft>
              <a:defRPr sz="2400" b="1">
                <a:solidFill>
                  <a:srgbClr val="FFFFFF"/>
                </a:solidFill>
                <a:latin typeface="Noto Sans KR"/>
              </a:defRPr>
            </a:pPr>
            <a:r>
              <a:t>처음 만납니다</a:t>
            </a:r>
          </a:p>
        </p:txBody>
      </p:sp>
      <p:sp>
        <p:nvSpPr>
          <p:cNvPr id="9" name="TextBox 8"/>
          <p:cNvSpPr txBox="1"/>
          <p:nvPr/>
        </p:nvSpPr>
        <p:spPr>
          <a:xfrm>
            <a:off x="731520" y="4251960"/>
            <a:ext cx="3337560" cy="914400"/>
          </a:xfrm>
          <a:prstGeom prst="rect">
            <a:avLst/>
          </a:prstGeom>
          <a:noFill/>
        </p:spPr>
        <p:txBody>
          <a:bodyPr wrap="square" lIns="0" rIns="0" tIns="0" bIns="0">
            <a:spAutoFit/>
          </a:bodyPr>
          <a:lstStyle/>
          <a:p>
            <a:pPr>
              <a:spcAft>
                <a:spcPts val="900"/>
              </a:spcAft>
              <a:defRPr sz="1800" b="0">
                <a:solidFill>
                  <a:srgbClr val="CBD4D7"/>
                </a:solidFill>
                <a:latin typeface="Noto Sans KR"/>
              </a:defRPr>
            </a:pPr>
            <a:r>
              <a:t>오늘의 시세로 관심을 얻습니다</a:t>
            </a:r>
          </a:p>
        </p:txBody>
      </p:sp>
      <p:sp>
        <p:nvSpPr>
          <p:cNvPr id="10" name="TextBox 9"/>
          <p:cNvSpPr txBox="1"/>
          <p:nvPr/>
        </p:nvSpPr>
        <p:spPr>
          <a:xfrm>
            <a:off x="4389120" y="3474720"/>
            <a:ext cx="3383280" cy="594360"/>
          </a:xfrm>
          <a:prstGeom prst="rect">
            <a:avLst/>
          </a:prstGeom>
          <a:noFill/>
        </p:spPr>
        <p:txBody>
          <a:bodyPr wrap="square" lIns="0" rIns="0" tIns="0" bIns="0">
            <a:spAutoFit/>
          </a:bodyPr>
          <a:lstStyle/>
          <a:p>
            <a:pPr>
              <a:spcAft>
                <a:spcPts val="900"/>
              </a:spcAft>
              <a:defRPr sz="2400" b="1">
                <a:solidFill>
                  <a:srgbClr val="FFFFFF"/>
                </a:solidFill>
                <a:latin typeface="Noto Sans KR"/>
              </a:defRPr>
            </a:pPr>
            <a:r>
              <a:t>오늘 구매합니다</a:t>
            </a:r>
          </a:p>
        </p:txBody>
      </p:sp>
      <p:sp>
        <p:nvSpPr>
          <p:cNvPr id="11" name="TextBox 10"/>
          <p:cNvSpPr txBox="1"/>
          <p:nvPr/>
        </p:nvSpPr>
        <p:spPr>
          <a:xfrm>
            <a:off x="4389120" y="4251960"/>
            <a:ext cx="3337560" cy="914400"/>
          </a:xfrm>
          <a:prstGeom prst="rect">
            <a:avLst/>
          </a:prstGeom>
          <a:noFill/>
        </p:spPr>
        <p:txBody>
          <a:bodyPr wrap="square" lIns="0" rIns="0" tIns="0" bIns="0">
            <a:spAutoFit/>
          </a:bodyPr>
          <a:lstStyle/>
          <a:p>
            <a:pPr>
              <a:spcAft>
                <a:spcPts val="900"/>
              </a:spcAft>
              <a:defRPr sz="1800" b="0">
                <a:solidFill>
                  <a:srgbClr val="CBD4D7"/>
                </a:solidFill>
                <a:latin typeface="Noto Sans KR"/>
              </a:defRPr>
            </a:pPr>
            <a:r>
              <a:t>제품과 혜택을 함께 확인합니다</a:t>
            </a:r>
          </a:p>
        </p:txBody>
      </p:sp>
      <p:sp>
        <p:nvSpPr>
          <p:cNvPr id="12" name="TextBox 11"/>
          <p:cNvSpPr txBox="1"/>
          <p:nvPr/>
        </p:nvSpPr>
        <p:spPr>
          <a:xfrm>
            <a:off x="8046720" y="3474720"/>
            <a:ext cx="3383280" cy="594360"/>
          </a:xfrm>
          <a:prstGeom prst="rect">
            <a:avLst/>
          </a:prstGeom>
          <a:noFill/>
        </p:spPr>
        <p:txBody>
          <a:bodyPr wrap="square" lIns="0" rIns="0" tIns="0" bIns="0">
            <a:spAutoFit/>
          </a:bodyPr>
          <a:lstStyle/>
          <a:p>
            <a:pPr>
              <a:spcAft>
                <a:spcPts val="900"/>
              </a:spcAft>
              <a:defRPr sz="2400" b="1">
                <a:solidFill>
                  <a:srgbClr val="FFFFFF"/>
                </a:solidFill>
                <a:latin typeface="Noto Sans KR"/>
              </a:defRPr>
            </a:pPr>
            <a:r>
              <a:t>내일 돌아옵니다</a:t>
            </a:r>
          </a:p>
        </p:txBody>
      </p:sp>
      <p:sp>
        <p:nvSpPr>
          <p:cNvPr id="13" name="TextBox 12"/>
          <p:cNvSpPr txBox="1"/>
          <p:nvPr/>
        </p:nvSpPr>
        <p:spPr>
          <a:xfrm>
            <a:off x="8046720" y="4251960"/>
            <a:ext cx="3337560" cy="914400"/>
          </a:xfrm>
          <a:prstGeom prst="rect">
            <a:avLst/>
          </a:prstGeom>
          <a:noFill/>
        </p:spPr>
        <p:txBody>
          <a:bodyPr wrap="square" lIns="0" rIns="0" tIns="0" bIns="0">
            <a:spAutoFit/>
          </a:bodyPr>
          <a:lstStyle/>
          <a:p>
            <a:pPr>
              <a:spcAft>
                <a:spcPts val="900"/>
              </a:spcAft>
              <a:defRPr sz="1800" b="0">
                <a:solidFill>
                  <a:srgbClr val="CBD4D7"/>
                </a:solidFill>
                <a:latin typeface="Noto Sans KR"/>
              </a:defRPr>
            </a:pPr>
            <a:r>
              <a:t>다음 시세와 예측 결과를 봅니다</a:t>
            </a:r>
          </a:p>
        </p:txBody>
      </p:sp>
      <p:sp>
        <p:nvSpPr>
          <p:cNvPr id="14" name="TextBox 13"/>
          <p:cNvSpPr txBox="1"/>
          <p:nvPr/>
        </p:nvSpPr>
        <p:spPr>
          <a:xfrm>
            <a:off x="731520" y="5715000"/>
            <a:ext cx="10515600" cy="365760"/>
          </a:xfrm>
          <a:prstGeom prst="rect">
            <a:avLst/>
          </a:prstGeom>
          <a:noFill/>
        </p:spPr>
        <p:txBody>
          <a:bodyPr wrap="square" lIns="0" rIns="0" tIns="0" bIns="0">
            <a:spAutoFit/>
          </a:bodyPr>
          <a:lstStyle/>
          <a:p>
            <a:pPr>
              <a:spcAft>
                <a:spcPts val="900"/>
              </a:spcAft>
              <a:defRPr sz="1600" b="0">
                <a:solidFill>
                  <a:srgbClr val="C29143"/>
                </a:solidFill>
                <a:latin typeface="Noto Sans KR"/>
              </a:defRPr>
            </a:pPr>
            <a:r>
              <a:t>제안 범위  |  구현된 Bread Market을 바탕으로 6주 실사용 검증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02  고객의 선택</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건강에 대한 관심을</a:t>
            </a:r>
          </a:p>
          <a:p>
            <a:pPr>
              <a:spcAft>
                <a:spcPts val="900"/>
              </a:spcAft>
              <a:defRPr sz="3100" b="1">
                <a:solidFill>
                  <a:srgbClr val="111936"/>
                </a:solidFill>
                <a:latin typeface="Noto Sans KR"/>
              </a:defRPr>
            </a:pPr>
            <a:r>
              <a:t>제품을 발견하는 순간으로 연결합니다.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고객이 스스로 확인할 수 있는 제품 정보와 구매 계기를 함께 제공합니다.</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시장 참고: PwC Voice of the Consumer 2025, Asia Pacific (2026.01.26) · 한국 시장 수치로 해석하지 않음</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02</a:t>
            </a:r>
          </a:p>
        </p:txBody>
      </p:sp>
      <p:sp>
        <p:nvSpPr>
          <p:cNvPr id="8" name="Rounded Rectangle 7"/>
          <p:cNvSpPr/>
          <p:nvPr/>
        </p:nvSpPr>
        <p:spPr>
          <a:xfrm>
            <a:off x="685800"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01</a:t>
            </a:r>
          </a:p>
        </p:txBody>
      </p:sp>
      <p:sp>
        <p:nvSpPr>
          <p:cNvPr id="10" name="TextBox 9"/>
          <p:cNvSpPr txBox="1"/>
          <p:nvPr/>
        </p:nvSpPr>
        <p:spPr>
          <a:xfrm>
            <a:off x="850392"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찾아봅니다</a:t>
            </a:r>
          </a:p>
        </p:txBody>
      </p:sp>
      <p:sp>
        <p:nvSpPr>
          <p:cNvPr id="11" name="TextBox 10"/>
          <p:cNvSpPr txBox="1"/>
          <p:nvPr/>
        </p:nvSpPr>
        <p:spPr>
          <a:xfrm>
            <a:off x="850392"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성분·맛·먹는 상황</a:t>
            </a:r>
          </a:p>
        </p:txBody>
      </p:sp>
      <p:sp>
        <p:nvSpPr>
          <p:cNvPr id="12" name="Rounded Rectangle 11"/>
          <p:cNvSpPr/>
          <p:nvPr/>
        </p:nvSpPr>
        <p:spPr>
          <a:xfrm>
            <a:off x="4367784"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2376"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02</a:t>
            </a:r>
          </a:p>
        </p:txBody>
      </p:sp>
      <p:sp>
        <p:nvSpPr>
          <p:cNvPr id="14" name="TextBox 13"/>
          <p:cNvSpPr txBox="1"/>
          <p:nvPr/>
        </p:nvSpPr>
        <p:spPr>
          <a:xfrm>
            <a:off x="4532376"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가치를 확인합니다</a:t>
            </a:r>
          </a:p>
        </p:txBody>
      </p:sp>
      <p:sp>
        <p:nvSpPr>
          <p:cNvPr id="15" name="TextBox 14"/>
          <p:cNvSpPr txBox="1"/>
          <p:nvPr/>
        </p:nvSpPr>
        <p:spPr>
          <a:xfrm>
            <a:off x="4532376"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내 취향과 생활에 맞는지</a:t>
            </a:r>
          </a:p>
        </p:txBody>
      </p:sp>
      <p:sp>
        <p:nvSpPr>
          <p:cNvPr id="16" name="Rounded Rectangle 15"/>
          <p:cNvSpPr/>
          <p:nvPr/>
        </p:nvSpPr>
        <p:spPr>
          <a:xfrm>
            <a:off x="8049768"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4360"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03</a:t>
            </a:r>
          </a:p>
        </p:txBody>
      </p:sp>
      <p:sp>
        <p:nvSpPr>
          <p:cNvPr id="18" name="TextBox 17"/>
          <p:cNvSpPr txBox="1"/>
          <p:nvPr/>
        </p:nvSpPr>
        <p:spPr>
          <a:xfrm>
            <a:off x="8214360"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구매를 결정합니다</a:t>
            </a:r>
          </a:p>
        </p:txBody>
      </p:sp>
      <p:sp>
        <p:nvSpPr>
          <p:cNvPr id="19" name="TextBox 18"/>
          <p:cNvSpPr txBox="1"/>
          <p:nvPr/>
        </p:nvSpPr>
        <p:spPr>
          <a:xfrm>
            <a:off x="8214360"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오늘 가격·혜택·편의</a:t>
            </a:r>
          </a:p>
        </p:txBody>
      </p:sp>
      <p:sp>
        <p:nvSpPr>
          <p:cNvPr id="20" name="Rounded Rectangle 19"/>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설계 가설  |  건강 관심 고객에게 제품의 가치와 오늘의 구매 계기를 함께 보여 줍니다.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03  막지의 출발점</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초기 고객의 작은 행동부터</a:t>
            </a:r>
          </a:p>
          <a:p>
            <a:pPr>
              <a:spcAft>
                <a:spcPts val="900"/>
              </a:spcAft>
              <a:defRPr sz="3100" b="1">
                <a:solidFill>
                  <a:srgbClr val="111936"/>
                </a:solidFill>
                <a:latin typeface="Noto Sans KR"/>
              </a:defRPr>
            </a:pPr>
            <a:r>
              <a:t>다음 매출의 단서를 쌓습니다.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RFP에 기록된 B2C 온라인 판매 개시일: 8월 28일</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근거: SWEETNSWITZ | MAKJI RFP (2026.09), pp. 4–7 · 기존 5월 분석은 대상·기간 확인 후 사용</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03</a:t>
            </a:r>
          </a:p>
        </p:txBody>
      </p:sp>
      <p:sp>
        <p:nvSpPr>
          <p:cNvPr id="8" name="Rounded Rectangle 7"/>
          <p:cNvSpPr/>
          <p:nvPr/>
        </p:nvSpPr>
        <p:spPr>
          <a:xfrm>
            <a:off x="685800" y="2743200"/>
            <a:ext cx="3447288" cy="2468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926080"/>
            <a:ext cx="3026664" cy="457200"/>
          </a:xfrm>
          <a:prstGeom prst="rect">
            <a:avLst/>
          </a:prstGeom>
          <a:noFill/>
        </p:spPr>
        <p:txBody>
          <a:bodyPr wrap="square" lIns="0" rIns="0" tIns="0" bIns="0">
            <a:spAutoFit/>
          </a:bodyPr>
          <a:lstStyle/>
          <a:p>
            <a:pPr>
              <a:spcAft>
                <a:spcPts val="900"/>
              </a:spcAft>
              <a:defRPr sz="2600" b="1">
                <a:solidFill>
                  <a:srgbClr val="176857"/>
                </a:solidFill>
                <a:latin typeface="Noto Sans KR"/>
              </a:defRPr>
            </a:pPr>
            <a:r>
              <a:t>01</a:t>
            </a:r>
          </a:p>
        </p:txBody>
      </p:sp>
      <p:sp>
        <p:nvSpPr>
          <p:cNvPr id="10" name="TextBox 9"/>
          <p:cNvSpPr txBox="1"/>
          <p:nvPr/>
        </p:nvSpPr>
        <p:spPr>
          <a:xfrm>
            <a:off x="896112" y="3547872"/>
            <a:ext cx="3026664" cy="64008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확인된 출발점</a:t>
            </a:r>
          </a:p>
        </p:txBody>
      </p:sp>
      <p:sp>
        <p:nvSpPr>
          <p:cNvPr id="11" name="TextBox 10"/>
          <p:cNvSpPr txBox="1"/>
          <p:nvPr/>
        </p:nvSpPr>
        <p:spPr>
          <a:xfrm>
            <a:off x="896112" y="4279392"/>
            <a:ext cx="3026664" cy="100584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B2C 판매 초기</a:t>
            </a:r>
          </a:p>
          <a:p>
            <a:pPr>
              <a:spcAft>
                <a:spcPts val="900"/>
              </a:spcAft>
              <a:defRPr sz="1600" b="0">
                <a:solidFill>
                  <a:srgbClr val="687080"/>
                </a:solidFill>
                <a:latin typeface="Noto Sans KR"/>
              </a:defRPr>
            </a:pPr>
            <a:r>
              <a:t>구매·선호 데이터 축적 중</a:t>
            </a:r>
          </a:p>
        </p:txBody>
      </p:sp>
      <p:sp>
        <p:nvSpPr>
          <p:cNvPr id="12" name="Rounded Rectangle 11"/>
          <p:cNvSpPr/>
          <p:nvPr/>
        </p:nvSpPr>
        <p:spPr>
          <a:xfrm>
            <a:off x="4370832" y="2743200"/>
            <a:ext cx="3447288" cy="2468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926080"/>
            <a:ext cx="3026664" cy="457200"/>
          </a:xfrm>
          <a:prstGeom prst="rect">
            <a:avLst/>
          </a:prstGeom>
          <a:noFill/>
        </p:spPr>
        <p:txBody>
          <a:bodyPr wrap="square" lIns="0" rIns="0" tIns="0" bIns="0">
            <a:spAutoFit/>
          </a:bodyPr>
          <a:lstStyle/>
          <a:p>
            <a:pPr>
              <a:spcAft>
                <a:spcPts val="900"/>
              </a:spcAft>
              <a:defRPr sz="2600" b="1">
                <a:solidFill>
                  <a:srgbClr val="176857"/>
                </a:solidFill>
                <a:latin typeface="Noto Sans KR"/>
              </a:defRPr>
            </a:pPr>
            <a:r>
              <a:t>02</a:t>
            </a:r>
          </a:p>
        </p:txBody>
      </p:sp>
      <p:sp>
        <p:nvSpPr>
          <p:cNvPr id="14" name="TextBox 13"/>
          <p:cNvSpPr txBox="1"/>
          <p:nvPr/>
        </p:nvSpPr>
        <p:spPr>
          <a:xfrm>
            <a:off x="4581144" y="3547872"/>
            <a:ext cx="3026664" cy="64008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사용자 제공 범위</a:t>
            </a:r>
          </a:p>
        </p:txBody>
      </p:sp>
      <p:sp>
        <p:nvSpPr>
          <p:cNvPr id="15" name="TextBox 14"/>
          <p:cNvSpPr txBox="1"/>
          <p:nvPr/>
        </p:nvSpPr>
        <p:spPr>
          <a:xfrm>
            <a:off x="4581144" y="4279392"/>
            <a:ext cx="3026664" cy="100584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한 달·한 제품 중심 자료</a:t>
            </a:r>
          </a:p>
          <a:p>
            <a:pPr>
              <a:spcAft>
                <a:spcPts val="900"/>
              </a:spcAft>
              <a:defRPr sz="1600" b="0">
                <a:solidFill>
                  <a:srgbClr val="687080"/>
                </a:solidFill>
                <a:latin typeface="Noto Sans KR"/>
              </a:defRPr>
            </a:pPr>
            <a:r>
              <a:t>초기 탐색 자료로 활용</a:t>
            </a:r>
          </a:p>
        </p:txBody>
      </p:sp>
      <p:sp>
        <p:nvSpPr>
          <p:cNvPr id="16" name="Rounded Rectangle 15"/>
          <p:cNvSpPr/>
          <p:nvPr/>
        </p:nvSpPr>
        <p:spPr>
          <a:xfrm>
            <a:off x="8055864" y="2743200"/>
            <a:ext cx="3447288" cy="2468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2926080"/>
            <a:ext cx="3026664" cy="457200"/>
          </a:xfrm>
          <a:prstGeom prst="rect">
            <a:avLst/>
          </a:prstGeom>
          <a:noFill/>
        </p:spPr>
        <p:txBody>
          <a:bodyPr wrap="square" lIns="0" rIns="0" tIns="0" bIns="0">
            <a:spAutoFit/>
          </a:bodyPr>
          <a:lstStyle/>
          <a:p>
            <a:pPr>
              <a:spcAft>
                <a:spcPts val="900"/>
              </a:spcAft>
              <a:defRPr sz="2600" b="1">
                <a:solidFill>
                  <a:srgbClr val="176857"/>
                </a:solidFill>
                <a:latin typeface="Noto Sans KR"/>
              </a:defRPr>
            </a:pPr>
            <a:r>
              <a:t>03</a:t>
            </a:r>
          </a:p>
        </p:txBody>
      </p:sp>
      <p:sp>
        <p:nvSpPr>
          <p:cNvPr id="18" name="TextBox 17"/>
          <p:cNvSpPr txBox="1"/>
          <p:nvPr/>
        </p:nvSpPr>
        <p:spPr>
          <a:xfrm>
            <a:off x="8266176" y="3547872"/>
            <a:ext cx="3026664" cy="64008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이번에 연결할 기록</a:t>
            </a:r>
          </a:p>
        </p:txBody>
      </p:sp>
      <p:sp>
        <p:nvSpPr>
          <p:cNvPr id="19" name="TextBox 18"/>
          <p:cNvSpPr txBox="1"/>
          <p:nvPr/>
        </p:nvSpPr>
        <p:spPr>
          <a:xfrm>
            <a:off x="8266176" y="4279392"/>
            <a:ext cx="3026664" cy="100584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방문 → 참여 → 몰 이동</a:t>
            </a:r>
          </a:p>
          <a:p>
            <a:pPr>
              <a:spcAft>
                <a:spcPts val="900"/>
              </a:spcAft>
              <a:defRPr sz="1600" b="0">
                <a:solidFill>
                  <a:srgbClr val="687080"/>
                </a:solidFill>
                <a:latin typeface="Noto Sans KR"/>
              </a:defRPr>
            </a:pPr>
            <a:r>
              <a:t>→ 주문 완료 → 재방문</a:t>
            </a:r>
          </a:p>
        </p:txBody>
      </p:sp>
      <p:sp>
        <p:nvSpPr>
          <p:cNvPr id="20" name="Rounded Rectangle 19"/>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운영 시작 전 확인  |  분석 기간·상품 범위·주문 원본을 맞추고 동일 기준으로 측정합니다.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04  실제 서비스</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빵을 고르는 화면에</a:t>
            </a:r>
          </a:p>
          <a:p>
            <a:pPr>
              <a:spcAft>
                <a:spcPts val="900"/>
              </a:spcAft>
              <a:defRPr sz="3100" b="1">
                <a:solidFill>
                  <a:srgbClr val="111936"/>
                </a:solidFill>
                <a:latin typeface="Noto Sans KR"/>
              </a:defRPr>
            </a:pPr>
            <a:r>
              <a:t>매일 확인할 이유를 담았습니다.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시세 확인 → 제품 탐색 → 참여 → 막지 자사몰 구매</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구현 기준: MakjiStock 3571a21 · reward-policy.ts / sheets.tsx · 2026.09.28 확인</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04</a:t>
            </a:r>
          </a:p>
        </p:txBody>
      </p:sp>
      <p:pic>
        <p:nvPicPr>
          <p:cNvPr id="8" name="Picture 7" descr="makji-market-desktop.png"/>
          <p:cNvPicPr>
            <a:picLocks noChangeAspect="1"/>
          </p:cNvPicPr>
          <p:nvPr/>
        </p:nvPicPr>
        <p:blipFill>
          <a:blip r:embed="rId2"/>
          <a:srcRect l="33203" r="33203"/>
          <a:stretch>
            <a:fillRect/>
          </a:stretch>
        </p:blipFill>
        <p:spPr>
          <a:xfrm>
            <a:off x="7498079" y="2395728"/>
            <a:ext cx="1856740" cy="3886200"/>
          </a:xfrm>
          <a:prstGeom prst="rect">
            <a:avLst/>
          </a:prstGeom>
        </p:spPr>
      </p:pic>
      <p:sp>
        <p:nvSpPr>
          <p:cNvPr id="9" name="TextBox 8"/>
          <p:cNvSpPr txBox="1"/>
          <p:nvPr/>
        </p:nvSpPr>
        <p:spPr>
          <a:xfrm>
            <a:off x="731520" y="2743200"/>
            <a:ext cx="6217920" cy="640080"/>
          </a:xfrm>
          <a:prstGeom prst="rect">
            <a:avLst/>
          </a:prstGeom>
          <a:noFill/>
        </p:spPr>
        <p:txBody>
          <a:bodyPr wrap="square" lIns="0" rIns="0" tIns="0" bIns="0">
            <a:spAutoFit/>
          </a:bodyPr>
          <a:lstStyle/>
          <a:p>
            <a:pPr>
              <a:spcAft>
                <a:spcPts val="900"/>
              </a:spcAft>
              <a:defRPr sz="2600" b="1">
                <a:solidFill>
                  <a:srgbClr val="176857"/>
                </a:solidFill>
                <a:latin typeface="Noto Sans KR"/>
              </a:defRPr>
            </a:pPr>
            <a:r>
              <a:t>오늘의 가격, 한눈에</a:t>
            </a:r>
          </a:p>
        </p:txBody>
      </p:sp>
      <p:sp>
        <p:nvSpPr>
          <p:cNvPr id="10" name="TextBox 9"/>
          <p:cNvSpPr txBox="1"/>
          <p:nvPr/>
        </p:nvSpPr>
        <p:spPr>
          <a:xfrm>
            <a:off x="731520" y="3566160"/>
            <a:ext cx="6035040" cy="1371600"/>
          </a:xfrm>
          <a:prstGeom prst="rect">
            <a:avLst/>
          </a:prstGeom>
          <a:noFill/>
        </p:spPr>
        <p:txBody>
          <a:bodyPr wrap="square" lIns="0" rIns="0" tIns="0" bIns="0">
            <a:spAutoFit/>
          </a:bodyPr>
          <a:lstStyle/>
          <a:p>
            <a:pPr>
              <a:spcAft>
                <a:spcPts val="900"/>
              </a:spcAft>
              <a:defRPr sz="2100" b="0">
                <a:solidFill>
                  <a:srgbClr val="111936"/>
                </a:solidFill>
                <a:latin typeface="Noto Sans KR"/>
              </a:defRPr>
            </a:pPr>
            <a:r>
              <a:t>6종의 빵 가격과 추이를 확인합니다.</a:t>
            </a:r>
          </a:p>
          <a:p>
            <a:pPr>
              <a:spcAft>
                <a:spcPts val="900"/>
              </a:spcAft>
              <a:defRPr sz="2100" b="0">
                <a:solidFill>
                  <a:srgbClr val="111936"/>
                </a:solidFill>
                <a:latin typeface="Noto Sans KR"/>
              </a:defRPr>
            </a:pPr>
            <a:r>
              <a:t>원/달러 환율과 검색 관심도를</a:t>
            </a:r>
          </a:p>
          <a:p>
            <a:pPr>
              <a:spcAft>
                <a:spcPts val="900"/>
              </a:spcAft>
              <a:defRPr sz="2100" b="0">
                <a:solidFill>
                  <a:srgbClr val="111936"/>
                </a:solidFill>
                <a:latin typeface="Noto Sans KR"/>
              </a:defRPr>
            </a:pPr>
            <a:r>
              <a:t>가격에 반영합니다.</a:t>
            </a:r>
          </a:p>
        </p:txBody>
      </p:sp>
      <p:sp>
        <p:nvSpPr>
          <p:cNvPr id="11" name="TextBox 10"/>
          <p:cNvSpPr txBox="1"/>
          <p:nvPr/>
        </p:nvSpPr>
        <p:spPr>
          <a:xfrm>
            <a:off x="731520" y="5486400"/>
            <a:ext cx="6400800" cy="457200"/>
          </a:xfrm>
          <a:prstGeom prst="rect">
            <a:avLst/>
          </a:prstGeom>
          <a:noFill/>
        </p:spPr>
        <p:txBody>
          <a:bodyPr wrap="square" lIns="0" rIns="0" tIns="0" bIns="0">
            <a:spAutoFit/>
          </a:bodyPr>
          <a:lstStyle/>
          <a:p>
            <a:pPr>
              <a:spcAft>
                <a:spcPts val="900"/>
              </a:spcAft>
              <a:defRPr sz="1600" b="1">
                <a:solidFill>
                  <a:srgbClr val="176857"/>
                </a:solidFill>
                <a:latin typeface="Noto Sans KR"/>
              </a:defRPr>
            </a:pPr>
            <a:r>
              <a:rPr>
                <a:hlinkClick r:id="rId3"/>
              </a:rPr>
              <a:t>실제 앱 열기  ↗  makji-stock.vercel.app/market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05  고객을 만나는 방법</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“오늘 빵값은?”이라는 질문이</a:t>
            </a:r>
          </a:p>
          <a:p>
            <a:pPr>
              <a:spcAft>
                <a:spcPts val="900"/>
              </a:spcAft>
              <a:defRPr sz="3100" b="1">
                <a:solidFill>
                  <a:srgbClr val="111936"/>
                </a:solidFill>
                <a:latin typeface="Noto Sans KR"/>
              </a:defRPr>
            </a:pPr>
            <a:r>
              <a:t>첫 방문의 계기가 됩니다.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유입 채널을 운영하고, 도착한 고객에게 제품을 발견할 경험을 제공합니다.</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운영 제안 · 광고·콘텐츠와 게재 채널은 기업 승인 후 실행</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05</a:t>
            </a:r>
          </a:p>
        </p:txBody>
      </p:sp>
      <p:sp>
        <p:nvSpPr>
          <p:cNvPr id="8" name="Rounded Rectangle 7"/>
          <p:cNvSpPr/>
          <p:nvPr/>
        </p:nvSpPr>
        <p:spPr>
          <a:xfrm>
            <a:off x="685800"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01</a:t>
            </a:r>
          </a:p>
        </p:txBody>
      </p:sp>
      <p:sp>
        <p:nvSpPr>
          <p:cNvPr id="10" name="TextBox 9"/>
          <p:cNvSpPr txBox="1"/>
          <p:nvPr/>
        </p:nvSpPr>
        <p:spPr>
          <a:xfrm>
            <a:off x="850392"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SNS·광고</a:t>
            </a:r>
          </a:p>
        </p:txBody>
      </p:sp>
      <p:sp>
        <p:nvSpPr>
          <p:cNvPr id="11" name="TextBox 10"/>
          <p:cNvSpPr txBox="1"/>
          <p:nvPr/>
        </p:nvSpPr>
        <p:spPr>
          <a:xfrm>
            <a:off x="850392"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오늘 시세를 소재로 노출</a:t>
            </a:r>
          </a:p>
        </p:txBody>
      </p:sp>
      <p:sp>
        <p:nvSpPr>
          <p:cNvPr id="12" name="Rounded Rectangle 11"/>
          <p:cNvSpPr/>
          <p:nvPr/>
        </p:nvSpPr>
        <p:spPr>
          <a:xfrm>
            <a:off x="4367784"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2376"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02</a:t>
            </a:r>
          </a:p>
        </p:txBody>
      </p:sp>
      <p:sp>
        <p:nvSpPr>
          <p:cNvPr id="14" name="TextBox 13"/>
          <p:cNvSpPr txBox="1"/>
          <p:nvPr/>
        </p:nvSpPr>
        <p:spPr>
          <a:xfrm>
            <a:off x="4532376"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마켓 방문</a:t>
            </a:r>
          </a:p>
        </p:txBody>
      </p:sp>
      <p:sp>
        <p:nvSpPr>
          <p:cNvPr id="15" name="TextBox 14"/>
          <p:cNvSpPr txBox="1"/>
          <p:nvPr/>
        </p:nvSpPr>
        <p:spPr>
          <a:xfrm>
            <a:off x="4532376"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6종 가격과 제품 탐색</a:t>
            </a:r>
          </a:p>
        </p:txBody>
      </p:sp>
      <p:sp>
        <p:nvSpPr>
          <p:cNvPr id="16" name="Rounded Rectangle 15"/>
          <p:cNvSpPr/>
          <p:nvPr/>
        </p:nvSpPr>
        <p:spPr>
          <a:xfrm>
            <a:off x="8049768"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4360"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03</a:t>
            </a:r>
          </a:p>
        </p:txBody>
      </p:sp>
      <p:sp>
        <p:nvSpPr>
          <p:cNvPr id="18" name="TextBox 17"/>
          <p:cNvSpPr txBox="1"/>
          <p:nvPr/>
        </p:nvSpPr>
        <p:spPr>
          <a:xfrm>
            <a:off x="8214360"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자사몰 구매</a:t>
            </a:r>
          </a:p>
        </p:txBody>
      </p:sp>
      <p:sp>
        <p:nvSpPr>
          <p:cNvPr id="19" name="TextBox 18"/>
          <p:cNvSpPr txBox="1"/>
          <p:nvPr/>
        </p:nvSpPr>
        <p:spPr>
          <a:xfrm>
            <a:off x="8214360"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상품 설명·배송 확인 후 결제</a:t>
            </a:r>
          </a:p>
        </p:txBody>
      </p:sp>
      <p:sp>
        <p:nvSpPr>
          <p:cNvPr id="20" name="Rounded Rectangle 19"/>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검증할 연결  |  콘텐츠 클릭률 → 마켓 방문자 수 → 상품 탐색률 → 실제 주문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06  타깃별 사용자 흐름</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고객의 구매 준비도에 맞춰</a:t>
            </a:r>
          </a:p>
          <a:p>
            <a:pPr>
              <a:spcAft>
                <a:spcPts val="900"/>
              </a:spcAft>
              <a:defRPr sz="3100" b="1">
                <a:solidFill>
                  <a:srgbClr val="111936"/>
                </a:solidFill>
                <a:latin typeface="Noto Sans KR"/>
              </a:defRPr>
            </a:pPr>
            <a:r>
              <a:t>세 가지 길을 제공합니다.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아래 유형은 검증할 행동 가설입니다. 동일 고객도 상황에 따라 경로가 달라집니다.</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구현 기준: MakjiStock 3571a21 · reward-policy.ts / sheets.tsx · 2026.09.28 확인</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06</a:t>
            </a:r>
          </a:p>
        </p:txBody>
      </p:sp>
      <p:sp>
        <p:nvSpPr>
          <p:cNvPr id="8" name="Rounded Rectangle 7"/>
          <p:cNvSpPr/>
          <p:nvPr/>
        </p:nvSpPr>
        <p:spPr>
          <a:xfrm>
            <a:off x="685800" y="2697480"/>
            <a:ext cx="10817352" cy="8046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880360"/>
            <a:ext cx="2423160" cy="457200"/>
          </a:xfrm>
          <a:prstGeom prst="rect">
            <a:avLst/>
          </a:prstGeom>
          <a:noFill/>
        </p:spPr>
        <p:txBody>
          <a:bodyPr wrap="square" lIns="0" rIns="0" tIns="0" bIns="0">
            <a:spAutoFit/>
          </a:bodyPr>
          <a:lstStyle/>
          <a:p>
            <a:pPr>
              <a:spcAft>
                <a:spcPts val="900"/>
              </a:spcAft>
              <a:defRPr sz="1900" b="1">
                <a:solidFill>
                  <a:srgbClr val="176857"/>
                </a:solidFill>
                <a:latin typeface="Noto Sans KR"/>
              </a:defRPr>
            </a:pPr>
            <a:r>
              <a:t>처음 보는 고객</a:t>
            </a:r>
          </a:p>
        </p:txBody>
      </p:sp>
      <p:sp>
        <p:nvSpPr>
          <p:cNvPr id="10" name="TextBox 9"/>
          <p:cNvSpPr txBox="1"/>
          <p:nvPr/>
        </p:nvSpPr>
        <p:spPr>
          <a:xfrm>
            <a:off x="3337560" y="2889504"/>
            <a:ext cx="4846320" cy="457200"/>
          </a:xfrm>
          <a:prstGeom prst="rect">
            <a:avLst/>
          </a:prstGeom>
          <a:noFill/>
        </p:spPr>
        <p:txBody>
          <a:bodyPr wrap="square" lIns="0" rIns="0" tIns="0" bIns="0">
            <a:spAutoFit/>
          </a:bodyPr>
          <a:lstStyle/>
          <a:p>
            <a:pPr>
              <a:spcAft>
                <a:spcPts val="900"/>
              </a:spcAft>
              <a:defRPr sz="1700" b="0">
                <a:solidFill>
                  <a:srgbClr val="111936"/>
                </a:solidFill>
                <a:latin typeface="Noto Sans KR"/>
              </a:defRPr>
            </a:pPr>
            <a:r>
              <a:t>시세·검색 관심 상품 → 상세 탐색</a:t>
            </a:r>
          </a:p>
        </p:txBody>
      </p:sp>
      <p:sp>
        <p:nvSpPr>
          <p:cNvPr id="11" name="TextBox 10"/>
          <p:cNvSpPr txBox="1"/>
          <p:nvPr/>
        </p:nvSpPr>
        <p:spPr>
          <a:xfrm>
            <a:off x="8366760" y="2889504"/>
            <a:ext cx="2880360" cy="45720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제품을 발견하고 첫 구매로</a:t>
            </a:r>
          </a:p>
        </p:txBody>
      </p:sp>
      <p:sp>
        <p:nvSpPr>
          <p:cNvPr id="12" name="Rounded Rectangle 11"/>
          <p:cNvSpPr/>
          <p:nvPr/>
        </p:nvSpPr>
        <p:spPr>
          <a:xfrm>
            <a:off x="685800" y="3657600"/>
            <a:ext cx="10817352" cy="8046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840480"/>
            <a:ext cx="2423160" cy="457200"/>
          </a:xfrm>
          <a:prstGeom prst="rect">
            <a:avLst/>
          </a:prstGeom>
          <a:noFill/>
        </p:spPr>
        <p:txBody>
          <a:bodyPr wrap="square" lIns="0" rIns="0" tIns="0" bIns="0">
            <a:spAutoFit/>
          </a:bodyPr>
          <a:lstStyle/>
          <a:p>
            <a:pPr>
              <a:spcAft>
                <a:spcPts val="900"/>
              </a:spcAft>
              <a:defRPr sz="1900" b="1">
                <a:solidFill>
                  <a:srgbClr val="176857"/>
                </a:solidFill>
                <a:latin typeface="Noto Sans KR"/>
              </a:defRPr>
            </a:pPr>
            <a:r>
              <a:t>구매를 생각한 고객</a:t>
            </a:r>
          </a:p>
        </p:txBody>
      </p:sp>
      <p:sp>
        <p:nvSpPr>
          <p:cNvPr id="14" name="TextBox 13"/>
          <p:cNvSpPr txBox="1"/>
          <p:nvPr/>
        </p:nvSpPr>
        <p:spPr>
          <a:xfrm>
            <a:off x="3337560" y="3849624"/>
            <a:ext cx="4846320" cy="457200"/>
          </a:xfrm>
          <a:prstGeom prst="rect">
            <a:avLst/>
          </a:prstGeom>
          <a:noFill/>
        </p:spPr>
        <p:txBody>
          <a:bodyPr wrap="square" lIns="0" rIns="0" tIns="0" bIns="0">
            <a:spAutoFit/>
          </a:bodyPr>
          <a:lstStyle/>
          <a:p>
            <a:pPr>
              <a:spcAft>
                <a:spcPts val="900"/>
              </a:spcAft>
              <a:defRPr sz="1700" b="0">
                <a:solidFill>
                  <a:srgbClr val="111936"/>
                </a:solidFill>
                <a:latin typeface="Noto Sans KR"/>
              </a:defRPr>
            </a:pPr>
            <a:r>
              <a:t>즉시 쿠폰 또는 오전가 잠금 → 몰 이동</a:t>
            </a:r>
          </a:p>
        </p:txBody>
      </p:sp>
      <p:sp>
        <p:nvSpPr>
          <p:cNvPr id="15" name="TextBox 14"/>
          <p:cNvSpPr txBox="1"/>
          <p:nvPr/>
        </p:nvSpPr>
        <p:spPr>
          <a:xfrm>
            <a:off x="8366760" y="3849624"/>
            <a:ext cx="2880360" cy="45720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혜택을 확인하고 구매 결정으로</a:t>
            </a:r>
          </a:p>
        </p:txBody>
      </p:sp>
      <p:sp>
        <p:nvSpPr>
          <p:cNvPr id="16" name="Rounded Rectangle 15"/>
          <p:cNvSpPr/>
          <p:nvPr/>
        </p:nvSpPr>
        <p:spPr>
          <a:xfrm>
            <a:off x="685800" y="4617720"/>
            <a:ext cx="10817352" cy="8046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00600"/>
            <a:ext cx="2423160" cy="457200"/>
          </a:xfrm>
          <a:prstGeom prst="rect">
            <a:avLst/>
          </a:prstGeom>
          <a:noFill/>
        </p:spPr>
        <p:txBody>
          <a:bodyPr wrap="square" lIns="0" rIns="0" tIns="0" bIns="0">
            <a:spAutoFit/>
          </a:bodyPr>
          <a:lstStyle/>
          <a:p>
            <a:pPr>
              <a:spcAft>
                <a:spcPts val="900"/>
              </a:spcAft>
              <a:defRPr sz="1900" b="1">
                <a:solidFill>
                  <a:srgbClr val="176857"/>
                </a:solidFill>
                <a:latin typeface="Noto Sans KR"/>
              </a:defRPr>
            </a:pPr>
            <a:r>
              <a:t>다시 확인할 고객</a:t>
            </a:r>
          </a:p>
        </p:txBody>
      </p:sp>
      <p:sp>
        <p:nvSpPr>
          <p:cNvPr id="18" name="TextBox 17"/>
          <p:cNvSpPr txBox="1"/>
          <p:nvPr/>
        </p:nvSpPr>
        <p:spPr>
          <a:xfrm>
            <a:off x="3337560" y="4809744"/>
            <a:ext cx="4846320" cy="457200"/>
          </a:xfrm>
          <a:prstGeom prst="rect">
            <a:avLst/>
          </a:prstGeom>
          <a:noFill/>
        </p:spPr>
        <p:txBody>
          <a:bodyPr wrap="square" lIns="0" rIns="0" tIns="0" bIns="0">
            <a:spAutoFit/>
          </a:bodyPr>
          <a:lstStyle/>
          <a:p>
            <a:pPr>
              <a:spcAft>
                <a:spcPts val="900"/>
              </a:spcAft>
              <a:defRPr sz="1700" b="0">
                <a:solidFill>
                  <a:srgbClr val="111936"/>
                </a:solidFill>
                <a:latin typeface="Noto Sans KR"/>
              </a:defRPr>
            </a:pPr>
            <a:r>
              <a:t>내일 가격 예측 → 다음 날 결과 확인</a:t>
            </a:r>
          </a:p>
        </p:txBody>
      </p:sp>
      <p:sp>
        <p:nvSpPr>
          <p:cNvPr id="19" name="TextBox 18"/>
          <p:cNvSpPr txBox="1"/>
          <p:nvPr/>
        </p:nvSpPr>
        <p:spPr>
          <a:xfrm>
            <a:off x="8366760" y="4809744"/>
            <a:ext cx="2880360" cy="45720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재방문하고 다시 상품 탐색으로</a:t>
            </a:r>
          </a:p>
        </p:txBody>
      </p:sp>
      <p:sp>
        <p:nvSpPr>
          <p:cNvPr id="20" name="Rounded Rectangle 19"/>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대표가 확인할 결과  |  각 경로의 주문 연결률과 재방문율을 따로 봅니다.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07  오늘의 구매 계기</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마음에 드는 빵을 찾았다면,</a:t>
            </a:r>
          </a:p>
          <a:p>
            <a:pPr>
              <a:spcAft>
                <a:spcPts val="900"/>
              </a:spcAft>
              <a:defRPr sz="3100" b="1">
                <a:solidFill>
                  <a:srgbClr val="111936"/>
                </a:solidFill>
                <a:latin typeface="Noto Sans KR"/>
              </a:defRPr>
            </a:pPr>
            <a:r>
              <a:t>지금 쓸 혜택을 바로 받습니다.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앱의 ‘안정형’ = 오늘 바로 받는 쿠폰</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구현 기준: MakjiStock 3571a21 · reward-policy.ts / sheets.tsx · 2026.09.28 확인</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07</a:t>
            </a:r>
          </a:p>
        </p:txBody>
      </p:sp>
      <p:sp>
        <p:nvSpPr>
          <p:cNvPr id="8" name="Rounded Rectangle 7"/>
          <p:cNvSpPr/>
          <p:nvPr/>
        </p:nvSpPr>
        <p:spPr>
          <a:xfrm>
            <a:off x="685800" y="2743200"/>
            <a:ext cx="3447288" cy="2468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926080"/>
            <a:ext cx="3026664" cy="457200"/>
          </a:xfrm>
          <a:prstGeom prst="rect">
            <a:avLst/>
          </a:prstGeom>
          <a:noFill/>
        </p:spPr>
        <p:txBody>
          <a:bodyPr wrap="square" lIns="0" rIns="0" tIns="0" bIns="0">
            <a:spAutoFit/>
          </a:bodyPr>
          <a:lstStyle/>
          <a:p>
            <a:pPr>
              <a:spcAft>
                <a:spcPts val="900"/>
              </a:spcAft>
              <a:defRPr sz="2600" b="1">
                <a:solidFill>
                  <a:srgbClr val="176857"/>
                </a:solidFill>
                <a:latin typeface="Noto Sans KR"/>
              </a:defRPr>
            </a:pPr>
            <a:r>
              <a:t>06:00</a:t>
            </a:r>
          </a:p>
        </p:txBody>
      </p:sp>
      <p:sp>
        <p:nvSpPr>
          <p:cNvPr id="10" name="TextBox 9"/>
          <p:cNvSpPr txBox="1"/>
          <p:nvPr/>
        </p:nvSpPr>
        <p:spPr>
          <a:xfrm>
            <a:off x="896112" y="3547872"/>
            <a:ext cx="3026664" cy="64008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오전에 받으면</a:t>
            </a:r>
          </a:p>
        </p:txBody>
      </p:sp>
      <p:sp>
        <p:nvSpPr>
          <p:cNvPr id="11" name="TextBox 10"/>
          <p:cNvSpPr txBox="1"/>
          <p:nvPr/>
        </p:nvSpPr>
        <p:spPr>
          <a:xfrm>
            <a:off x="896112" y="4279392"/>
            <a:ext cx="3026664" cy="100584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7~10% 중 오늘의 보상률</a:t>
            </a:r>
          </a:p>
          <a:p>
            <a:pPr>
              <a:spcAft>
                <a:spcPts val="900"/>
              </a:spcAft>
              <a:defRPr sz="1600" b="0">
                <a:solidFill>
                  <a:srgbClr val="687080"/>
                </a:solidFill>
                <a:latin typeface="Noto Sans KR"/>
              </a:defRPr>
            </a:pPr>
            <a:r>
              <a:t>선택 전에 화면에서 확인</a:t>
            </a:r>
          </a:p>
        </p:txBody>
      </p:sp>
      <p:sp>
        <p:nvSpPr>
          <p:cNvPr id="12" name="Rounded Rectangle 11"/>
          <p:cNvSpPr/>
          <p:nvPr/>
        </p:nvSpPr>
        <p:spPr>
          <a:xfrm>
            <a:off x="4370832" y="2743200"/>
            <a:ext cx="3447288" cy="2468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926080"/>
            <a:ext cx="3026664" cy="457200"/>
          </a:xfrm>
          <a:prstGeom prst="rect">
            <a:avLst/>
          </a:prstGeom>
          <a:noFill/>
        </p:spPr>
        <p:txBody>
          <a:bodyPr wrap="square" lIns="0" rIns="0" tIns="0" bIns="0">
            <a:spAutoFit/>
          </a:bodyPr>
          <a:lstStyle/>
          <a:p>
            <a:pPr>
              <a:spcAft>
                <a:spcPts val="900"/>
              </a:spcAft>
              <a:defRPr sz="2600" b="1">
                <a:solidFill>
                  <a:srgbClr val="176857"/>
                </a:solidFill>
                <a:latin typeface="Noto Sans KR"/>
              </a:defRPr>
            </a:pPr>
            <a:r>
              <a:t>16:00</a:t>
            </a:r>
          </a:p>
        </p:txBody>
      </p:sp>
      <p:sp>
        <p:nvSpPr>
          <p:cNvPr id="14" name="TextBox 13"/>
          <p:cNvSpPr txBox="1"/>
          <p:nvPr/>
        </p:nvSpPr>
        <p:spPr>
          <a:xfrm>
            <a:off x="4581144" y="3547872"/>
            <a:ext cx="3026664" cy="64008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오후에 받으면</a:t>
            </a:r>
          </a:p>
        </p:txBody>
      </p:sp>
      <p:sp>
        <p:nvSpPr>
          <p:cNvPr id="15" name="TextBox 14"/>
          <p:cNvSpPr txBox="1"/>
          <p:nvPr/>
        </p:nvSpPr>
        <p:spPr>
          <a:xfrm>
            <a:off x="4581144" y="4279392"/>
            <a:ext cx="3026664" cy="100584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5~7% 중 오늘의 보상률</a:t>
            </a:r>
          </a:p>
          <a:p>
            <a:pPr>
              <a:spcAft>
                <a:spcPts val="900"/>
              </a:spcAft>
              <a:defRPr sz="1600" b="0">
                <a:solidFill>
                  <a:srgbClr val="687080"/>
                </a:solidFill>
                <a:latin typeface="Noto Sans KR"/>
              </a:defRPr>
            </a:pPr>
            <a:r>
              <a:t>발급 시점 판매가로 금액 계산</a:t>
            </a:r>
          </a:p>
        </p:txBody>
      </p:sp>
      <p:sp>
        <p:nvSpPr>
          <p:cNvPr id="16" name="Rounded Rectangle 15"/>
          <p:cNvSpPr/>
          <p:nvPr/>
        </p:nvSpPr>
        <p:spPr>
          <a:xfrm>
            <a:off x="8055864" y="2743200"/>
            <a:ext cx="3447288" cy="2468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2926080"/>
            <a:ext cx="3026664" cy="457200"/>
          </a:xfrm>
          <a:prstGeom prst="rect">
            <a:avLst/>
          </a:prstGeom>
          <a:noFill/>
        </p:spPr>
        <p:txBody>
          <a:bodyPr wrap="square" lIns="0" rIns="0" tIns="0" bIns="0">
            <a:spAutoFit/>
          </a:bodyPr>
          <a:lstStyle/>
          <a:p>
            <a:pPr>
              <a:spcAft>
                <a:spcPts val="900"/>
              </a:spcAft>
              <a:defRPr sz="2600" b="1">
                <a:solidFill>
                  <a:srgbClr val="176857"/>
                </a:solidFill>
                <a:latin typeface="Noto Sans KR"/>
              </a:defRPr>
            </a:pPr>
            <a:r>
              <a:t>3시간</a:t>
            </a:r>
          </a:p>
        </p:txBody>
      </p:sp>
      <p:sp>
        <p:nvSpPr>
          <p:cNvPr id="18" name="TextBox 17"/>
          <p:cNvSpPr txBox="1"/>
          <p:nvPr/>
        </p:nvSpPr>
        <p:spPr>
          <a:xfrm>
            <a:off x="8266176" y="3547872"/>
            <a:ext cx="3026664" cy="64008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구매로 이어갑니다</a:t>
            </a:r>
          </a:p>
        </p:txBody>
      </p:sp>
      <p:sp>
        <p:nvSpPr>
          <p:cNvPr id="19" name="TextBox 18"/>
          <p:cNvSpPr txBox="1"/>
          <p:nvPr/>
        </p:nvSpPr>
        <p:spPr>
          <a:xfrm>
            <a:off x="8266176" y="4279392"/>
            <a:ext cx="3026664" cy="100584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발급 후 3시간 동안 사용</a:t>
            </a:r>
          </a:p>
          <a:p>
            <a:pPr>
              <a:spcAft>
                <a:spcPts val="900"/>
              </a:spcAft>
              <a:defRPr sz="1600" b="0">
                <a:solidFill>
                  <a:srgbClr val="687080"/>
                </a:solidFill>
                <a:latin typeface="Noto Sans KR"/>
              </a:defRPr>
            </a:pPr>
            <a:r>
              <a:t>자사몰에서 결제</a:t>
            </a:r>
          </a:p>
        </p:txBody>
      </p:sp>
      <p:sp>
        <p:nvSpPr>
          <p:cNvPr id="20" name="Rounded Rectangle 19"/>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기대 효과  |  오늘 사용할 수 있는 혜택과 기한이 구매 결정을 돕습니다.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08  구매를 이어 주는 기능</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아침에 고른 빵을</a:t>
            </a:r>
          </a:p>
          <a:p>
            <a:pPr>
              <a:spcAft>
                <a:spcPts val="900"/>
              </a:spcAft>
              <a:defRPr sz="3100" b="1">
                <a:solidFill>
                  <a:srgbClr val="111936"/>
                </a:solidFill>
                <a:latin typeface="Noto Sans KR"/>
              </a:defRPr>
            </a:pPr>
            <a:r>
              <a:t>오후에도 안심하고 구매합니다.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오전가 잠금: 평일 오전장에 하루 한 상품 · 보호 구간 16:00~다음 날 01:59</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구현 기준: MakjiStock 3571a21 · reward-policy.ts / sheets.tsx · 2026.09.28 확인</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08</a:t>
            </a:r>
          </a:p>
        </p:txBody>
      </p:sp>
      <p:sp>
        <p:nvSpPr>
          <p:cNvPr id="8" name="TextBox 7"/>
          <p:cNvSpPr txBox="1"/>
          <p:nvPr/>
        </p:nvSpPr>
        <p:spPr>
          <a:xfrm>
            <a:off x="822960" y="2880360"/>
            <a:ext cx="3200400" cy="548640"/>
          </a:xfrm>
          <a:prstGeom prst="rect">
            <a:avLst/>
          </a:prstGeom>
          <a:noFill/>
        </p:spPr>
        <p:txBody>
          <a:bodyPr wrap="square" lIns="0" rIns="0" tIns="0" bIns="0">
            <a:spAutoFit/>
          </a:bodyPr>
          <a:lstStyle/>
          <a:p>
            <a:pPr>
              <a:spcAft>
                <a:spcPts val="900"/>
              </a:spcAft>
              <a:defRPr sz="2500" b="1">
                <a:solidFill>
                  <a:srgbClr val="176857"/>
                </a:solidFill>
                <a:latin typeface="Noto Sans KR"/>
              </a:defRPr>
            </a:pPr>
            <a:r>
              <a:t>오전 3,000원 잠금</a:t>
            </a:r>
          </a:p>
        </p:txBody>
      </p:sp>
      <p:sp>
        <p:nvSpPr>
          <p:cNvPr id="9" name="TextBox 8"/>
          <p:cNvSpPr txBox="1"/>
          <p:nvPr/>
        </p:nvSpPr>
        <p:spPr>
          <a:xfrm>
            <a:off x="822960" y="3749039"/>
            <a:ext cx="3200400" cy="1097280"/>
          </a:xfrm>
          <a:prstGeom prst="rect">
            <a:avLst/>
          </a:prstGeom>
          <a:noFill/>
        </p:spPr>
        <p:txBody>
          <a:bodyPr wrap="square" lIns="0" rIns="0" tIns="0" bIns="0">
            <a:spAutoFit/>
          </a:bodyPr>
          <a:lstStyle/>
          <a:p>
            <a:pPr>
              <a:spcAft>
                <a:spcPts val="900"/>
              </a:spcAft>
              <a:defRPr sz="2100" b="0">
                <a:solidFill>
                  <a:srgbClr val="111936"/>
                </a:solidFill>
                <a:latin typeface="Noto Sans KR"/>
              </a:defRPr>
            </a:pPr>
            <a:r>
              <a:t>출근길에 고르고</a:t>
            </a:r>
          </a:p>
          <a:p>
            <a:pPr>
              <a:spcAft>
                <a:spcPts val="900"/>
              </a:spcAft>
              <a:defRPr sz="2100" b="0">
                <a:solidFill>
                  <a:srgbClr val="111936"/>
                </a:solidFill>
                <a:latin typeface="Noto Sans KR"/>
              </a:defRPr>
            </a:pPr>
            <a:r>
              <a:t>오후에 결제합니다.</a:t>
            </a:r>
          </a:p>
        </p:txBody>
      </p:sp>
      <p:sp>
        <p:nvSpPr>
          <p:cNvPr id="10" name="Rounded Rectangle 9"/>
          <p:cNvSpPr/>
          <p:nvPr/>
        </p:nvSpPr>
        <p:spPr>
          <a:xfrm>
            <a:off x="4343400" y="2697480"/>
            <a:ext cx="7086600" cy="12344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862072"/>
            <a:ext cx="6583680" cy="384048"/>
          </a:xfrm>
          <a:prstGeom prst="rect">
            <a:avLst/>
          </a:prstGeom>
          <a:noFill/>
        </p:spPr>
        <p:txBody>
          <a:bodyPr wrap="square" lIns="0" rIns="0" tIns="0" bIns="0">
            <a:spAutoFit/>
          </a:bodyPr>
          <a:lstStyle/>
          <a:p>
            <a:pPr>
              <a:spcAft>
                <a:spcPts val="900"/>
              </a:spcAft>
              <a:defRPr sz="2300" b="1">
                <a:solidFill>
                  <a:srgbClr val="111936"/>
                </a:solidFill>
                <a:latin typeface="Noto Sans KR"/>
              </a:defRPr>
            </a:pPr>
            <a:r>
              <a:t>오후 3,200원 → 차액 200원 쿠폰</a:t>
            </a:r>
          </a:p>
        </p:txBody>
      </p:sp>
      <p:sp>
        <p:nvSpPr>
          <p:cNvPr id="12" name="TextBox 11"/>
          <p:cNvSpPr txBox="1"/>
          <p:nvPr/>
        </p:nvSpPr>
        <p:spPr>
          <a:xfrm>
            <a:off x="4590288" y="3429000"/>
            <a:ext cx="6583680" cy="32004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보호 구간에 사용해 잠금가로 구매</a:t>
            </a:r>
          </a:p>
        </p:txBody>
      </p:sp>
      <p:sp>
        <p:nvSpPr>
          <p:cNvPr id="13" name="Rounded Rectangle 12"/>
          <p:cNvSpPr/>
          <p:nvPr/>
        </p:nvSpPr>
        <p:spPr>
          <a:xfrm>
            <a:off x="4343400" y="4206240"/>
            <a:ext cx="7086600" cy="12344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4370832"/>
            <a:ext cx="6583680" cy="384048"/>
          </a:xfrm>
          <a:prstGeom prst="rect">
            <a:avLst/>
          </a:prstGeom>
          <a:noFill/>
        </p:spPr>
        <p:txBody>
          <a:bodyPr wrap="square" lIns="0" rIns="0" tIns="0" bIns="0">
            <a:spAutoFit/>
          </a:bodyPr>
          <a:lstStyle/>
          <a:p>
            <a:pPr>
              <a:spcAft>
                <a:spcPts val="900"/>
              </a:spcAft>
              <a:defRPr sz="2300" b="1">
                <a:solidFill>
                  <a:srgbClr val="111936"/>
                </a:solidFill>
                <a:latin typeface="Noto Sans KR"/>
              </a:defRPr>
            </a:pPr>
            <a:r>
              <a:t>오후 2,900원 → 현재가 2,900원</a:t>
            </a:r>
          </a:p>
        </p:txBody>
      </p:sp>
      <p:sp>
        <p:nvSpPr>
          <p:cNvPr id="15" name="TextBox 14"/>
          <p:cNvSpPr txBox="1"/>
          <p:nvPr/>
        </p:nvSpPr>
        <p:spPr>
          <a:xfrm>
            <a:off x="4590288" y="4937760"/>
            <a:ext cx="6583680" cy="32004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내려간 가격을 적용해 구매</a:t>
            </a:r>
          </a:p>
        </p:txBody>
      </p:sp>
      <p:sp>
        <p:nvSpPr>
          <p:cNvPr id="16" name="Rounded Rectangle 15"/>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설명용 가격 예시  |  휴장일·가격 미확정일의 잠금 처리와 안내는 출시 전 확인합니다.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09  내일의 방문 계기</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오늘의 예측이</a:t>
            </a:r>
          </a:p>
          <a:p>
            <a:pPr>
              <a:spcAft>
                <a:spcPts val="900"/>
              </a:spcAft>
              <a:defRPr sz="3100" b="1">
                <a:solidFill>
                  <a:srgbClr val="111936"/>
                </a:solidFill>
                <a:latin typeface="Noto Sans KR"/>
              </a:defRPr>
            </a:pPr>
            <a:r>
              <a:t>내일 확인할 이유가 됩니다.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앱의 ‘공격형’ = 내일 오전 가격 방향 맞히기</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구현 기준: MakjiStock 3571a21 · reward-policy.ts / sheets.tsx · 2026.09.28 확인</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09</a:t>
            </a:r>
          </a:p>
        </p:txBody>
      </p:sp>
      <p:sp>
        <p:nvSpPr>
          <p:cNvPr id="8" name="Rounded Rectangle 7"/>
          <p:cNvSpPr/>
          <p:nvPr/>
        </p:nvSpPr>
        <p:spPr>
          <a:xfrm>
            <a:off x="685800"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01</a:t>
            </a:r>
          </a:p>
        </p:txBody>
      </p:sp>
      <p:sp>
        <p:nvSpPr>
          <p:cNvPr id="10" name="TextBox 9"/>
          <p:cNvSpPr txBox="1"/>
          <p:nvPr/>
        </p:nvSpPr>
        <p:spPr>
          <a:xfrm>
            <a:off x="850392"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오늘 참여</a:t>
            </a:r>
          </a:p>
        </p:txBody>
      </p:sp>
      <p:sp>
        <p:nvSpPr>
          <p:cNvPr id="11" name="TextBox 10"/>
          <p:cNvSpPr txBox="1"/>
          <p:nvPr/>
        </p:nvSpPr>
        <p:spPr>
          <a:xfrm>
            <a:off x="850392"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내일 오를지·내릴지 선택</a:t>
            </a:r>
          </a:p>
        </p:txBody>
      </p:sp>
      <p:sp>
        <p:nvSpPr>
          <p:cNvPr id="12" name="Rounded Rectangle 11"/>
          <p:cNvSpPr/>
          <p:nvPr/>
        </p:nvSpPr>
        <p:spPr>
          <a:xfrm>
            <a:off x="4367784"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2376"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02</a:t>
            </a:r>
          </a:p>
        </p:txBody>
      </p:sp>
      <p:sp>
        <p:nvSpPr>
          <p:cNvPr id="14" name="TextBox 13"/>
          <p:cNvSpPr txBox="1"/>
          <p:nvPr/>
        </p:nvSpPr>
        <p:spPr>
          <a:xfrm>
            <a:off x="4532376"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내일 06:00</a:t>
            </a:r>
          </a:p>
        </p:txBody>
      </p:sp>
      <p:sp>
        <p:nvSpPr>
          <p:cNvPr id="15" name="TextBox 14"/>
          <p:cNvSpPr txBox="1"/>
          <p:nvPr/>
        </p:nvSpPr>
        <p:spPr>
          <a:xfrm>
            <a:off x="4532376"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오전 확정가로 결과 판정</a:t>
            </a:r>
          </a:p>
        </p:txBody>
      </p:sp>
      <p:sp>
        <p:nvSpPr>
          <p:cNvPr id="16" name="Rounded Rectangle 15"/>
          <p:cNvSpPr/>
          <p:nvPr/>
        </p:nvSpPr>
        <p:spPr>
          <a:xfrm>
            <a:off x="8049768"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4360"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03</a:t>
            </a:r>
          </a:p>
        </p:txBody>
      </p:sp>
      <p:sp>
        <p:nvSpPr>
          <p:cNvPr id="18" name="TextBox 17"/>
          <p:cNvSpPr txBox="1"/>
          <p:nvPr/>
        </p:nvSpPr>
        <p:spPr>
          <a:xfrm>
            <a:off x="8214360"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다시 탐색</a:t>
            </a:r>
          </a:p>
        </p:txBody>
      </p:sp>
      <p:sp>
        <p:nvSpPr>
          <p:cNvPr id="19" name="TextBox 18"/>
          <p:cNvSpPr txBox="1"/>
          <p:nvPr/>
        </p:nvSpPr>
        <p:spPr>
          <a:xfrm>
            <a:off x="8214360"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결과와 오늘 상품 확인</a:t>
            </a:r>
          </a:p>
        </p:txBody>
      </p:sp>
      <p:sp>
        <p:nvSpPr>
          <p:cNvPr id="20" name="Rounded Rectangle 19"/>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적중·동가: 5~13% 중 정해진 보상 발급, 발급 후 24시간 유효  |  미적중: 쿠폰 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10  운영 정책</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혜택의 범위를 정하고,</a:t>
            </a:r>
          </a:p>
          <a:p>
            <a:pPr>
              <a:spcAft>
                <a:spcPts val="900"/>
              </a:spcAft>
              <a:defRPr sz="3100" b="1">
                <a:solidFill>
                  <a:srgbClr val="111936"/>
                </a:solidFill>
                <a:latin typeface="Noto Sans KR"/>
              </a:defRPr>
            </a:pPr>
            <a:r>
              <a:t>기존 자사몰에서 판매합니다.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가격 계산·참여는 MAKJI STOCK, 주문·결제·배송은 Cafe24에서 처리합니다.</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구현 기준: MakjiStock 3571a21 · reward-policy.ts / sheets.tsx · 2026.09.28 확인</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10</a:t>
            </a:r>
          </a:p>
        </p:txBody>
      </p:sp>
      <p:sp>
        <p:nvSpPr>
          <p:cNvPr id="8" name="Rounded Rectangle 7"/>
          <p:cNvSpPr/>
          <p:nvPr/>
        </p:nvSpPr>
        <p:spPr>
          <a:xfrm>
            <a:off x="685800" y="2743200"/>
            <a:ext cx="3447288" cy="2468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926080"/>
            <a:ext cx="3026664" cy="457200"/>
          </a:xfrm>
          <a:prstGeom prst="rect">
            <a:avLst/>
          </a:prstGeom>
          <a:noFill/>
        </p:spPr>
        <p:txBody>
          <a:bodyPr wrap="square" lIns="0" rIns="0" tIns="0" bIns="0">
            <a:spAutoFit/>
          </a:bodyPr>
          <a:lstStyle/>
          <a:p>
            <a:pPr>
              <a:spcAft>
                <a:spcPts val="900"/>
              </a:spcAft>
              <a:defRPr sz="2600" b="1">
                <a:solidFill>
                  <a:srgbClr val="176857"/>
                </a:solidFill>
                <a:latin typeface="Noto Sans KR"/>
              </a:defRPr>
            </a:pPr>
            <a:r>
              <a:t>25%</a:t>
            </a:r>
          </a:p>
        </p:txBody>
      </p:sp>
      <p:sp>
        <p:nvSpPr>
          <p:cNvPr id="10" name="TextBox 9"/>
          <p:cNvSpPr txBox="1"/>
          <p:nvPr/>
        </p:nvSpPr>
        <p:spPr>
          <a:xfrm>
            <a:off x="896112" y="3547872"/>
            <a:ext cx="3026664" cy="64008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상품 할인 상한</a:t>
            </a:r>
          </a:p>
        </p:txBody>
      </p:sp>
      <p:sp>
        <p:nvSpPr>
          <p:cNvPr id="11" name="TextBox 10"/>
          <p:cNvSpPr txBox="1"/>
          <p:nvPr/>
        </p:nvSpPr>
        <p:spPr>
          <a:xfrm>
            <a:off x="896112" y="4279392"/>
            <a:ext cx="3026664" cy="100584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기준가에서 매번 새로 계산</a:t>
            </a:r>
          </a:p>
          <a:p>
            <a:pPr>
              <a:spcAft>
                <a:spcPts val="900"/>
              </a:spcAft>
              <a:defRPr sz="1600" b="0">
                <a:solidFill>
                  <a:srgbClr val="687080"/>
                </a:solidFill>
                <a:latin typeface="Noto Sans KR"/>
              </a:defRPr>
            </a:pPr>
            <a:r>
              <a:t>시세 할인 최대 25%</a:t>
            </a:r>
          </a:p>
        </p:txBody>
      </p:sp>
      <p:sp>
        <p:nvSpPr>
          <p:cNvPr id="12" name="Rounded Rectangle 11"/>
          <p:cNvSpPr/>
          <p:nvPr/>
        </p:nvSpPr>
        <p:spPr>
          <a:xfrm>
            <a:off x="4370832" y="2743200"/>
            <a:ext cx="3447288" cy="2468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926080"/>
            <a:ext cx="3026664" cy="457200"/>
          </a:xfrm>
          <a:prstGeom prst="rect">
            <a:avLst/>
          </a:prstGeom>
          <a:noFill/>
        </p:spPr>
        <p:txBody>
          <a:bodyPr wrap="square" lIns="0" rIns="0" tIns="0" bIns="0">
            <a:spAutoFit/>
          </a:bodyPr>
          <a:lstStyle/>
          <a:p>
            <a:pPr>
              <a:spcAft>
                <a:spcPts val="900"/>
              </a:spcAft>
              <a:defRPr sz="2600" b="1">
                <a:solidFill>
                  <a:srgbClr val="176857"/>
                </a:solidFill>
                <a:latin typeface="Noto Sans KR"/>
              </a:defRPr>
            </a:pPr>
            <a:r>
              <a:t>38%</a:t>
            </a:r>
          </a:p>
        </p:txBody>
      </p:sp>
      <p:sp>
        <p:nvSpPr>
          <p:cNvPr id="14" name="TextBox 13"/>
          <p:cNvSpPr txBox="1"/>
          <p:nvPr/>
        </p:nvSpPr>
        <p:spPr>
          <a:xfrm>
            <a:off x="4581144" y="3547872"/>
            <a:ext cx="3026664" cy="64008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혜택 설계 상한</a:t>
            </a:r>
          </a:p>
        </p:txBody>
      </p:sp>
      <p:sp>
        <p:nvSpPr>
          <p:cNvPr id="15" name="TextBox 14"/>
          <p:cNvSpPr txBox="1"/>
          <p:nvPr/>
        </p:nvSpPr>
        <p:spPr>
          <a:xfrm>
            <a:off x="4581144" y="4279392"/>
            <a:ext cx="3026664" cy="100584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상품 할인과 보상 쿠폰</a:t>
            </a:r>
          </a:p>
          <a:p>
            <a:pPr>
              <a:spcAft>
                <a:spcPts val="900"/>
              </a:spcAft>
              <a:defRPr sz="1600" b="0">
                <a:solidFill>
                  <a:srgbClr val="687080"/>
                </a:solidFill>
                <a:latin typeface="Noto Sans KR"/>
              </a:defRPr>
            </a:pPr>
            <a:r>
              <a:t>총 혜택 상한 38%</a:t>
            </a:r>
          </a:p>
        </p:txBody>
      </p:sp>
      <p:sp>
        <p:nvSpPr>
          <p:cNvPr id="16" name="Rounded Rectangle 15"/>
          <p:cNvSpPr/>
          <p:nvPr/>
        </p:nvSpPr>
        <p:spPr>
          <a:xfrm>
            <a:off x="8055864" y="2743200"/>
            <a:ext cx="3447288" cy="2468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2926080"/>
            <a:ext cx="3026664" cy="457200"/>
          </a:xfrm>
          <a:prstGeom prst="rect">
            <a:avLst/>
          </a:prstGeom>
          <a:noFill/>
        </p:spPr>
        <p:txBody>
          <a:bodyPr wrap="square" lIns="0" rIns="0" tIns="0" bIns="0">
            <a:spAutoFit/>
          </a:bodyPr>
          <a:lstStyle/>
          <a:p>
            <a:pPr>
              <a:spcAft>
                <a:spcPts val="900"/>
              </a:spcAft>
              <a:defRPr sz="2600" b="1">
                <a:solidFill>
                  <a:srgbClr val="176857"/>
                </a:solidFill>
                <a:latin typeface="Noto Sans KR"/>
              </a:defRPr>
            </a:pPr>
            <a:r>
              <a:t>출시 전</a:t>
            </a:r>
          </a:p>
        </p:txBody>
      </p:sp>
      <p:sp>
        <p:nvSpPr>
          <p:cNvPr id="18" name="TextBox 17"/>
          <p:cNvSpPr txBox="1"/>
          <p:nvPr/>
        </p:nvSpPr>
        <p:spPr>
          <a:xfrm>
            <a:off x="8266176" y="3547872"/>
            <a:ext cx="3026664" cy="64008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운영 승인 범위</a:t>
            </a:r>
          </a:p>
        </p:txBody>
      </p:sp>
      <p:sp>
        <p:nvSpPr>
          <p:cNvPr id="19" name="TextBox 18"/>
          <p:cNvSpPr txBox="1"/>
          <p:nvPr/>
        </p:nvSpPr>
        <p:spPr>
          <a:xfrm>
            <a:off x="8266176" y="4279392"/>
            <a:ext cx="3026664" cy="100584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상품별 원가·쿠폰 중복 설정</a:t>
            </a:r>
          </a:p>
          <a:p>
            <a:pPr>
              <a:spcAft>
                <a:spcPts val="900"/>
              </a:spcAft>
              <a:defRPr sz="1600" b="0">
                <a:solidFill>
                  <a:srgbClr val="687080"/>
                </a:solidFill>
                <a:latin typeface="Noto Sans KR"/>
              </a:defRPr>
            </a:pPr>
            <a:r>
              <a:t>실몰 주문 흐름 확인</a:t>
            </a:r>
          </a:p>
        </p:txBody>
      </p:sp>
      <p:sp>
        <p:nvSpPr>
          <p:cNvPr id="20" name="Rounded Rectangle 19"/>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가격 공개 06:00·16:00 / 02:00 정가 복귀  |  실몰 적용은 상품·쿠폰 설정 점검 후 진행</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11  성과를 보는 기준</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방문이 주문으로 이어지고,</a:t>
            </a:r>
          </a:p>
          <a:p>
            <a:pPr>
              <a:spcAft>
                <a:spcPts val="900"/>
              </a:spcAft>
              <a:defRPr sz="3100" b="1">
                <a:solidFill>
                  <a:srgbClr val="111936"/>
                </a:solidFill>
                <a:latin typeface="Noto Sans KR"/>
              </a:defRPr>
            </a:pPr>
            <a:r>
              <a:t>할인 후에도 수익이 남는지 봅니다.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KPI는 운영 결과를 확인하는 숫자입니다. 시작 주에 기준값과 목표를 확정합니다.</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근거: SWEETNSWITZ | MAKJI RFP (2026.09), pp. 4–7 · 아래 측정 방식은 제안</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11</a:t>
            </a:r>
          </a:p>
        </p:txBody>
      </p:sp>
      <p:sp>
        <p:nvSpPr>
          <p:cNvPr id="8" name="Rounded Rectangle 7"/>
          <p:cNvSpPr/>
          <p:nvPr/>
        </p:nvSpPr>
        <p:spPr>
          <a:xfrm>
            <a:off x="685800" y="2560320"/>
            <a:ext cx="10817352"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70048"/>
            <a:ext cx="1280160" cy="347472"/>
          </a:xfrm>
          <a:prstGeom prst="rect">
            <a:avLst/>
          </a:prstGeom>
          <a:noFill/>
        </p:spPr>
        <p:txBody>
          <a:bodyPr wrap="square" lIns="0" rIns="0" tIns="0" bIns="0">
            <a:spAutoFit/>
          </a:bodyPr>
          <a:lstStyle/>
          <a:p>
            <a:pPr>
              <a:spcAft>
                <a:spcPts val="900"/>
              </a:spcAft>
              <a:defRPr sz="1700" b="1">
                <a:solidFill>
                  <a:srgbClr val="176857"/>
                </a:solidFill>
                <a:latin typeface="Noto Sans KR"/>
              </a:defRPr>
            </a:pPr>
            <a:r>
              <a:t>유입</a:t>
            </a:r>
          </a:p>
        </p:txBody>
      </p:sp>
      <p:sp>
        <p:nvSpPr>
          <p:cNvPr id="10" name="TextBox 9"/>
          <p:cNvSpPr txBox="1"/>
          <p:nvPr/>
        </p:nvSpPr>
        <p:spPr>
          <a:xfrm>
            <a:off x="2240280" y="2670048"/>
            <a:ext cx="3383280" cy="347472"/>
          </a:xfrm>
          <a:prstGeom prst="rect">
            <a:avLst/>
          </a:prstGeom>
          <a:noFill/>
        </p:spPr>
        <p:txBody>
          <a:bodyPr wrap="square" lIns="0" rIns="0" tIns="0" bIns="0">
            <a:spAutoFit/>
          </a:bodyPr>
          <a:lstStyle/>
          <a:p>
            <a:pPr>
              <a:spcAft>
                <a:spcPts val="900"/>
              </a:spcAft>
              <a:defRPr sz="1700" b="1">
                <a:solidFill>
                  <a:srgbClr val="111936"/>
                </a:solidFill>
                <a:latin typeface="Noto Sans KR"/>
              </a:defRPr>
            </a:pPr>
            <a:r>
              <a:t>마켓 방문자 수</a:t>
            </a:r>
          </a:p>
        </p:txBody>
      </p:sp>
      <p:sp>
        <p:nvSpPr>
          <p:cNvPr id="11" name="TextBox 10"/>
          <p:cNvSpPr txBox="1"/>
          <p:nvPr/>
        </p:nvSpPr>
        <p:spPr>
          <a:xfrm>
            <a:off x="5852160" y="2670048"/>
            <a:ext cx="5394960" cy="347472"/>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채널별 순방문자·방문당 광고비</a:t>
            </a:r>
          </a:p>
        </p:txBody>
      </p:sp>
      <p:sp>
        <p:nvSpPr>
          <p:cNvPr id="12" name="Rounded Rectangle 11"/>
          <p:cNvSpPr/>
          <p:nvPr/>
        </p:nvSpPr>
        <p:spPr>
          <a:xfrm>
            <a:off x="685800" y="3227832"/>
            <a:ext cx="10817352"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37560"/>
            <a:ext cx="1280160" cy="347472"/>
          </a:xfrm>
          <a:prstGeom prst="rect">
            <a:avLst/>
          </a:prstGeom>
          <a:noFill/>
        </p:spPr>
        <p:txBody>
          <a:bodyPr wrap="square" lIns="0" rIns="0" tIns="0" bIns="0">
            <a:spAutoFit/>
          </a:bodyPr>
          <a:lstStyle/>
          <a:p>
            <a:pPr>
              <a:spcAft>
                <a:spcPts val="900"/>
              </a:spcAft>
              <a:defRPr sz="1700" b="1">
                <a:solidFill>
                  <a:srgbClr val="176857"/>
                </a:solidFill>
                <a:latin typeface="Noto Sans KR"/>
              </a:defRPr>
            </a:pPr>
            <a:r>
              <a:t>구매</a:t>
            </a:r>
          </a:p>
        </p:txBody>
      </p:sp>
      <p:sp>
        <p:nvSpPr>
          <p:cNvPr id="14" name="TextBox 13"/>
          <p:cNvSpPr txBox="1"/>
          <p:nvPr/>
        </p:nvSpPr>
        <p:spPr>
          <a:xfrm>
            <a:off x="2240280" y="3337560"/>
            <a:ext cx="3383280" cy="347472"/>
          </a:xfrm>
          <a:prstGeom prst="rect">
            <a:avLst/>
          </a:prstGeom>
          <a:noFill/>
        </p:spPr>
        <p:txBody>
          <a:bodyPr wrap="square" lIns="0" rIns="0" tIns="0" bIns="0">
            <a:spAutoFit/>
          </a:bodyPr>
          <a:lstStyle/>
          <a:p>
            <a:pPr>
              <a:spcAft>
                <a:spcPts val="900"/>
              </a:spcAft>
              <a:defRPr sz="1700" b="1">
                <a:solidFill>
                  <a:srgbClr val="111936"/>
                </a:solidFill>
                <a:latin typeface="Noto Sans KR"/>
              </a:defRPr>
            </a:pPr>
            <a:r>
              <a:t>방문자 구매 전환율</a:t>
            </a:r>
          </a:p>
        </p:txBody>
      </p:sp>
      <p:sp>
        <p:nvSpPr>
          <p:cNvPr id="15" name="TextBox 14"/>
          <p:cNvSpPr txBox="1"/>
          <p:nvPr/>
        </p:nvSpPr>
        <p:spPr>
          <a:xfrm>
            <a:off x="5852160" y="3337560"/>
            <a:ext cx="5394960" cy="347472"/>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구매자 수 ÷ 마켓 순방문자 수</a:t>
            </a:r>
          </a:p>
        </p:txBody>
      </p:sp>
      <p:sp>
        <p:nvSpPr>
          <p:cNvPr id="16" name="Rounded Rectangle 15"/>
          <p:cNvSpPr/>
          <p:nvPr/>
        </p:nvSpPr>
        <p:spPr>
          <a:xfrm>
            <a:off x="685800" y="3895344"/>
            <a:ext cx="10817352"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005072"/>
            <a:ext cx="1280160" cy="347472"/>
          </a:xfrm>
          <a:prstGeom prst="rect">
            <a:avLst/>
          </a:prstGeom>
          <a:noFill/>
        </p:spPr>
        <p:txBody>
          <a:bodyPr wrap="square" lIns="0" rIns="0" tIns="0" bIns="0">
            <a:spAutoFit/>
          </a:bodyPr>
          <a:lstStyle/>
          <a:p>
            <a:pPr>
              <a:spcAft>
                <a:spcPts val="900"/>
              </a:spcAft>
              <a:defRPr sz="1700" b="1">
                <a:solidFill>
                  <a:srgbClr val="176857"/>
                </a:solidFill>
                <a:latin typeface="Noto Sans KR"/>
              </a:defRPr>
            </a:pPr>
            <a:r>
              <a:t>재방문</a:t>
            </a:r>
          </a:p>
        </p:txBody>
      </p:sp>
      <p:sp>
        <p:nvSpPr>
          <p:cNvPr id="18" name="TextBox 17"/>
          <p:cNvSpPr txBox="1"/>
          <p:nvPr/>
        </p:nvSpPr>
        <p:spPr>
          <a:xfrm>
            <a:off x="2240280" y="4005072"/>
            <a:ext cx="3383280" cy="347472"/>
          </a:xfrm>
          <a:prstGeom prst="rect">
            <a:avLst/>
          </a:prstGeom>
          <a:noFill/>
        </p:spPr>
        <p:txBody>
          <a:bodyPr wrap="square" lIns="0" rIns="0" tIns="0" bIns="0">
            <a:spAutoFit/>
          </a:bodyPr>
          <a:lstStyle/>
          <a:p>
            <a:pPr>
              <a:spcAft>
                <a:spcPts val="900"/>
              </a:spcAft>
              <a:defRPr sz="1700" b="1">
                <a:solidFill>
                  <a:srgbClr val="111936"/>
                </a:solidFill>
                <a:latin typeface="Noto Sans KR"/>
              </a:defRPr>
            </a:pPr>
            <a:r>
              <a:t>7일 내 재방문율</a:t>
            </a:r>
          </a:p>
        </p:txBody>
      </p:sp>
      <p:sp>
        <p:nvSpPr>
          <p:cNvPr id="19" name="TextBox 18"/>
          <p:cNvSpPr txBox="1"/>
          <p:nvPr/>
        </p:nvSpPr>
        <p:spPr>
          <a:xfrm>
            <a:off x="5852160" y="4005072"/>
            <a:ext cx="5394960" cy="347472"/>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첫 방문 후 7일 안에 돌아온 비율</a:t>
            </a:r>
          </a:p>
        </p:txBody>
      </p:sp>
      <p:sp>
        <p:nvSpPr>
          <p:cNvPr id="20" name="Rounded Rectangle 19"/>
          <p:cNvSpPr/>
          <p:nvPr/>
        </p:nvSpPr>
        <p:spPr>
          <a:xfrm>
            <a:off x="685800" y="4562856"/>
            <a:ext cx="10817352"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672584"/>
            <a:ext cx="1280160" cy="347472"/>
          </a:xfrm>
          <a:prstGeom prst="rect">
            <a:avLst/>
          </a:prstGeom>
          <a:noFill/>
        </p:spPr>
        <p:txBody>
          <a:bodyPr wrap="square" lIns="0" rIns="0" tIns="0" bIns="0">
            <a:spAutoFit/>
          </a:bodyPr>
          <a:lstStyle/>
          <a:p>
            <a:pPr>
              <a:spcAft>
                <a:spcPts val="900"/>
              </a:spcAft>
              <a:defRPr sz="1700" b="1">
                <a:solidFill>
                  <a:srgbClr val="176857"/>
                </a:solidFill>
                <a:latin typeface="Noto Sans KR"/>
              </a:defRPr>
            </a:pPr>
            <a:r>
              <a:t>수익</a:t>
            </a:r>
          </a:p>
        </p:txBody>
      </p:sp>
      <p:sp>
        <p:nvSpPr>
          <p:cNvPr id="22" name="TextBox 21"/>
          <p:cNvSpPr txBox="1"/>
          <p:nvPr/>
        </p:nvSpPr>
        <p:spPr>
          <a:xfrm>
            <a:off x="2240280" y="4672584"/>
            <a:ext cx="3383280" cy="347472"/>
          </a:xfrm>
          <a:prstGeom prst="rect">
            <a:avLst/>
          </a:prstGeom>
          <a:noFill/>
        </p:spPr>
        <p:txBody>
          <a:bodyPr wrap="square" lIns="0" rIns="0" tIns="0" bIns="0">
            <a:spAutoFit/>
          </a:bodyPr>
          <a:lstStyle/>
          <a:p>
            <a:pPr>
              <a:spcAft>
                <a:spcPts val="900"/>
              </a:spcAft>
              <a:defRPr sz="1700" b="1">
                <a:solidFill>
                  <a:srgbClr val="111936"/>
                </a:solidFill>
                <a:latin typeface="Noto Sans KR"/>
              </a:defRPr>
            </a:pPr>
            <a:r>
              <a:t>주문당 남는 금액</a:t>
            </a:r>
          </a:p>
        </p:txBody>
      </p:sp>
      <p:sp>
        <p:nvSpPr>
          <p:cNvPr id="23" name="TextBox 22"/>
          <p:cNvSpPr txBox="1"/>
          <p:nvPr/>
        </p:nvSpPr>
        <p:spPr>
          <a:xfrm>
            <a:off x="5852160" y="4672584"/>
            <a:ext cx="5394960" cy="347472"/>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순매출 − 상품·결제·배송 변동비</a:t>
            </a:r>
          </a:p>
        </p:txBody>
      </p:sp>
      <p:sp>
        <p:nvSpPr>
          <p:cNvPr id="24" name="Rounded Rectangle 23"/>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측정 준비  |  마켓 방문과 Cafe24 주문의 연결을 확인한 뒤 구매 전환율을 보고합니다.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12  매출 시나리오</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매출 목표를</a:t>
            </a:r>
          </a:p>
          <a:p>
            <a:pPr>
              <a:spcAft>
                <a:spcPts val="900"/>
              </a:spcAft>
              <a:defRPr sz="3100" b="1">
                <a:solidFill>
                  <a:srgbClr val="111936"/>
                </a:solidFill>
                <a:latin typeface="Noto Sans KR"/>
              </a:defRPr>
            </a:pPr>
            <a:r>
              <a:t>필요한 방문과 구매로 풀어봅니다.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설명용 월 시나리오: 순방문자 × 구매자 비율 × 구매자당 주문 수 × 주문당 순매출</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모든 숫자는 검증용 가정 · 기업 확정 목표·현재 실적·성과 예측과 구분</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12</a:t>
            </a:r>
          </a:p>
        </p:txBody>
      </p:sp>
      <p:sp>
        <p:nvSpPr>
          <p:cNvPr id="8" name="Rounded Rectangle 7"/>
          <p:cNvSpPr/>
          <p:nvPr/>
        </p:nvSpPr>
        <p:spPr>
          <a:xfrm>
            <a:off x="685800" y="2697480"/>
            <a:ext cx="3447288" cy="25603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898648"/>
            <a:ext cx="3017520" cy="365760"/>
          </a:xfrm>
          <a:prstGeom prst="rect">
            <a:avLst/>
          </a:prstGeom>
          <a:noFill/>
        </p:spPr>
        <p:txBody>
          <a:bodyPr wrap="square" lIns="0" rIns="0" tIns="0" bIns="0">
            <a:spAutoFit/>
          </a:bodyPr>
          <a:lstStyle/>
          <a:p>
            <a:pPr>
              <a:spcAft>
                <a:spcPts val="900"/>
              </a:spcAft>
              <a:defRPr sz="1700" b="1">
                <a:solidFill>
                  <a:srgbClr val="C29143"/>
                </a:solidFill>
                <a:latin typeface="Noto Sans KR"/>
              </a:defRPr>
            </a:pPr>
            <a:r>
              <a:t>탐색 시나리오</a:t>
            </a:r>
          </a:p>
        </p:txBody>
      </p:sp>
      <p:sp>
        <p:nvSpPr>
          <p:cNvPr id="10" name="TextBox 9"/>
          <p:cNvSpPr txBox="1"/>
          <p:nvPr/>
        </p:nvSpPr>
        <p:spPr>
          <a:xfrm>
            <a:off x="886968" y="3474720"/>
            <a:ext cx="3017520" cy="594360"/>
          </a:xfrm>
          <a:prstGeom prst="rect">
            <a:avLst/>
          </a:prstGeom>
          <a:noFill/>
        </p:spPr>
        <p:txBody>
          <a:bodyPr wrap="square" lIns="0" rIns="0" tIns="0" bIns="0">
            <a:spAutoFit/>
          </a:bodyPr>
          <a:lstStyle/>
          <a:p>
            <a:pPr>
              <a:spcAft>
                <a:spcPts val="900"/>
              </a:spcAft>
              <a:defRPr sz="3200" b="1">
                <a:solidFill>
                  <a:srgbClr val="176857"/>
                </a:solidFill>
                <a:latin typeface="Noto Sans KR"/>
              </a:defRPr>
            </a:pPr>
            <a:r>
              <a:t>240만원</a:t>
            </a:r>
          </a:p>
        </p:txBody>
      </p:sp>
      <p:sp>
        <p:nvSpPr>
          <p:cNvPr id="11" name="TextBox 10"/>
          <p:cNvSpPr txBox="1"/>
          <p:nvPr/>
        </p:nvSpPr>
        <p:spPr>
          <a:xfrm>
            <a:off x="886968" y="4325112"/>
            <a:ext cx="3017520" cy="822960"/>
          </a:xfrm>
          <a:prstGeom prst="rect">
            <a:avLst/>
          </a:prstGeom>
          <a:noFill/>
        </p:spPr>
        <p:txBody>
          <a:bodyPr wrap="square" lIns="0" rIns="0" tIns="0" bIns="0">
            <a:spAutoFit/>
          </a:bodyPr>
          <a:lstStyle/>
          <a:p>
            <a:pPr>
              <a:spcAft>
                <a:spcPts val="900"/>
              </a:spcAft>
              <a:defRPr sz="1800" b="0">
                <a:solidFill>
                  <a:srgbClr val="687080"/>
                </a:solidFill>
                <a:latin typeface="Noto Sans KR"/>
              </a:defRPr>
            </a:pPr>
            <a:r>
              <a:t>5,000명 × 2%</a:t>
            </a:r>
          </a:p>
          <a:p>
            <a:pPr>
              <a:spcAft>
                <a:spcPts val="900"/>
              </a:spcAft>
              <a:defRPr sz="1800" b="0">
                <a:solidFill>
                  <a:srgbClr val="687080"/>
                </a:solidFill>
                <a:latin typeface="Noto Sans KR"/>
              </a:defRPr>
            </a:pPr>
            <a:r>
              <a:t>1.0회 × 24,000원</a:t>
            </a:r>
          </a:p>
        </p:txBody>
      </p:sp>
      <p:sp>
        <p:nvSpPr>
          <p:cNvPr id="12" name="Rounded Rectangle 11"/>
          <p:cNvSpPr/>
          <p:nvPr/>
        </p:nvSpPr>
        <p:spPr>
          <a:xfrm>
            <a:off x="4370832" y="2697480"/>
            <a:ext cx="3447288" cy="2560320"/>
          </a:xfrm>
          <a:prstGeom prst="roundRect">
            <a:avLst>
              <a:gd name="adj" fmla="val 12000"/>
            </a:avLst>
          </a:prstGeom>
          <a:solidFill>
            <a:srgbClr val="111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898648"/>
            <a:ext cx="3017520" cy="365760"/>
          </a:xfrm>
          <a:prstGeom prst="rect">
            <a:avLst/>
          </a:prstGeom>
          <a:noFill/>
        </p:spPr>
        <p:txBody>
          <a:bodyPr wrap="square" lIns="0" rIns="0" tIns="0" bIns="0">
            <a:spAutoFit/>
          </a:bodyPr>
          <a:lstStyle/>
          <a:p>
            <a:pPr>
              <a:spcAft>
                <a:spcPts val="900"/>
              </a:spcAft>
              <a:defRPr sz="1700" b="1">
                <a:solidFill>
                  <a:srgbClr val="C29143"/>
                </a:solidFill>
                <a:latin typeface="Noto Sans KR"/>
              </a:defRPr>
            </a:pPr>
            <a:r>
              <a:t>기준 시나리오</a:t>
            </a:r>
          </a:p>
        </p:txBody>
      </p:sp>
      <p:sp>
        <p:nvSpPr>
          <p:cNvPr id="14" name="TextBox 13"/>
          <p:cNvSpPr txBox="1"/>
          <p:nvPr/>
        </p:nvSpPr>
        <p:spPr>
          <a:xfrm>
            <a:off x="4572000" y="3474720"/>
            <a:ext cx="3017520" cy="594360"/>
          </a:xfrm>
          <a:prstGeom prst="rect">
            <a:avLst/>
          </a:prstGeom>
          <a:noFill/>
        </p:spPr>
        <p:txBody>
          <a:bodyPr wrap="square" lIns="0" rIns="0" tIns="0" bIns="0">
            <a:spAutoFit/>
          </a:bodyPr>
          <a:lstStyle/>
          <a:p>
            <a:pPr>
              <a:spcAft>
                <a:spcPts val="900"/>
              </a:spcAft>
              <a:defRPr sz="3200" b="1">
                <a:solidFill>
                  <a:srgbClr val="FFFFFF"/>
                </a:solidFill>
                <a:latin typeface="Noto Sans KR"/>
              </a:defRPr>
            </a:pPr>
            <a:r>
              <a:t>792만원</a:t>
            </a:r>
          </a:p>
        </p:txBody>
      </p:sp>
      <p:sp>
        <p:nvSpPr>
          <p:cNvPr id="15" name="TextBox 14"/>
          <p:cNvSpPr txBox="1"/>
          <p:nvPr/>
        </p:nvSpPr>
        <p:spPr>
          <a:xfrm>
            <a:off x="4572000" y="4325112"/>
            <a:ext cx="3017520" cy="822960"/>
          </a:xfrm>
          <a:prstGeom prst="rect">
            <a:avLst/>
          </a:prstGeom>
          <a:noFill/>
        </p:spPr>
        <p:txBody>
          <a:bodyPr wrap="square" lIns="0" rIns="0" tIns="0" bIns="0">
            <a:spAutoFit/>
          </a:bodyPr>
          <a:lstStyle/>
          <a:p>
            <a:pPr>
              <a:spcAft>
                <a:spcPts val="900"/>
              </a:spcAft>
              <a:defRPr sz="1800" b="0">
                <a:solidFill>
                  <a:srgbClr val="FFFFFF"/>
                </a:solidFill>
                <a:latin typeface="Noto Sans KR"/>
              </a:defRPr>
            </a:pPr>
            <a:r>
              <a:t>10,000명 × 3%</a:t>
            </a:r>
          </a:p>
          <a:p>
            <a:pPr>
              <a:spcAft>
                <a:spcPts val="900"/>
              </a:spcAft>
              <a:defRPr sz="1800" b="0">
                <a:solidFill>
                  <a:srgbClr val="FFFFFF"/>
                </a:solidFill>
                <a:latin typeface="Noto Sans KR"/>
              </a:defRPr>
            </a:pPr>
            <a:r>
              <a:t>1.1회 × 24,000원</a:t>
            </a:r>
          </a:p>
        </p:txBody>
      </p:sp>
      <p:sp>
        <p:nvSpPr>
          <p:cNvPr id="16" name="Rounded Rectangle 15"/>
          <p:cNvSpPr/>
          <p:nvPr/>
        </p:nvSpPr>
        <p:spPr>
          <a:xfrm>
            <a:off x="8055864" y="2697480"/>
            <a:ext cx="3447288" cy="25603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2" y="2898648"/>
            <a:ext cx="3017520" cy="365760"/>
          </a:xfrm>
          <a:prstGeom prst="rect">
            <a:avLst/>
          </a:prstGeom>
          <a:noFill/>
        </p:spPr>
        <p:txBody>
          <a:bodyPr wrap="square" lIns="0" rIns="0" tIns="0" bIns="0">
            <a:spAutoFit/>
          </a:bodyPr>
          <a:lstStyle/>
          <a:p>
            <a:pPr>
              <a:spcAft>
                <a:spcPts val="900"/>
              </a:spcAft>
              <a:defRPr sz="1700" b="1">
                <a:solidFill>
                  <a:srgbClr val="C29143"/>
                </a:solidFill>
                <a:latin typeface="Noto Sans KR"/>
              </a:defRPr>
            </a:pPr>
            <a:r>
              <a:t>확장 시나리오</a:t>
            </a:r>
          </a:p>
        </p:txBody>
      </p:sp>
      <p:sp>
        <p:nvSpPr>
          <p:cNvPr id="18" name="TextBox 17"/>
          <p:cNvSpPr txBox="1"/>
          <p:nvPr/>
        </p:nvSpPr>
        <p:spPr>
          <a:xfrm>
            <a:off x="8257032" y="3474720"/>
            <a:ext cx="3017520" cy="594360"/>
          </a:xfrm>
          <a:prstGeom prst="rect">
            <a:avLst/>
          </a:prstGeom>
          <a:noFill/>
        </p:spPr>
        <p:txBody>
          <a:bodyPr wrap="square" lIns="0" rIns="0" tIns="0" bIns="0">
            <a:spAutoFit/>
          </a:bodyPr>
          <a:lstStyle/>
          <a:p>
            <a:pPr>
              <a:spcAft>
                <a:spcPts val="900"/>
              </a:spcAft>
              <a:defRPr sz="3200" b="1">
                <a:solidFill>
                  <a:srgbClr val="176857"/>
                </a:solidFill>
                <a:latin typeface="Noto Sans KR"/>
              </a:defRPr>
            </a:pPr>
            <a:r>
              <a:t>2,496만원</a:t>
            </a:r>
          </a:p>
        </p:txBody>
      </p:sp>
      <p:sp>
        <p:nvSpPr>
          <p:cNvPr id="19" name="TextBox 18"/>
          <p:cNvSpPr txBox="1"/>
          <p:nvPr/>
        </p:nvSpPr>
        <p:spPr>
          <a:xfrm>
            <a:off x="8257032" y="4325112"/>
            <a:ext cx="3017520" cy="822960"/>
          </a:xfrm>
          <a:prstGeom prst="rect">
            <a:avLst/>
          </a:prstGeom>
          <a:noFill/>
        </p:spPr>
        <p:txBody>
          <a:bodyPr wrap="square" lIns="0" rIns="0" tIns="0" bIns="0">
            <a:spAutoFit/>
          </a:bodyPr>
          <a:lstStyle/>
          <a:p>
            <a:pPr>
              <a:spcAft>
                <a:spcPts val="900"/>
              </a:spcAft>
              <a:defRPr sz="1800" b="0">
                <a:solidFill>
                  <a:srgbClr val="687080"/>
                </a:solidFill>
                <a:latin typeface="Noto Sans KR"/>
              </a:defRPr>
            </a:pPr>
            <a:r>
              <a:t>20,000명 × 4%</a:t>
            </a:r>
          </a:p>
          <a:p>
            <a:pPr>
              <a:spcAft>
                <a:spcPts val="900"/>
              </a:spcAft>
              <a:defRPr sz="1800" b="0">
                <a:solidFill>
                  <a:srgbClr val="687080"/>
                </a:solidFill>
                <a:latin typeface="Noto Sans KR"/>
              </a:defRPr>
            </a:pPr>
            <a:r>
              <a:t>1.2회 × 26,000원</a:t>
            </a:r>
          </a:p>
        </p:txBody>
      </p:sp>
      <p:sp>
        <p:nvSpPr>
          <p:cNvPr id="20" name="Rounded Rectangle 19"/>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기준 시나리오: 월 330건 주문  |  조달할 유입 예산과 주문당 수익을 함께 확인합니다.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13  매출 목표의 시장 근거</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시장 기회와 실행 목표를</a:t>
            </a:r>
          </a:p>
          <a:p>
            <a:pPr>
              <a:spcAft>
                <a:spcPts val="900"/>
              </a:spcAft>
              <a:defRPr sz="3100" b="1">
                <a:solidFill>
                  <a:srgbClr val="111936"/>
                </a:solidFill>
                <a:latin typeface="Noto Sans KR"/>
              </a:defRPr>
            </a:pPr>
            <a:r>
              <a:t>같은 고객 범위로 연결합니다.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TAM·SAM·SOM은 목표의 시장 범위를 설명합니다. KPI는 실행 성과를 측정합니다.</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시장 경계 제안 · 시장규모 금액은 출처와 제품 분류 확정 후 산정</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13</a:t>
            </a:r>
          </a:p>
        </p:txBody>
      </p:sp>
      <p:sp>
        <p:nvSpPr>
          <p:cNvPr id="8" name="Rounded Rectangle 7"/>
          <p:cNvSpPr/>
          <p:nvPr/>
        </p:nvSpPr>
        <p:spPr>
          <a:xfrm>
            <a:off x="685800" y="2606040"/>
            <a:ext cx="10817352" cy="7863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788920"/>
            <a:ext cx="2468880" cy="457200"/>
          </a:xfrm>
          <a:prstGeom prst="rect">
            <a:avLst/>
          </a:prstGeom>
          <a:noFill/>
        </p:spPr>
        <p:txBody>
          <a:bodyPr wrap="square" lIns="0" rIns="0" tIns="0" bIns="0">
            <a:spAutoFit/>
          </a:bodyPr>
          <a:lstStyle/>
          <a:p>
            <a:pPr>
              <a:spcAft>
                <a:spcPts val="900"/>
              </a:spcAft>
              <a:defRPr sz="1800" b="1">
                <a:solidFill>
                  <a:srgbClr val="176857"/>
                </a:solidFill>
                <a:latin typeface="Noto Sans KR"/>
              </a:defRPr>
            </a:pPr>
            <a:r>
              <a:t>TAM  전체 기회</a:t>
            </a:r>
          </a:p>
        </p:txBody>
      </p:sp>
      <p:sp>
        <p:nvSpPr>
          <p:cNvPr id="10" name="TextBox 9"/>
          <p:cNvSpPr txBox="1"/>
          <p:nvPr/>
        </p:nvSpPr>
        <p:spPr>
          <a:xfrm>
            <a:off x="3520440" y="2788920"/>
            <a:ext cx="4754880" cy="457200"/>
          </a:xfrm>
          <a:prstGeom prst="rect">
            <a:avLst/>
          </a:prstGeom>
          <a:noFill/>
        </p:spPr>
        <p:txBody>
          <a:bodyPr wrap="square" lIns="0" rIns="0" tIns="0" bIns="0">
            <a:spAutoFit/>
          </a:bodyPr>
          <a:lstStyle/>
          <a:p>
            <a:pPr>
              <a:spcAft>
                <a:spcPts val="900"/>
              </a:spcAft>
              <a:defRPr sz="1800" b="0">
                <a:solidFill>
                  <a:srgbClr val="111936"/>
                </a:solidFill>
                <a:latin typeface="Noto Sans KR"/>
              </a:defRPr>
            </a:pPr>
            <a:r>
              <a:t>국내 온라인 베이커리 구매 시장</a:t>
            </a:r>
          </a:p>
        </p:txBody>
      </p:sp>
      <p:sp>
        <p:nvSpPr>
          <p:cNvPr id="11" name="TextBox 10"/>
          <p:cNvSpPr txBox="1"/>
          <p:nvPr/>
        </p:nvSpPr>
        <p:spPr>
          <a:xfrm>
            <a:off x="8412480" y="2788920"/>
            <a:ext cx="2834640" cy="457200"/>
          </a:xfrm>
          <a:prstGeom prst="rect">
            <a:avLst/>
          </a:prstGeom>
          <a:noFill/>
        </p:spPr>
        <p:txBody>
          <a:bodyPr wrap="square" lIns="0" rIns="0" tIns="0" bIns="0">
            <a:spAutoFit/>
          </a:bodyPr>
          <a:lstStyle/>
          <a:p>
            <a:pPr>
              <a:spcAft>
                <a:spcPts val="900"/>
              </a:spcAft>
              <a:defRPr sz="1300" b="0">
                <a:solidFill>
                  <a:srgbClr val="687080"/>
                </a:solidFill>
                <a:latin typeface="Noto Sans KR"/>
              </a:defRPr>
            </a:pPr>
            <a:r>
              <a:t>기간·품목·매출 기준을 통일</a:t>
            </a:r>
          </a:p>
        </p:txBody>
      </p:sp>
      <p:sp>
        <p:nvSpPr>
          <p:cNvPr id="12" name="Rounded Rectangle 11"/>
          <p:cNvSpPr/>
          <p:nvPr/>
        </p:nvSpPr>
        <p:spPr>
          <a:xfrm>
            <a:off x="685800" y="3520440"/>
            <a:ext cx="10817352" cy="7863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3703320"/>
            <a:ext cx="2468880" cy="457200"/>
          </a:xfrm>
          <a:prstGeom prst="rect">
            <a:avLst/>
          </a:prstGeom>
          <a:noFill/>
        </p:spPr>
        <p:txBody>
          <a:bodyPr wrap="square" lIns="0" rIns="0" tIns="0" bIns="0">
            <a:spAutoFit/>
          </a:bodyPr>
          <a:lstStyle/>
          <a:p>
            <a:pPr>
              <a:spcAft>
                <a:spcPts val="900"/>
              </a:spcAft>
              <a:defRPr sz="1800" b="1">
                <a:solidFill>
                  <a:srgbClr val="176857"/>
                </a:solidFill>
                <a:latin typeface="Noto Sans KR"/>
              </a:defRPr>
            </a:pPr>
            <a:r>
              <a:t>SAM  판매 가능 범위</a:t>
            </a:r>
          </a:p>
        </p:txBody>
      </p:sp>
      <p:sp>
        <p:nvSpPr>
          <p:cNvPr id="14" name="TextBox 13"/>
          <p:cNvSpPr txBox="1"/>
          <p:nvPr/>
        </p:nvSpPr>
        <p:spPr>
          <a:xfrm>
            <a:off x="3520440" y="3703320"/>
            <a:ext cx="4754880" cy="457200"/>
          </a:xfrm>
          <a:prstGeom prst="rect">
            <a:avLst/>
          </a:prstGeom>
          <a:noFill/>
        </p:spPr>
        <p:txBody>
          <a:bodyPr wrap="square" lIns="0" rIns="0" tIns="0" bIns="0">
            <a:spAutoFit/>
          </a:bodyPr>
          <a:lstStyle/>
          <a:p>
            <a:pPr>
              <a:spcAft>
                <a:spcPts val="900"/>
              </a:spcAft>
              <a:defRPr sz="1800" b="0">
                <a:solidFill>
                  <a:srgbClr val="111936"/>
                </a:solidFill>
                <a:latin typeface="Noto Sans KR"/>
              </a:defRPr>
            </a:pPr>
            <a:r>
              <a:t>막지 제품·가격·배송 조건에 맞는 수요</a:t>
            </a:r>
          </a:p>
        </p:txBody>
      </p:sp>
      <p:sp>
        <p:nvSpPr>
          <p:cNvPr id="15" name="TextBox 14"/>
          <p:cNvSpPr txBox="1"/>
          <p:nvPr/>
        </p:nvSpPr>
        <p:spPr>
          <a:xfrm>
            <a:off x="8412480" y="3703320"/>
            <a:ext cx="2834640" cy="457200"/>
          </a:xfrm>
          <a:prstGeom prst="rect">
            <a:avLst/>
          </a:prstGeom>
          <a:noFill/>
        </p:spPr>
        <p:txBody>
          <a:bodyPr wrap="square" lIns="0" rIns="0" tIns="0" bIns="0">
            <a:spAutoFit/>
          </a:bodyPr>
          <a:lstStyle/>
          <a:p>
            <a:pPr>
              <a:spcAft>
                <a:spcPts val="900"/>
              </a:spcAft>
              <a:defRPr sz="1300" b="0">
                <a:solidFill>
                  <a:srgbClr val="687080"/>
                </a:solidFill>
                <a:latin typeface="Noto Sans KR"/>
              </a:defRPr>
            </a:pPr>
            <a:r>
              <a:t>제품 적합성·고객층·채널을 반영</a:t>
            </a:r>
          </a:p>
        </p:txBody>
      </p:sp>
      <p:sp>
        <p:nvSpPr>
          <p:cNvPr id="16" name="Rounded Rectangle 15"/>
          <p:cNvSpPr/>
          <p:nvPr/>
        </p:nvSpPr>
        <p:spPr>
          <a:xfrm>
            <a:off x="685800" y="4434840"/>
            <a:ext cx="10817352" cy="7863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4617720"/>
            <a:ext cx="2468880" cy="457200"/>
          </a:xfrm>
          <a:prstGeom prst="rect">
            <a:avLst/>
          </a:prstGeom>
          <a:noFill/>
        </p:spPr>
        <p:txBody>
          <a:bodyPr wrap="square" lIns="0" rIns="0" tIns="0" bIns="0">
            <a:spAutoFit/>
          </a:bodyPr>
          <a:lstStyle/>
          <a:p>
            <a:pPr>
              <a:spcAft>
                <a:spcPts val="900"/>
              </a:spcAft>
              <a:defRPr sz="1800" b="1">
                <a:solidFill>
                  <a:srgbClr val="176857"/>
                </a:solidFill>
                <a:latin typeface="Noto Sans KR"/>
              </a:defRPr>
            </a:pPr>
            <a:r>
              <a:t>SOM  확보 목표</a:t>
            </a:r>
          </a:p>
        </p:txBody>
      </p:sp>
      <p:sp>
        <p:nvSpPr>
          <p:cNvPr id="18" name="TextBox 17"/>
          <p:cNvSpPr txBox="1"/>
          <p:nvPr/>
        </p:nvSpPr>
        <p:spPr>
          <a:xfrm>
            <a:off x="3520440" y="4617720"/>
            <a:ext cx="4754880" cy="457200"/>
          </a:xfrm>
          <a:prstGeom prst="rect">
            <a:avLst/>
          </a:prstGeom>
          <a:noFill/>
        </p:spPr>
        <p:txBody>
          <a:bodyPr wrap="square" lIns="0" rIns="0" tIns="0" bIns="0">
            <a:spAutoFit/>
          </a:bodyPr>
          <a:lstStyle/>
          <a:p>
            <a:pPr>
              <a:spcAft>
                <a:spcPts val="900"/>
              </a:spcAft>
              <a:defRPr sz="1800" b="0">
                <a:solidFill>
                  <a:srgbClr val="111936"/>
                </a:solidFill>
                <a:latin typeface="Noto Sans KR"/>
              </a:defRPr>
            </a:pPr>
            <a:r>
              <a:t>예산과 공급 능력으로 확보할 12개월 매출</a:t>
            </a:r>
          </a:p>
        </p:txBody>
      </p:sp>
      <p:sp>
        <p:nvSpPr>
          <p:cNvPr id="19" name="TextBox 18"/>
          <p:cNvSpPr txBox="1"/>
          <p:nvPr/>
        </p:nvSpPr>
        <p:spPr>
          <a:xfrm>
            <a:off x="8412480" y="4617720"/>
            <a:ext cx="2834640" cy="457200"/>
          </a:xfrm>
          <a:prstGeom prst="rect">
            <a:avLst/>
          </a:prstGeom>
          <a:noFill/>
        </p:spPr>
        <p:txBody>
          <a:bodyPr wrap="square" lIns="0" rIns="0" tIns="0" bIns="0">
            <a:spAutoFit/>
          </a:bodyPr>
          <a:lstStyle/>
          <a:p>
            <a:pPr>
              <a:spcAft>
                <a:spcPts val="900"/>
              </a:spcAft>
              <a:defRPr sz="1300" b="0">
                <a:solidFill>
                  <a:srgbClr val="687080"/>
                </a:solidFill>
                <a:latin typeface="Noto Sans KR"/>
              </a:defRPr>
            </a:pPr>
            <a:r>
              <a:t>월별 방문·구매·객단가 시나리오 합산</a:t>
            </a:r>
          </a:p>
        </p:txBody>
      </p:sp>
      <p:sp>
        <p:nvSpPr>
          <p:cNvPr id="20" name="Rounded Rectangle 19"/>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대표와 확정할 값  |  목표 매출·집행 예산·판매 상품·공급 가능 주문 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14  6주 실행 계획</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6주 동안 고객 반응과</a:t>
            </a:r>
          </a:p>
          <a:p>
            <a:pPr>
              <a:spcAft>
                <a:spcPts val="900"/>
              </a:spcAft>
              <a:defRPr sz="3100" b="1">
                <a:solidFill>
                  <a:srgbClr val="111936"/>
                </a:solidFill>
                <a:latin typeface="Noto Sans KR"/>
              </a:defRPr>
            </a:pPr>
            <a:r>
              <a:t>주문 수익을 함께 확인합니다.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최종 발표 이후 실사용 베타 제안 · RFP의 4주 개발 일정과 구분</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근거: SWEETNSWITZ | MAKJI RFP (2026.09), pp. 4–7 · 일정·예산은 실행 제안</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14</a:t>
            </a:r>
          </a:p>
        </p:txBody>
      </p:sp>
      <p:sp>
        <p:nvSpPr>
          <p:cNvPr id="8" name="Rounded Rectangle 7"/>
          <p:cNvSpPr/>
          <p:nvPr/>
        </p:nvSpPr>
        <p:spPr>
          <a:xfrm>
            <a:off x="685800"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01</a:t>
            </a:r>
          </a:p>
        </p:txBody>
      </p:sp>
      <p:sp>
        <p:nvSpPr>
          <p:cNvPr id="10" name="TextBox 9"/>
          <p:cNvSpPr txBox="1"/>
          <p:nvPr/>
        </p:nvSpPr>
        <p:spPr>
          <a:xfrm>
            <a:off x="850392"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1주  준비</a:t>
            </a:r>
          </a:p>
        </p:txBody>
      </p:sp>
      <p:sp>
        <p:nvSpPr>
          <p:cNvPr id="11" name="TextBox 10"/>
          <p:cNvSpPr txBox="1"/>
          <p:nvPr/>
        </p:nvSpPr>
        <p:spPr>
          <a:xfrm>
            <a:off x="850392"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실몰·원가·측정 점검</a:t>
            </a:r>
          </a:p>
        </p:txBody>
      </p:sp>
      <p:sp>
        <p:nvSpPr>
          <p:cNvPr id="12" name="Rounded Rectangle 11"/>
          <p:cNvSpPr/>
          <p:nvPr/>
        </p:nvSpPr>
        <p:spPr>
          <a:xfrm>
            <a:off x="4367784"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2376"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02</a:t>
            </a:r>
          </a:p>
        </p:txBody>
      </p:sp>
      <p:sp>
        <p:nvSpPr>
          <p:cNvPr id="14" name="TextBox 13"/>
          <p:cNvSpPr txBox="1"/>
          <p:nvPr/>
        </p:nvSpPr>
        <p:spPr>
          <a:xfrm>
            <a:off x="4532376"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2~5주  운영</a:t>
            </a:r>
          </a:p>
        </p:txBody>
      </p:sp>
      <p:sp>
        <p:nvSpPr>
          <p:cNvPr id="15" name="TextBox 14"/>
          <p:cNvSpPr txBox="1"/>
          <p:nvPr/>
        </p:nvSpPr>
        <p:spPr>
          <a:xfrm>
            <a:off x="4532376"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유입 소재·참여·주문 관찰</a:t>
            </a:r>
          </a:p>
        </p:txBody>
      </p:sp>
      <p:sp>
        <p:nvSpPr>
          <p:cNvPr id="16" name="Rounded Rectangle 15"/>
          <p:cNvSpPr/>
          <p:nvPr/>
        </p:nvSpPr>
        <p:spPr>
          <a:xfrm>
            <a:off x="8049768"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4360"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03</a:t>
            </a:r>
          </a:p>
        </p:txBody>
      </p:sp>
      <p:sp>
        <p:nvSpPr>
          <p:cNvPr id="18" name="TextBox 17"/>
          <p:cNvSpPr txBox="1"/>
          <p:nvPr/>
        </p:nvSpPr>
        <p:spPr>
          <a:xfrm>
            <a:off x="8214360"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6주  판단</a:t>
            </a:r>
          </a:p>
        </p:txBody>
      </p:sp>
      <p:sp>
        <p:nvSpPr>
          <p:cNvPr id="19" name="TextBox 18"/>
          <p:cNvSpPr txBox="1"/>
          <p:nvPr/>
        </p:nvSpPr>
        <p:spPr>
          <a:xfrm>
            <a:off x="8214360"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수익·재방문으로 확대 결정</a:t>
            </a:r>
          </a:p>
        </p:txBody>
      </p:sp>
      <p:sp>
        <p:nvSpPr>
          <p:cNvPr id="20" name="Rounded Rectangle 19"/>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비교 설계  |  동일 채널 유입을 서비스 경험군·기존몰 경험군에 무작위 배정하는 방안 검토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936"/>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15  의사결정 요청</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FFFFFF"/>
                </a:solidFill>
                <a:latin typeface="Noto Sans KR"/>
              </a:defRPr>
            </a:pPr>
            <a:r>
              <a:t>막지의 첫 방문을</a:t>
            </a:r>
          </a:p>
          <a:p>
            <a:pPr>
              <a:spcAft>
                <a:spcPts val="900"/>
              </a:spcAft>
              <a:defRPr sz="3100" b="1">
                <a:solidFill>
                  <a:srgbClr val="FFFFFF"/>
                </a:solidFill>
                <a:latin typeface="Noto Sans KR"/>
              </a:defRPr>
            </a:pPr>
            <a:r>
              <a:t>다음 구매로 이어가겠습니다.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C7CDCE"/>
                </a:solidFill>
                <a:latin typeface="Noto Sans KR"/>
              </a:defRPr>
            </a:pPr>
            <a:r>
              <a:t>오늘 요청드리는 결정: 6주 실사용 베타의 범위와 담당자 지정</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B0B8C7"/>
                </a:solidFill>
                <a:latin typeface="Noto Sans KR"/>
              </a:defRPr>
            </a:pPr>
            <a:r>
              <a:t>근거: SWEETNSWITZ | MAKJI RFP (2026.09), pp. 4–7</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15</a:t>
            </a:r>
          </a:p>
        </p:txBody>
      </p:sp>
      <p:sp>
        <p:nvSpPr>
          <p:cNvPr id="8" name="TextBox 7"/>
          <p:cNvSpPr txBox="1"/>
          <p:nvPr/>
        </p:nvSpPr>
        <p:spPr>
          <a:xfrm>
            <a:off x="731520" y="3017520"/>
            <a:ext cx="3383280" cy="548640"/>
          </a:xfrm>
          <a:prstGeom prst="rect">
            <a:avLst/>
          </a:prstGeom>
          <a:noFill/>
        </p:spPr>
        <p:txBody>
          <a:bodyPr wrap="square" lIns="0" rIns="0" tIns="0" bIns="0">
            <a:spAutoFit/>
          </a:bodyPr>
          <a:lstStyle/>
          <a:p>
            <a:pPr>
              <a:spcAft>
                <a:spcPts val="900"/>
              </a:spcAft>
              <a:defRPr sz="2500" b="1">
                <a:solidFill>
                  <a:srgbClr val="FFFFFF"/>
                </a:solidFill>
                <a:latin typeface="Noto Sans KR"/>
              </a:defRPr>
            </a:pPr>
            <a:r>
              <a:t>판매 범위</a:t>
            </a:r>
          </a:p>
        </p:txBody>
      </p:sp>
      <p:sp>
        <p:nvSpPr>
          <p:cNvPr id="9" name="TextBox 8"/>
          <p:cNvSpPr txBox="1"/>
          <p:nvPr/>
        </p:nvSpPr>
        <p:spPr>
          <a:xfrm>
            <a:off x="731520" y="3840480"/>
            <a:ext cx="3200400" cy="1188720"/>
          </a:xfrm>
          <a:prstGeom prst="rect">
            <a:avLst/>
          </a:prstGeom>
          <a:noFill/>
        </p:spPr>
        <p:txBody>
          <a:bodyPr wrap="square" lIns="0" rIns="0" tIns="0" bIns="0">
            <a:spAutoFit/>
          </a:bodyPr>
          <a:lstStyle/>
          <a:p>
            <a:pPr>
              <a:spcAft>
                <a:spcPts val="900"/>
              </a:spcAft>
              <a:defRPr sz="2000" b="0">
                <a:solidFill>
                  <a:srgbClr val="CED6D8"/>
                </a:solidFill>
                <a:latin typeface="Noto Sans KR"/>
              </a:defRPr>
            </a:pPr>
            <a:r>
              <a:t>적용할 상품과 실몰 연동 범위</a:t>
            </a:r>
          </a:p>
        </p:txBody>
      </p:sp>
      <p:sp>
        <p:nvSpPr>
          <p:cNvPr id="10" name="TextBox 9"/>
          <p:cNvSpPr txBox="1"/>
          <p:nvPr/>
        </p:nvSpPr>
        <p:spPr>
          <a:xfrm>
            <a:off x="4389120" y="3017520"/>
            <a:ext cx="3383280" cy="548640"/>
          </a:xfrm>
          <a:prstGeom prst="rect">
            <a:avLst/>
          </a:prstGeom>
          <a:noFill/>
        </p:spPr>
        <p:txBody>
          <a:bodyPr wrap="square" lIns="0" rIns="0" tIns="0" bIns="0">
            <a:spAutoFit/>
          </a:bodyPr>
          <a:lstStyle/>
          <a:p>
            <a:pPr>
              <a:spcAft>
                <a:spcPts val="900"/>
              </a:spcAft>
              <a:defRPr sz="2500" b="1">
                <a:solidFill>
                  <a:srgbClr val="FFFFFF"/>
                </a:solidFill>
                <a:latin typeface="Noto Sans KR"/>
              </a:defRPr>
            </a:pPr>
            <a:r>
              <a:t>운영 예산</a:t>
            </a:r>
          </a:p>
        </p:txBody>
      </p:sp>
      <p:sp>
        <p:nvSpPr>
          <p:cNvPr id="11" name="TextBox 10"/>
          <p:cNvSpPr txBox="1"/>
          <p:nvPr/>
        </p:nvSpPr>
        <p:spPr>
          <a:xfrm>
            <a:off x="4389120" y="3840480"/>
            <a:ext cx="3200400" cy="1188720"/>
          </a:xfrm>
          <a:prstGeom prst="rect">
            <a:avLst/>
          </a:prstGeom>
          <a:noFill/>
        </p:spPr>
        <p:txBody>
          <a:bodyPr wrap="square" lIns="0" rIns="0" tIns="0" bIns="0">
            <a:spAutoFit/>
          </a:bodyPr>
          <a:lstStyle/>
          <a:p>
            <a:pPr>
              <a:spcAft>
                <a:spcPts val="900"/>
              </a:spcAft>
              <a:defRPr sz="2000" b="0">
                <a:solidFill>
                  <a:srgbClr val="CED6D8"/>
                </a:solidFill>
                <a:latin typeface="Noto Sans KR"/>
              </a:defRPr>
            </a:pPr>
            <a:r>
              <a:t>유입 광고·혜택·운영비 한도</a:t>
            </a:r>
          </a:p>
        </p:txBody>
      </p:sp>
      <p:sp>
        <p:nvSpPr>
          <p:cNvPr id="12" name="TextBox 11"/>
          <p:cNvSpPr txBox="1"/>
          <p:nvPr/>
        </p:nvSpPr>
        <p:spPr>
          <a:xfrm>
            <a:off x="8046720" y="3017520"/>
            <a:ext cx="3383280" cy="548640"/>
          </a:xfrm>
          <a:prstGeom prst="rect">
            <a:avLst/>
          </a:prstGeom>
          <a:noFill/>
        </p:spPr>
        <p:txBody>
          <a:bodyPr wrap="square" lIns="0" rIns="0" tIns="0" bIns="0">
            <a:spAutoFit/>
          </a:bodyPr>
          <a:lstStyle/>
          <a:p>
            <a:pPr>
              <a:spcAft>
                <a:spcPts val="900"/>
              </a:spcAft>
              <a:defRPr sz="2500" b="1">
                <a:solidFill>
                  <a:srgbClr val="FFFFFF"/>
                </a:solidFill>
                <a:latin typeface="Noto Sans KR"/>
              </a:defRPr>
            </a:pPr>
            <a:r>
              <a:t>판단 기준</a:t>
            </a:r>
          </a:p>
        </p:txBody>
      </p:sp>
      <p:sp>
        <p:nvSpPr>
          <p:cNvPr id="13" name="TextBox 12"/>
          <p:cNvSpPr txBox="1"/>
          <p:nvPr/>
        </p:nvSpPr>
        <p:spPr>
          <a:xfrm>
            <a:off x="8046720" y="3840480"/>
            <a:ext cx="3200400" cy="1188720"/>
          </a:xfrm>
          <a:prstGeom prst="rect">
            <a:avLst/>
          </a:prstGeom>
          <a:noFill/>
        </p:spPr>
        <p:txBody>
          <a:bodyPr wrap="square" lIns="0" rIns="0" tIns="0" bIns="0">
            <a:spAutoFit/>
          </a:bodyPr>
          <a:lstStyle/>
          <a:p>
            <a:pPr>
              <a:spcAft>
                <a:spcPts val="900"/>
              </a:spcAft>
              <a:defRPr sz="2000" b="0">
                <a:solidFill>
                  <a:srgbClr val="CED6D8"/>
                </a:solidFill>
                <a:latin typeface="Noto Sans KR"/>
              </a:defRPr>
            </a:pPr>
            <a:r>
              <a:t>목표 매출·재방문·남는 수익</a:t>
            </a:r>
          </a:p>
        </p:txBody>
      </p:sp>
      <p:sp>
        <p:nvSpPr>
          <p:cNvPr id="14" name="TextBox 13"/>
          <p:cNvSpPr txBox="1"/>
          <p:nvPr/>
        </p:nvSpPr>
        <p:spPr>
          <a:xfrm>
            <a:off x="731520" y="5532120"/>
            <a:ext cx="10698480" cy="640080"/>
          </a:xfrm>
          <a:prstGeom prst="rect">
            <a:avLst/>
          </a:prstGeom>
          <a:noFill/>
        </p:spPr>
        <p:txBody>
          <a:bodyPr wrap="square" lIns="0" rIns="0" tIns="0" bIns="0">
            <a:spAutoFit/>
          </a:bodyPr>
          <a:lstStyle/>
          <a:p>
            <a:pPr>
              <a:spcAft>
                <a:spcPts val="900"/>
              </a:spcAft>
              <a:defRPr sz="2100" b="1">
                <a:solidFill>
                  <a:srgbClr val="C29143"/>
                </a:solidFill>
                <a:latin typeface="Noto Sans KR"/>
              </a:defRPr>
            </a:pPr>
            <a:r>
              <a:t>6주 후, 고객이 돌아오고 주문이 남는 근거로 다음 확장을 결정합니다.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APPENDIX A  요구사항 대응</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RFP의 요청을</a:t>
            </a:r>
          </a:p>
          <a:p>
            <a:pPr>
              <a:spcAft>
                <a:spcPts val="900"/>
              </a:spcAft>
              <a:defRPr sz="3100" b="1">
                <a:solidFill>
                  <a:srgbClr val="111936"/>
                </a:solidFill>
                <a:latin typeface="Noto Sans KR"/>
              </a:defRPr>
            </a:pPr>
            <a:r>
              <a:t>현재 구현과 후속 검증으로 연결했습니다.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기업이 승인한 상품 콘텐츠를 사용하고, 실몰 적용은 별도 점검합니다.</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근거: SWEETNSWITZ | MAKJI RFP (2026.09), pp. 4–7 · 코드 3571a21</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16</a:t>
            </a:r>
          </a:p>
        </p:txBody>
      </p:sp>
      <p:sp>
        <p:nvSpPr>
          <p:cNvPr id="8" name="Rounded Rectangle 7"/>
          <p:cNvSpPr/>
          <p:nvPr/>
        </p:nvSpPr>
        <p:spPr>
          <a:xfrm>
            <a:off x="685800" y="2606040"/>
            <a:ext cx="10817352" cy="6583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752344"/>
            <a:ext cx="2011680" cy="411480"/>
          </a:xfrm>
          <a:prstGeom prst="rect">
            <a:avLst/>
          </a:prstGeom>
          <a:noFill/>
        </p:spPr>
        <p:txBody>
          <a:bodyPr wrap="square" lIns="0" rIns="0" tIns="0" bIns="0">
            <a:spAutoFit/>
          </a:bodyPr>
          <a:lstStyle/>
          <a:p>
            <a:pPr>
              <a:spcAft>
                <a:spcPts val="900"/>
              </a:spcAft>
              <a:defRPr sz="1800" b="1">
                <a:solidFill>
                  <a:srgbClr val="176857"/>
                </a:solidFill>
                <a:latin typeface="Noto Sans KR"/>
              </a:defRPr>
            </a:pPr>
            <a:r>
              <a:t>Bread Market</a:t>
            </a:r>
          </a:p>
        </p:txBody>
      </p:sp>
      <p:sp>
        <p:nvSpPr>
          <p:cNvPr id="10" name="TextBox 9"/>
          <p:cNvSpPr txBox="1"/>
          <p:nvPr/>
        </p:nvSpPr>
        <p:spPr>
          <a:xfrm>
            <a:off x="2971800" y="2752344"/>
            <a:ext cx="3931920" cy="411480"/>
          </a:xfrm>
          <a:prstGeom prst="rect">
            <a:avLst/>
          </a:prstGeom>
          <a:noFill/>
        </p:spPr>
        <p:txBody>
          <a:bodyPr wrap="square" lIns="0" rIns="0" tIns="0" bIns="0">
            <a:spAutoFit/>
          </a:bodyPr>
          <a:lstStyle/>
          <a:p>
            <a:pPr>
              <a:spcAft>
                <a:spcPts val="900"/>
              </a:spcAft>
              <a:defRPr sz="1600" b="0">
                <a:solidFill>
                  <a:srgbClr val="111936"/>
                </a:solidFill>
                <a:latin typeface="Noto Sans KR"/>
              </a:defRPr>
            </a:pPr>
            <a:r>
              <a:t>외부 데이터·가격·참여 화면 구현</a:t>
            </a:r>
          </a:p>
        </p:txBody>
      </p:sp>
      <p:sp>
        <p:nvSpPr>
          <p:cNvPr id="11" name="TextBox 10"/>
          <p:cNvSpPr txBox="1"/>
          <p:nvPr/>
        </p:nvSpPr>
        <p:spPr>
          <a:xfrm>
            <a:off x="7132320" y="2752344"/>
            <a:ext cx="4114800" cy="41148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실몰 가격·옵션·쿠폰 대조</a:t>
            </a:r>
          </a:p>
        </p:txBody>
      </p:sp>
      <p:sp>
        <p:nvSpPr>
          <p:cNvPr id="12" name="Rounded Rectangle 11"/>
          <p:cNvSpPr/>
          <p:nvPr/>
        </p:nvSpPr>
        <p:spPr>
          <a:xfrm>
            <a:off x="685800" y="3355848"/>
            <a:ext cx="10817352" cy="6583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3502152"/>
            <a:ext cx="2011680" cy="411480"/>
          </a:xfrm>
          <a:prstGeom prst="rect">
            <a:avLst/>
          </a:prstGeom>
          <a:noFill/>
        </p:spPr>
        <p:txBody>
          <a:bodyPr wrap="square" lIns="0" rIns="0" tIns="0" bIns="0">
            <a:spAutoFit/>
          </a:bodyPr>
          <a:lstStyle/>
          <a:p>
            <a:pPr>
              <a:spcAft>
                <a:spcPts val="900"/>
              </a:spcAft>
              <a:defRPr sz="1800" b="1">
                <a:solidFill>
                  <a:srgbClr val="176857"/>
                </a:solidFill>
                <a:latin typeface="Noto Sans KR"/>
              </a:defRPr>
            </a:pPr>
            <a:r>
              <a:t>Bakery ETF</a:t>
            </a:r>
          </a:p>
        </p:txBody>
      </p:sp>
      <p:sp>
        <p:nvSpPr>
          <p:cNvPr id="14" name="TextBox 13"/>
          <p:cNvSpPr txBox="1"/>
          <p:nvPr/>
        </p:nvSpPr>
        <p:spPr>
          <a:xfrm>
            <a:off x="2971800" y="3502152"/>
            <a:ext cx="3931920" cy="411480"/>
          </a:xfrm>
          <a:prstGeom prst="rect">
            <a:avLst/>
          </a:prstGeom>
          <a:noFill/>
        </p:spPr>
        <p:txBody>
          <a:bodyPr wrap="square" lIns="0" rIns="0" tIns="0" bIns="0">
            <a:spAutoFit/>
          </a:bodyPr>
          <a:lstStyle/>
          <a:p>
            <a:pPr>
              <a:spcAft>
                <a:spcPts val="900"/>
              </a:spcAft>
              <a:defRPr sz="1600" b="0">
                <a:solidFill>
                  <a:srgbClr val="111936"/>
                </a:solidFill>
                <a:latin typeface="Noto Sans KR"/>
              </a:defRPr>
            </a:pPr>
            <a:r>
              <a:t>개인화 추천: 후속 설계 범위</a:t>
            </a:r>
          </a:p>
        </p:txBody>
      </p:sp>
      <p:sp>
        <p:nvSpPr>
          <p:cNvPr id="15" name="TextBox 14"/>
          <p:cNvSpPr txBox="1"/>
          <p:nvPr/>
        </p:nvSpPr>
        <p:spPr>
          <a:xfrm>
            <a:off x="7132320" y="3502152"/>
            <a:ext cx="4114800" cy="41148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구매 이력·선호 데이터 축적</a:t>
            </a:r>
          </a:p>
        </p:txBody>
      </p:sp>
      <p:sp>
        <p:nvSpPr>
          <p:cNvPr id="16" name="Rounded Rectangle 15"/>
          <p:cNvSpPr/>
          <p:nvPr/>
        </p:nvSpPr>
        <p:spPr>
          <a:xfrm>
            <a:off x="685800" y="4105656"/>
            <a:ext cx="10817352" cy="6583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4251960"/>
            <a:ext cx="2011680" cy="411480"/>
          </a:xfrm>
          <a:prstGeom prst="rect">
            <a:avLst/>
          </a:prstGeom>
          <a:noFill/>
        </p:spPr>
        <p:txBody>
          <a:bodyPr wrap="square" lIns="0" rIns="0" tIns="0" bIns="0">
            <a:spAutoFit/>
          </a:bodyPr>
          <a:lstStyle/>
          <a:p>
            <a:pPr>
              <a:spcAft>
                <a:spcPts val="900"/>
              </a:spcAft>
              <a:defRPr sz="1800" b="1">
                <a:solidFill>
                  <a:srgbClr val="176857"/>
                </a:solidFill>
                <a:latin typeface="Noto Sans KR"/>
              </a:defRPr>
            </a:pPr>
            <a:r>
              <a:t>FX Bakery</a:t>
            </a:r>
          </a:p>
        </p:txBody>
      </p:sp>
      <p:sp>
        <p:nvSpPr>
          <p:cNvPr id="18" name="TextBox 17"/>
          <p:cNvSpPr txBox="1"/>
          <p:nvPr/>
        </p:nvSpPr>
        <p:spPr>
          <a:xfrm>
            <a:off x="2971800" y="4251960"/>
            <a:ext cx="3931920" cy="411480"/>
          </a:xfrm>
          <a:prstGeom prst="rect">
            <a:avLst/>
          </a:prstGeom>
          <a:noFill/>
        </p:spPr>
        <p:txBody>
          <a:bodyPr wrap="square" lIns="0" rIns="0" tIns="0" bIns="0">
            <a:spAutoFit/>
          </a:bodyPr>
          <a:lstStyle/>
          <a:p>
            <a:pPr>
              <a:spcAft>
                <a:spcPts val="900"/>
              </a:spcAft>
              <a:defRPr sz="1600" b="0">
                <a:solidFill>
                  <a:srgbClr val="111936"/>
                </a:solidFill>
                <a:latin typeface="Noto Sans KR"/>
              </a:defRPr>
            </a:pPr>
            <a:r>
              <a:t>원/달러 환율 반영 구현</a:t>
            </a:r>
          </a:p>
        </p:txBody>
      </p:sp>
      <p:sp>
        <p:nvSpPr>
          <p:cNvPr id="19" name="TextBox 18"/>
          <p:cNvSpPr txBox="1"/>
          <p:nvPr/>
        </p:nvSpPr>
        <p:spPr>
          <a:xfrm>
            <a:off x="7132320" y="4251960"/>
            <a:ext cx="4114800" cy="41148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국가별 원료·통화 시나리오 확장</a:t>
            </a:r>
          </a:p>
        </p:txBody>
      </p:sp>
      <p:sp>
        <p:nvSpPr>
          <p:cNvPr id="20" name="Rounded Rectangle 19"/>
          <p:cNvSpPr/>
          <p:nvPr/>
        </p:nvSpPr>
        <p:spPr>
          <a:xfrm>
            <a:off x="685800" y="4855464"/>
            <a:ext cx="10817352" cy="6583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5001768"/>
            <a:ext cx="2011680" cy="411480"/>
          </a:xfrm>
          <a:prstGeom prst="rect">
            <a:avLst/>
          </a:prstGeom>
          <a:noFill/>
        </p:spPr>
        <p:txBody>
          <a:bodyPr wrap="square" lIns="0" rIns="0" tIns="0" bIns="0">
            <a:spAutoFit/>
          </a:bodyPr>
          <a:lstStyle/>
          <a:p>
            <a:pPr>
              <a:spcAft>
                <a:spcPts val="900"/>
              </a:spcAft>
              <a:defRPr sz="1800" b="1">
                <a:solidFill>
                  <a:srgbClr val="176857"/>
                </a:solidFill>
                <a:latin typeface="Noto Sans KR"/>
              </a:defRPr>
            </a:pPr>
            <a:r>
              <a:t>Bread Index</a:t>
            </a:r>
          </a:p>
        </p:txBody>
      </p:sp>
      <p:sp>
        <p:nvSpPr>
          <p:cNvPr id="22" name="TextBox 21"/>
          <p:cNvSpPr txBox="1"/>
          <p:nvPr/>
        </p:nvSpPr>
        <p:spPr>
          <a:xfrm>
            <a:off x="2971800" y="5001768"/>
            <a:ext cx="3931920" cy="411480"/>
          </a:xfrm>
          <a:prstGeom prst="rect">
            <a:avLst/>
          </a:prstGeom>
          <a:noFill/>
        </p:spPr>
        <p:txBody>
          <a:bodyPr wrap="square" lIns="0" rIns="0" tIns="0" bIns="0">
            <a:spAutoFit/>
          </a:bodyPr>
          <a:lstStyle/>
          <a:p>
            <a:pPr>
              <a:spcAft>
                <a:spcPts val="900"/>
              </a:spcAft>
              <a:defRPr sz="1600" b="0">
                <a:solidFill>
                  <a:srgbClr val="111936"/>
                </a:solidFill>
                <a:latin typeface="Noto Sans KR"/>
              </a:defRPr>
            </a:pPr>
            <a:r>
              <a:t>현재 6종 가격 기반 지수 구현</a:t>
            </a:r>
          </a:p>
        </p:txBody>
      </p:sp>
      <p:sp>
        <p:nvSpPr>
          <p:cNvPr id="23" name="TextBox 22"/>
          <p:cNvSpPr txBox="1"/>
          <p:nvPr/>
        </p:nvSpPr>
        <p:spPr>
          <a:xfrm>
            <a:off x="7132320" y="5001768"/>
            <a:ext cx="4114800" cy="41148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매출·재구매·만족도 종합지수 설계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APPENDIX B  수익 계산</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주문이 늘 때</a:t>
            </a:r>
          </a:p>
          <a:p>
            <a:pPr>
              <a:spcAft>
                <a:spcPts val="900"/>
              </a:spcAft>
              <a:defRPr sz="3100" b="1">
                <a:solidFill>
                  <a:srgbClr val="111936"/>
                </a:solidFill>
                <a:latin typeface="Noto Sans KR"/>
              </a:defRPr>
            </a:pPr>
            <a:r>
              <a:t>기업에 남는 금액을 계산합니다.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순매출에 반영한 할인은 비용에서 중복 차감하지 않습니다.</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단위경제성 계산 틀 · 원가·광고비·운영비 실측값 확보 후 확정</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17</a:t>
            </a:r>
          </a:p>
        </p:txBody>
      </p:sp>
      <p:sp>
        <p:nvSpPr>
          <p:cNvPr id="8" name="Rounded Rectangle 7"/>
          <p:cNvSpPr/>
          <p:nvPr/>
        </p:nvSpPr>
        <p:spPr>
          <a:xfrm>
            <a:off x="685800"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01</a:t>
            </a:r>
          </a:p>
        </p:txBody>
      </p:sp>
      <p:sp>
        <p:nvSpPr>
          <p:cNvPr id="10" name="TextBox 9"/>
          <p:cNvSpPr txBox="1"/>
          <p:nvPr/>
        </p:nvSpPr>
        <p:spPr>
          <a:xfrm>
            <a:off x="850392"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주문 순매출</a:t>
            </a:r>
          </a:p>
        </p:txBody>
      </p:sp>
      <p:sp>
        <p:nvSpPr>
          <p:cNvPr id="11" name="TextBox 10"/>
          <p:cNvSpPr txBox="1"/>
          <p:nvPr/>
        </p:nvSpPr>
        <p:spPr>
          <a:xfrm>
            <a:off x="850392"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할인·취소·환불 반영</a:t>
            </a:r>
          </a:p>
        </p:txBody>
      </p:sp>
      <p:sp>
        <p:nvSpPr>
          <p:cNvPr id="12" name="Rounded Rectangle 11"/>
          <p:cNvSpPr/>
          <p:nvPr/>
        </p:nvSpPr>
        <p:spPr>
          <a:xfrm>
            <a:off x="4367784"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2376"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02</a:t>
            </a:r>
          </a:p>
        </p:txBody>
      </p:sp>
      <p:sp>
        <p:nvSpPr>
          <p:cNvPr id="14" name="TextBox 13"/>
          <p:cNvSpPr txBox="1"/>
          <p:nvPr/>
        </p:nvSpPr>
        <p:spPr>
          <a:xfrm>
            <a:off x="4532376"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변동비 차감</a:t>
            </a:r>
          </a:p>
        </p:txBody>
      </p:sp>
      <p:sp>
        <p:nvSpPr>
          <p:cNvPr id="15" name="TextBox 14"/>
          <p:cNvSpPr txBox="1"/>
          <p:nvPr/>
        </p:nvSpPr>
        <p:spPr>
          <a:xfrm>
            <a:off x="4532376"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상품 원가·포장·결제·배송</a:t>
            </a:r>
          </a:p>
        </p:txBody>
      </p:sp>
      <p:sp>
        <p:nvSpPr>
          <p:cNvPr id="16" name="Rounded Rectangle 15"/>
          <p:cNvSpPr/>
          <p:nvPr/>
        </p:nvSpPr>
        <p:spPr>
          <a:xfrm>
            <a:off x="8049768" y="2788920"/>
            <a:ext cx="3453384"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4360" y="2953512"/>
            <a:ext cx="3124200" cy="365760"/>
          </a:xfrm>
          <a:prstGeom prst="rect">
            <a:avLst/>
          </a:prstGeom>
          <a:noFill/>
        </p:spPr>
        <p:txBody>
          <a:bodyPr wrap="square" lIns="0" rIns="0" tIns="0" bIns="0">
            <a:spAutoFit/>
          </a:bodyPr>
          <a:lstStyle/>
          <a:p>
            <a:pPr>
              <a:spcAft>
                <a:spcPts val="900"/>
              </a:spcAft>
              <a:defRPr sz="1500" b="1">
                <a:solidFill>
                  <a:srgbClr val="C29143"/>
                </a:solidFill>
                <a:latin typeface="Noto Sans KR"/>
              </a:defRPr>
            </a:pPr>
            <a:r>
              <a:t>03</a:t>
            </a:r>
          </a:p>
        </p:txBody>
      </p:sp>
      <p:sp>
        <p:nvSpPr>
          <p:cNvPr id="18" name="TextBox 17"/>
          <p:cNvSpPr txBox="1"/>
          <p:nvPr/>
        </p:nvSpPr>
        <p:spPr>
          <a:xfrm>
            <a:off x="8214360" y="3520439"/>
            <a:ext cx="3124200" cy="548640"/>
          </a:xfrm>
          <a:prstGeom prst="rect">
            <a:avLst/>
          </a:prstGeom>
          <a:noFill/>
        </p:spPr>
        <p:txBody>
          <a:bodyPr wrap="square" lIns="0" rIns="0" tIns="0" bIns="0">
            <a:spAutoFit/>
          </a:bodyPr>
          <a:lstStyle/>
          <a:p>
            <a:pPr>
              <a:spcAft>
                <a:spcPts val="900"/>
              </a:spcAft>
              <a:defRPr sz="2100" b="1">
                <a:solidFill>
                  <a:srgbClr val="111936"/>
                </a:solidFill>
                <a:latin typeface="Noto Sans KR"/>
              </a:defRPr>
            </a:pPr>
            <a:r>
              <a:t>증분 이익 확인</a:t>
            </a:r>
          </a:p>
        </p:txBody>
      </p:sp>
      <p:sp>
        <p:nvSpPr>
          <p:cNvPr id="19" name="TextBox 18"/>
          <p:cNvSpPr txBox="1"/>
          <p:nvPr/>
        </p:nvSpPr>
        <p:spPr>
          <a:xfrm>
            <a:off x="8214360" y="4133087"/>
            <a:ext cx="3124200" cy="640080"/>
          </a:xfrm>
          <a:prstGeom prst="rect">
            <a:avLst/>
          </a:prstGeom>
          <a:noFill/>
        </p:spPr>
        <p:txBody>
          <a:bodyPr wrap="square" lIns="0" rIns="0" tIns="0" bIns="0">
            <a:spAutoFit/>
          </a:bodyPr>
          <a:lstStyle/>
          <a:p>
            <a:pPr>
              <a:spcAft>
                <a:spcPts val="900"/>
              </a:spcAft>
              <a:defRPr sz="1500" b="0">
                <a:solidFill>
                  <a:srgbClr val="687080"/>
                </a:solidFill>
                <a:latin typeface="Noto Sans KR"/>
              </a:defRPr>
            </a:pPr>
            <a:r>
              <a:t>추가 광고·운영비 반영</a:t>
            </a:r>
          </a:p>
        </p:txBody>
      </p:sp>
      <p:sp>
        <p:nvSpPr>
          <p:cNvPr id="20" name="Rounded Rectangle 19"/>
          <p:cNvSpPr/>
          <p:nvPr/>
        </p:nvSpPr>
        <p:spPr>
          <a:xfrm>
            <a:off x="685800" y="5760720"/>
            <a:ext cx="10817352" cy="457200"/>
          </a:xfrm>
          <a:prstGeom prst="roundRect">
            <a:avLst>
              <a:gd name="adj" fmla="val 12000"/>
            </a:avLst>
          </a:prstGeom>
          <a:solidFill>
            <a:srgbClr val="E7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43016"/>
            <a:ext cx="10378440" cy="320040"/>
          </a:xfrm>
          <a:prstGeom prst="rect">
            <a:avLst/>
          </a:prstGeom>
          <a:noFill/>
        </p:spPr>
        <p:txBody>
          <a:bodyPr wrap="square" lIns="0" rIns="0" tIns="0" bIns="0">
            <a:spAutoFit/>
          </a:bodyPr>
          <a:lstStyle/>
          <a:p>
            <a:pPr>
              <a:spcAft>
                <a:spcPts val="900"/>
              </a:spcAft>
              <a:defRPr sz="1500" b="1">
                <a:solidFill>
                  <a:srgbClr val="176857"/>
                </a:solidFill>
                <a:latin typeface="Noto Sans KR"/>
              </a:defRPr>
            </a:pPr>
            <a:r>
              <a:t>6주 증분 이익 = 서비스 운영 공헌이익 − 비교 기준 공헌이익 − 추가 광고·운영비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APPENDIX C  대표 예상 질문</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도입 판단에 필요한 질문을</a:t>
            </a:r>
          </a:p>
          <a:p>
            <a:pPr>
              <a:spcAft>
                <a:spcPts val="900"/>
              </a:spcAft>
              <a:defRPr sz="3100" b="1">
                <a:solidFill>
                  <a:srgbClr val="111936"/>
                </a:solidFill>
                <a:latin typeface="Noto Sans KR"/>
              </a:defRPr>
            </a:pPr>
            <a:r>
              <a:t>데이터로 답할 준비를 합니다.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담당자와 확인할 자료를 질문에 바로 연결합니다.</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운영 점검 및 자료 준비 목록</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18</a:t>
            </a:r>
          </a:p>
        </p:txBody>
      </p:sp>
      <p:sp>
        <p:nvSpPr>
          <p:cNvPr id="8" name="Rounded Rectangle 7"/>
          <p:cNvSpPr/>
          <p:nvPr/>
        </p:nvSpPr>
        <p:spPr>
          <a:xfrm>
            <a:off x="685800" y="2606040"/>
            <a:ext cx="10817352" cy="6583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743200"/>
            <a:ext cx="4754880" cy="420624"/>
          </a:xfrm>
          <a:prstGeom prst="rect">
            <a:avLst/>
          </a:prstGeom>
          <a:noFill/>
        </p:spPr>
        <p:txBody>
          <a:bodyPr wrap="square" lIns="0" rIns="0" tIns="0" bIns="0">
            <a:spAutoFit/>
          </a:bodyPr>
          <a:lstStyle/>
          <a:p>
            <a:pPr>
              <a:spcAft>
                <a:spcPts val="900"/>
              </a:spcAft>
              <a:defRPr sz="1900" b="1">
                <a:solidFill>
                  <a:srgbClr val="111936"/>
                </a:solidFill>
                <a:latin typeface="Noto Sans KR"/>
              </a:defRPr>
            </a:pPr>
            <a:r>
              <a:t>고객은 어디서 오나요?</a:t>
            </a:r>
          </a:p>
        </p:txBody>
      </p:sp>
      <p:sp>
        <p:nvSpPr>
          <p:cNvPr id="10" name="TextBox 9"/>
          <p:cNvSpPr txBox="1"/>
          <p:nvPr/>
        </p:nvSpPr>
        <p:spPr>
          <a:xfrm>
            <a:off x="5852160" y="2761488"/>
            <a:ext cx="5394960" cy="420624"/>
          </a:xfrm>
          <a:prstGeom prst="rect">
            <a:avLst/>
          </a:prstGeom>
          <a:noFill/>
        </p:spPr>
        <p:txBody>
          <a:bodyPr wrap="square" lIns="0" rIns="0" tIns="0" bIns="0">
            <a:spAutoFit/>
          </a:bodyPr>
          <a:lstStyle/>
          <a:p>
            <a:pPr>
              <a:spcAft>
                <a:spcPts val="900"/>
              </a:spcAft>
              <a:defRPr sz="1700" b="0">
                <a:solidFill>
                  <a:srgbClr val="687080"/>
                </a:solidFill>
                <a:latin typeface="Noto Sans KR"/>
              </a:defRPr>
            </a:pPr>
            <a:r>
              <a:t>채널별 예산·도달·클릭·방문당 비용</a:t>
            </a:r>
          </a:p>
        </p:txBody>
      </p:sp>
      <p:sp>
        <p:nvSpPr>
          <p:cNvPr id="11" name="Rounded Rectangle 10"/>
          <p:cNvSpPr/>
          <p:nvPr/>
        </p:nvSpPr>
        <p:spPr>
          <a:xfrm>
            <a:off x="685800" y="3355848"/>
            <a:ext cx="10817352" cy="6583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493008"/>
            <a:ext cx="4754880" cy="420624"/>
          </a:xfrm>
          <a:prstGeom prst="rect">
            <a:avLst/>
          </a:prstGeom>
          <a:noFill/>
        </p:spPr>
        <p:txBody>
          <a:bodyPr wrap="square" lIns="0" rIns="0" tIns="0" bIns="0">
            <a:spAutoFit/>
          </a:bodyPr>
          <a:lstStyle/>
          <a:p>
            <a:pPr>
              <a:spcAft>
                <a:spcPts val="900"/>
              </a:spcAft>
              <a:defRPr sz="1900" b="1">
                <a:solidFill>
                  <a:srgbClr val="111936"/>
                </a:solidFill>
                <a:latin typeface="Noto Sans KR"/>
              </a:defRPr>
            </a:pPr>
            <a:r>
              <a:t>참여 고객이 실제로 사나요?</a:t>
            </a:r>
          </a:p>
        </p:txBody>
      </p:sp>
      <p:sp>
        <p:nvSpPr>
          <p:cNvPr id="13" name="TextBox 12"/>
          <p:cNvSpPr txBox="1"/>
          <p:nvPr/>
        </p:nvSpPr>
        <p:spPr>
          <a:xfrm>
            <a:off x="5852160" y="3511296"/>
            <a:ext cx="5394960" cy="420624"/>
          </a:xfrm>
          <a:prstGeom prst="rect">
            <a:avLst/>
          </a:prstGeom>
          <a:noFill/>
        </p:spPr>
        <p:txBody>
          <a:bodyPr wrap="square" lIns="0" rIns="0" tIns="0" bIns="0">
            <a:spAutoFit/>
          </a:bodyPr>
          <a:lstStyle/>
          <a:p>
            <a:pPr>
              <a:spcAft>
                <a:spcPts val="900"/>
              </a:spcAft>
              <a:defRPr sz="1700" b="0">
                <a:solidFill>
                  <a:srgbClr val="687080"/>
                </a:solidFill>
                <a:latin typeface="Noto Sans KR"/>
              </a:defRPr>
            </a:pPr>
            <a:r>
              <a:t>앱 방문 식별과 주문 완료 연결 결과</a:t>
            </a:r>
          </a:p>
        </p:txBody>
      </p:sp>
      <p:sp>
        <p:nvSpPr>
          <p:cNvPr id="14" name="Rounded Rectangle 13"/>
          <p:cNvSpPr/>
          <p:nvPr/>
        </p:nvSpPr>
        <p:spPr>
          <a:xfrm>
            <a:off x="685800" y="4105656"/>
            <a:ext cx="10817352" cy="6583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242816"/>
            <a:ext cx="4754880" cy="420624"/>
          </a:xfrm>
          <a:prstGeom prst="rect">
            <a:avLst/>
          </a:prstGeom>
          <a:noFill/>
        </p:spPr>
        <p:txBody>
          <a:bodyPr wrap="square" lIns="0" rIns="0" tIns="0" bIns="0">
            <a:spAutoFit/>
          </a:bodyPr>
          <a:lstStyle/>
          <a:p>
            <a:pPr>
              <a:spcAft>
                <a:spcPts val="900"/>
              </a:spcAft>
              <a:defRPr sz="1900" b="1">
                <a:solidFill>
                  <a:srgbClr val="111936"/>
                </a:solidFill>
                <a:latin typeface="Noto Sans KR"/>
              </a:defRPr>
            </a:pPr>
            <a:r>
              <a:t>할인 후 수익은 얼마인가요?</a:t>
            </a:r>
          </a:p>
        </p:txBody>
      </p:sp>
      <p:sp>
        <p:nvSpPr>
          <p:cNvPr id="16" name="TextBox 15"/>
          <p:cNvSpPr txBox="1"/>
          <p:nvPr/>
        </p:nvSpPr>
        <p:spPr>
          <a:xfrm>
            <a:off x="5852160" y="4261104"/>
            <a:ext cx="5394960" cy="420624"/>
          </a:xfrm>
          <a:prstGeom prst="rect">
            <a:avLst/>
          </a:prstGeom>
          <a:noFill/>
        </p:spPr>
        <p:txBody>
          <a:bodyPr wrap="square" lIns="0" rIns="0" tIns="0" bIns="0">
            <a:spAutoFit/>
          </a:bodyPr>
          <a:lstStyle/>
          <a:p>
            <a:pPr>
              <a:spcAft>
                <a:spcPts val="900"/>
              </a:spcAft>
              <a:defRPr sz="1700" b="0">
                <a:solidFill>
                  <a:srgbClr val="687080"/>
                </a:solidFill>
                <a:latin typeface="Noto Sans KR"/>
              </a:defRPr>
            </a:pPr>
            <a:r>
              <a:t>원가표·쿠폰 사용·주문 순매출·광고비</a:t>
            </a:r>
          </a:p>
        </p:txBody>
      </p:sp>
      <p:sp>
        <p:nvSpPr>
          <p:cNvPr id="17" name="Rounded Rectangle 16"/>
          <p:cNvSpPr/>
          <p:nvPr/>
        </p:nvSpPr>
        <p:spPr>
          <a:xfrm>
            <a:off x="685800" y="4855464"/>
            <a:ext cx="10817352" cy="6583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4992624"/>
            <a:ext cx="4754880" cy="420624"/>
          </a:xfrm>
          <a:prstGeom prst="rect">
            <a:avLst/>
          </a:prstGeom>
          <a:noFill/>
        </p:spPr>
        <p:txBody>
          <a:bodyPr wrap="square" lIns="0" rIns="0" tIns="0" bIns="0">
            <a:spAutoFit/>
          </a:bodyPr>
          <a:lstStyle/>
          <a:p>
            <a:pPr>
              <a:spcAft>
                <a:spcPts val="900"/>
              </a:spcAft>
              <a:defRPr sz="1900" b="1">
                <a:solidFill>
                  <a:srgbClr val="111936"/>
                </a:solidFill>
                <a:latin typeface="Noto Sans KR"/>
              </a:defRPr>
            </a:pPr>
            <a:r>
              <a:t>실몰에서 안정적으로 돌아가나요?</a:t>
            </a:r>
          </a:p>
        </p:txBody>
      </p:sp>
      <p:sp>
        <p:nvSpPr>
          <p:cNvPr id="19" name="TextBox 18"/>
          <p:cNvSpPr txBox="1"/>
          <p:nvPr/>
        </p:nvSpPr>
        <p:spPr>
          <a:xfrm>
            <a:off x="5852160" y="5010912"/>
            <a:ext cx="5394960" cy="420624"/>
          </a:xfrm>
          <a:prstGeom prst="rect">
            <a:avLst/>
          </a:prstGeom>
          <a:noFill/>
        </p:spPr>
        <p:txBody>
          <a:bodyPr wrap="square" lIns="0" rIns="0" tIns="0" bIns="0">
            <a:spAutoFit/>
          </a:bodyPr>
          <a:lstStyle/>
          <a:p>
            <a:pPr>
              <a:spcAft>
                <a:spcPts val="900"/>
              </a:spcAft>
              <a:defRPr sz="1700" b="0">
                <a:solidFill>
                  <a:srgbClr val="687080"/>
                </a:solidFill>
                <a:latin typeface="Noto Sans KR"/>
              </a:defRPr>
            </a:pPr>
            <a:r>
              <a:t>가격·옵션·쿠폰 시험 주문과 장애 대응 기록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438912" y="438912"/>
            <a:ext cx="109728" cy="210312"/>
          </a:xfrm>
          <a:prstGeom prst="rect">
            <a:avLst/>
          </a:prstGeom>
          <a:solidFill>
            <a:srgbClr val="C29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 y="384048"/>
            <a:ext cx="9144000" cy="320040"/>
          </a:xfrm>
          <a:prstGeom prst="rect">
            <a:avLst/>
          </a:prstGeom>
          <a:noFill/>
        </p:spPr>
        <p:txBody>
          <a:bodyPr wrap="square" lIns="0" rIns="0" tIns="0" bIns="0">
            <a:spAutoFit/>
          </a:bodyPr>
          <a:lstStyle/>
          <a:p>
            <a:pPr>
              <a:spcAft>
                <a:spcPts val="900"/>
              </a:spcAft>
              <a:defRPr sz="1100" b="1">
                <a:solidFill>
                  <a:srgbClr val="C29143"/>
                </a:solidFill>
                <a:latin typeface="Noto Sans KR"/>
              </a:defRPr>
            </a:pPr>
            <a:r>
              <a:t>MAKJI STOCK   /   APPENDIX D  근거와 해석 범위</a:t>
            </a:r>
          </a:p>
        </p:txBody>
      </p:sp>
      <p:sp>
        <p:nvSpPr>
          <p:cNvPr id="4" name="TextBox 3"/>
          <p:cNvSpPr txBox="1"/>
          <p:nvPr/>
        </p:nvSpPr>
        <p:spPr>
          <a:xfrm>
            <a:off x="658368" y="914400"/>
            <a:ext cx="10927080" cy="1051560"/>
          </a:xfrm>
          <a:prstGeom prst="rect">
            <a:avLst/>
          </a:prstGeom>
          <a:noFill/>
        </p:spPr>
        <p:txBody>
          <a:bodyPr wrap="square" lIns="0" rIns="0" tIns="0" bIns="0">
            <a:spAutoFit/>
          </a:bodyPr>
          <a:lstStyle/>
          <a:p>
            <a:pPr>
              <a:spcAft>
                <a:spcPts val="900"/>
              </a:spcAft>
              <a:defRPr sz="3100" b="1">
                <a:solidFill>
                  <a:srgbClr val="111936"/>
                </a:solidFill>
                <a:latin typeface="Noto Sans KR"/>
              </a:defRPr>
            </a:pPr>
            <a:r>
              <a:t>확인된 구현과</a:t>
            </a:r>
          </a:p>
          <a:p>
            <a:pPr>
              <a:spcAft>
                <a:spcPts val="900"/>
              </a:spcAft>
              <a:defRPr sz="3100" b="1">
                <a:solidFill>
                  <a:srgbClr val="111936"/>
                </a:solidFill>
                <a:latin typeface="Noto Sans KR"/>
              </a:defRPr>
            </a:pPr>
            <a:r>
              <a:t>검증할 가정을 함께 표시했습니다.</a:t>
            </a:r>
          </a:p>
        </p:txBody>
      </p:sp>
      <p:sp>
        <p:nvSpPr>
          <p:cNvPr id="5" name="TextBox 4"/>
          <p:cNvSpPr txBox="1"/>
          <p:nvPr/>
        </p:nvSpPr>
        <p:spPr>
          <a:xfrm>
            <a:off x="685800" y="2167128"/>
            <a:ext cx="10744200" cy="365760"/>
          </a:xfrm>
          <a:prstGeom prst="rect">
            <a:avLst/>
          </a:prstGeom>
          <a:noFill/>
        </p:spPr>
        <p:txBody>
          <a:bodyPr wrap="square" lIns="0" rIns="0" tIns="0" bIns="0">
            <a:spAutoFit/>
          </a:bodyPr>
          <a:lstStyle/>
          <a:p>
            <a:pPr>
              <a:spcAft>
                <a:spcPts val="900"/>
              </a:spcAft>
              <a:defRPr sz="1600" b="0">
                <a:solidFill>
                  <a:srgbClr val="687080"/>
                </a:solidFill>
                <a:latin typeface="Noto Sans KR"/>
              </a:defRPr>
            </a:pPr>
            <a:r>
              <a:t>자료 확인일 2026.09.28 · 발표 본문 15장 / 약 15분</a:t>
            </a:r>
          </a:p>
        </p:txBody>
      </p:sp>
      <p:sp>
        <p:nvSpPr>
          <p:cNvPr id="6" name="TextBox 5"/>
          <p:cNvSpPr txBox="1"/>
          <p:nvPr/>
        </p:nvSpPr>
        <p:spPr>
          <a:xfrm>
            <a:off x="685800" y="6473952"/>
            <a:ext cx="10607040" cy="228600"/>
          </a:xfrm>
          <a:prstGeom prst="rect">
            <a:avLst/>
          </a:prstGeom>
          <a:noFill/>
        </p:spPr>
        <p:txBody>
          <a:bodyPr wrap="square" lIns="0" rIns="0" tIns="0" bIns="0">
            <a:spAutoFit/>
          </a:bodyPr>
          <a:lstStyle/>
          <a:p>
            <a:pPr>
              <a:spcAft>
                <a:spcPts val="900"/>
              </a:spcAft>
              <a:defRPr sz="800" b="0">
                <a:solidFill>
                  <a:srgbClr val="687080"/>
                </a:solidFill>
                <a:latin typeface="Noto Sans KR"/>
              </a:defRPr>
            </a:pPr>
            <a:r>
              <a:t>발표자 노트에 슬라이드별 근거·설명·발표 시간을 수록</a:t>
            </a:r>
          </a:p>
        </p:txBody>
      </p:sp>
      <p:sp>
        <p:nvSpPr>
          <p:cNvPr id="7" name="TextBox 6"/>
          <p:cNvSpPr txBox="1"/>
          <p:nvPr/>
        </p:nvSpPr>
        <p:spPr>
          <a:xfrm>
            <a:off x="10972800" y="6437376"/>
            <a:ext cx="548640" cy="274320"/>
          </a:xfrm>
          <a:prstGeom prst="rect">
            <a:avLst/>
          </a:prstGeom>
          <a:noFill/>
        </p:spPr>
        <p:txBody>
          <a:bodyPr wrap="square" lIns="0" rIns="0" tIns="0" bIns="0">
            <a:spAutoFit/>
          </a:bodyPr>
          <a:lstStyle/>
          <a:p>
            <a:pPr>
              <a:spcAft>
                <a:spcPts val="900"/>
              </a:spcAft>
              <a:defRPr sz="1000" b="1">
                <a:solidFill>
                  <a:srgbClr val="C29143"/>
                </a:solidFill>
                <a:latin typeface="Noto Sans KR"/>
              </a:defRPr>
            </a:pPr>
            <a:r>
              <a:t>19</a:t>
            </a:r>
          </a:p>
        </p:txBody>
      </p:sp>
      <p:sp>
        <p:nvSpPr>
          <p:cNvPr id="8" name="TextBox 7"/>
          <p:cNvSpPr txBox="1"/>
          <p:nvPr/>
        </p:nvSpPr>
        <p:spPr>
          <a:xfrm>
            <a:off x="731520" y="2651760"/>
            <a:ext cx="10698480" cy="3566160"/>
          </a:xfrm>
          <a:prstGeom prst="rect">
            <a:avLst/>
          </a:prstGeom>
          <a:noFill/>
        </p:spPr>
        <p:txBody>
          <a:bodyPr wrap="square" lIns="0" rIns="0" tIns="0" bIns="0">
            <a:spAutoFit/>
          </a:bodyPr>
          <a:lstStyle/>
          <a:p>
            <a:pPr>
              <a:spcAft>
                <a:spcPts val="900"/>
              </a:spcAft>
              <a:defRPr sz="1800" b="0">
                <a:solidFill>
                  <a:srgbClr val="111936"/>
                </a:solidFill>
                <a:latin typeface="Noto Sans KR"/>
              </a:defRPr>
            </a:pPr>
            <a:r>
              <a:t>기업 요청  |  docs/00_rfp/RFP.pdf 원본</a:t>
            </a:r>
          </a:p>
          <a:p>
            <a:pPr>
              <a:spcAft>
                <a:spcPts val="900"/>
              </a:spcAft>
              <a:defRPr sz="1800" b="0">
                <a:solidFill>
                  <a:srgbClr val="111936"/>
                </a:solidFill>
                <a:latin typeface="Noto Sans KR"/>
              </a:defRPr>
            </a:pPr>
            <a:r>
              <a:t>구현 정책  |  MakjiStock 3571a21: reward-policy.ts, pricing-products.json, sheets.tsx</a:t>
            </a:r>
          </a:p>
          <a:p>
            <a:pPr>
              <a:spcAft>
                <a:spcPts val="900"/>
              </a:spcAft>
              <a:defRPr sz="1800" b="0">
                <a:solidFill>
                  <a:srgbClr val="111936"/>
                </a:solidFill>
                <a:latin typeface="Noto Sans KR"/>
              </a:defRPr>
            </a:pPr>
            <a:r>
              <a:t>실제 화면  |  https://makji-stock.vercel.app/market</a:t>
            </a:r>
          </a:p>
          <a:p>
            <a:pPr>
              <a:spcAft>
                <a:spcPts val="900"/>
              </a:spcAft>
              <a:defRPr sz="1800" b="0">
                <a:solidFill>
                  <a:srgbClr val="111936"/>
                </a:solidFill>
                <a:latin typeface="Noto Sans KR"/>
              </a:defRPr>
            </a:pPr>
            <a:r>
              <a:t>시장 참고  |  PwC Voice of the Consumer 2025: Asia Pacific</a:t>
            </a:r>
          </a:p>
          <a:p>
            <a:pPr>
              <a:spcAft>
                <a:spcPts val="900"/>
              </a:spcAft>
              <a:defRPr sz="1800" b="0">
                <a:solidFill>
                  <a:srgbClr val="111936"/>
                </a:solidFill>
                <a:latin typeface="Noto Sans KR"/>
              </a:defRPr>
            </a:pPr>
            <a:r>
              <a:t>가정 표시  |  타깃 경로·베타 설계·월 매출 시나리오·시장 경계</a:t>
            </a:r>
          </a:p>
          <a:p>
            <a:pPr>
              <a:spcAft>
                <a:spcPts val="900"/>
              </a:spcAft>
              <a:defRPr sz="1800" b="0">
                <a:solidFill>
                  <a:srgbClr val="111936"/>
                </a:solidFill>
                <a:latin typeface="Noto Sans KR"/>
              </a:defRPr>
            </a:pPr>
            <a:r>
              <a:t>확정 필요  |  시장규모 금액·기업 목표 매출·원가·예산·주문 연결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